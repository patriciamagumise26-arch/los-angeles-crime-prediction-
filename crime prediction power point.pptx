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 id="2147483673" r:id="rId6"/>
    <p:sldMasterId id="214748367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Lst>
  <p:sldSz cy="5143500" cx="9144000"/>
  <p:notesSz cx="6858000" cy="9144000"/>
  <p:embeddedFontLst>
    <p:embeddedFont>
      <p:font typeface="Roboto"/>
      <p:regular r:id="rId25"/>
      <p:bold r:id="rId26"/>
      <p:italic r:id="rId27"/>
      <p:boldItalic r:id="rId28"/>
    </p:embeddedFont>
    <p:embeddedFont>
      <p:font typeface="Montserra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D1D2FA-D892-4F7D-BE5E-511BBE695E4F}">
  <a:tblStyle styleId="{3FD1D2FA-D892-4F7D-BE5E-511BBE695E4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B8D42D4-010C-4178-A406-B1E3E716C331}"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Montserrat-regular.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3.xml"/><Relationship Id="rId10" Type="http://schemas.openxmlformats.org/officeDocument/2006/relationships/slide" Target="slides/slide2.xml"/><Relationship Id="rId32" Type="http://schemas.openxmlformats.org/officeDocument/2006/relationships/font" Target="fonts/Montserrat-boldItalic.fntdata"/><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b3ff21739_2_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g38b3ff21739_2_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06" name="Google Shape;106;g38b3ff21739_2_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8b3ff21739_2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38b3ff21739_2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1625" lvl="0" marL="457200" rtl="0" algn="l">
              <a:spcBef>
                <a:spcPts val="0"/>
              </a:spcBef>
              <a:spcAft>
                <a:spcPts val="0"/>
              </a:spcAft>
              <a:buClr>
                <a:srgbClr val="1A1A1A"/>
              </a:buClr>
              <a:buSzPts val="1150"/>
              <a:buFont typeface="Calibri"/>
              <a:buChar char="●"/>
            </a:pPr>
            <a:r>
              <a:rPr b="1" lang="en" sz="1150">
                <a:solidFill>
                  <a:srgbClr val="1A1A1A"/>
                </a:solidFill>
                <a:latin typeface="Calibri"/>
                <a:ea typeface="Calibri"/>
                <a:cs typeface="Calibri"/>
                <a:sym typeface="Calibri"/>
              </a:rPr>
              <a:t>Public property crimes fell as people stayed home and public spaces emptied</a:t>
            </a:r>
            <a:endParaRPr b="1" sz="1150">
              <a:solidFill>
                <a:srgbClr val="1A1A1A"/>
              </a:solidFill>
              <a:latin typeface="Calibri"/>
              <a:ea typeface="Calibri"/>
              <a:cs typeface="Calibri"/>
              <a:sym typeface="Calibri"/>
            </a:endParaRPr>
          </a:p>
          <a:p>
            <a:pPr indent="-301625" lvl="0" marL="457200" rtl="0" algn="l">
              <a:spcBef>
                <a:spcPts val="0"/>
              </a:spcBef>
              <a:spcAft>
                <a:spcPts val="0"/>
              </a:spcAft>
              <a:buClr>
                <a:srgbClr val="1A1A1A"/>
              </a:buClr>
              <a:buSzPts val="1150"/>
              <a:buFont typeface="Calibri"/>
              <a:buChar char="●"/>
            </a:pPr>
            <a:r>
              <a:rPr b="1" lang="en" sz="1150">
                <a:solidFill>
                  <a:srgbClr val="1A1A1A"/>
                </a:solidFill>
                <a:latin typeface="Calibri"/>
                <a:ea typeface="Calibri"/>
                <a:cs typeface="Calibri"/>
                <a:sym typeface="Calibri"/>
              </a:rPr>
              <a:t>Forced cohabitation increased domestic altercations </a:t>
            </a:r>
            <a:endParaRPr b="1" sz="1150">
              <a:solidFill>
                <a:srgbClr val="1A1A1A"/>
              </a:solidFill>
              <a:latin typeface="Calibri"/>
              <a:ea typeface="Calibri"/>
              <a:cs typeface="Calibri"/>
              <a:sym typeface="Calibri"/>
            </a:endParaRPr>
          </a:p>
          <a:p>
            <a:pPr indent="-301625" lvl="0" marL="457200" rtl="0" algn="l">
              <a:spcBef>
                <a:spcPts val="0"/>
              </a:spcBef>
              <a:spcAft>
                <a:spcPts val="0"/>
              </a:spcAft>
              <a:buClr>
                <a:srgbClr val="1A1A1A"/>
              </a:buClr>
              <a:buSzPts val="1150"/>
              <a:buFont typeface="Calibri"/>
              <a:buChar char="●"/>
            </a:pPr>
            <a:r>
              <a:t/>
            </a:r>
            <a:endParaRPr b="1" sz="1150">
              <a:solidFill>
                <a:srgbClr val="1A1A1A"/>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b3ff21739_2_11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g38b3ff21739_2_11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64" name="Google Shape;164;g38b3ff21739_2_11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8b3ff21739_2_150: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g38b3ff21739_2_15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03" name="Google Shape;203;g38b3ff21739_2_15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b3ff21739_3_21: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g38b3ff21739_3_21: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18" name="Google Shape;218;g38b3ff21739_3_21: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8b3ff21739_2_207: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g38b3ff21739_2_20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6747"/>
              </a:buClr>
              <a:buSzPts val="2400"/>
              <a:buFont typeface="Calibri"/>
              <a:buNone/>
            </a:pPr>
            <a:r>
              <a:rPr lang="en" sz="1150">
                <a:solidFill>
                  <a:schemeClr val="dk1"/>
                </a:solidFill>
                <a:latin typeface="Calibri"/>
                <a:ea typeface="Calibri"/>
                <a:cs typeface="Calibri"/>
                <a:sym typeface="Calibri"/>
              </a:rPr>
              <a:t>Intimate Partner appears in both violent and non- violent crimes</a:t>
            </a:r>
            <a:endParaRPr sz="1200">
              <a:solidFill>
                <a:schemeClr val="dk1"/>
              </a:solidFill>
              <a:latin typeface="Arial"/>
              <a:ea typeface="Arial"/>
              <a:cs typeface="Arial"/>
              <a:sym typeface="Arial"/>
            </a:endParaRPr>
          </a:p>
        </p:txBody>
      </p:sp>
      <p:sp>
        <p:nvSpPr>
          <p:cNvPr id="232" name="Google Shape;232;g38b3ff21739_2_20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8b3ff21739_2_239: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g38b3ff21739_2_23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66" name="Google Shape;266;g38b3ff21739_2_23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972a63954f_0_8: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g3972a63954f_0_8: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sz="1150">
                <a:solidFill>
                  <a:schemeClr val="dk1"/>
                </a:solidFill>
                <a:latin typeface="Calibri"/>
                <a:ea typeface="Calibri"/>
                <a:cs typeface="Calibri"/>
                <a:sym typeface="Calibri"/>
              </a:rPr>
              <a:t>Using Routine activity theory: certain premises (parking lots, streets, residences)generate specific crime types. A parking lot almost always produces vehicle theft, not assault. A residence almost always produces intimate partner violence or burglary. The premise essentially pre-determines the crime category.</a:t>
            </a:r>
            <a:endParaRPr sz="115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endParaRPr>
          </a:p>
        </p:txBody>
      </p:sp>
      <p:sp>
        <p:nvSpPr>
          <p:cNvPr id="287" name="Google Shape;287;g3972a63954f_0_8: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8b3ff21739_2_30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g38b3ff21739_2_30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305" name="Google Shape;305;g38b3ff21739_2_30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8b3ff21739_2_328: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g38b3ff21739_2_32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endParaRPr>
          </a:p>
        </p:txBody>
      </p:sp>
      <p:sp>
        <p:nvSpPr>
          <p:cNvPr id="321" name="Google Shape;321;g38b3ff21739_2_32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973273cf26_0_0: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g3973273cf26_0_0: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342" name="Google Shape;342;g3973273cf26_0_0: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8b3ff21739_2_315: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g38b3ff21739_2_315: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356" name="Google Shape;356;g38b3ff21739_2_315: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8b3ff21739_2_356: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g38b3ff21739_2_356: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372" name="Google Shape;372;g38b3ff21739_2_356: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8b3ff21739_2_39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g38b3ff21739_2_39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408" name="Google Shape;408;g38b3ff21739_2_39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9760a06c56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g39760a06c56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g39760a06c56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8b3ff21739_2_446:notes"/>
          <p:cNvSpPr/>
          <p:nvPr>
            <p:ph idx="2" type="sldImg"/>
          </p:nvPr>
        </p:nvSpPr>
        <p:spPr>
          <a:xfrm>
            <a:off x="694800" y="138307"/>
            <a:ext cx="5468400" cy="3086700"/>
          </a:xfrm>
          <a:custGeom>
            <a:rect b="b" l="l" r="r" t="t"/>
            <a:pathLst>
              <a:path extrusionOk="0" h="120000" w="120000">
                <a:moveTo>
                  <a:pt x="0" y="0"/>
                </a:moveTo>
                <a:lnTo>
                  <a:pt x="120000" y="0"/>
                </a:lnTo>
                <a:lnTo>
                  <a:pt x="120000" y="120000"/>
                </a:lnTo>
                <a:lnTo>
                  <a:pt x="0" y="120000"/>
                </a:lnTo>
                <a:close/>
              </a:path>
            </a:pathLst>
          </a:custGeom>
          <a:noFill/>
          <a:ln cap="flat" cmpd="sng" w="12550">
            <a:solidFill>
              <a:srgbClr val="000000"/>
            </a:solidFill>
            <a:prstDash val="solid"/>
            <a:round/>
            <a:headEnd len="sm" w="sm" type="none"/>
            <a:tailEnd len="sm" w="sm" type="none"/>
          </a:ln>
        </p:spPr>
      </p:sp>
      <p:sp>
        <p:nvSpPr>
          <p:cNvPr id="450" name="Google Shape;450;g38b3ff21739_2_446:notes"/>
          <p:cNvSpPr txBox="1"/>
          <p:nvPr>
            <p:ph idx="1" type="body"/>
          </p:nvPr>
        </p:nvSpPr>
        <p:spPr>
          <a:xfrm>
            <a:off x="1" y="3261503"/>
            <a:ext cx="6858000" cy="5882700"/>
          </a:xfrm>
          <a:prstGeom prst="rect">
            <a:avLst/>
          </a:prstGeom>
          <a:noFill/>
          <a:ln>
            <a:noFill/>
          </a:ln>
        </p:spPr>
        <p:txBody>
          <a:bodyPr anchorCtr="0" anchor="t" bIns="45150" lIns="90325" spcFirstLastPara="1" rIns="90325" wrap="square" tIns="45150">
            <a:noAutofit/>
          </a:bodyPr>
          <a:lstStyle/>
          <a:p>
            <a:pPr indent="0" lvl="0" marL="0" rtl="0" algn="l">
              <a:lnSpc>
                <a:spcPct val="100000"/>
              </a:lnSpc>
              <a:spcBef>
                <a:spcPts val="0"/>
              </a:spcBef>
              <a:spcAft>
                <a:spcPts val="0"/>
              </a:spcAft>
              <a:buSzPts val="1400"/>
              <a:buNone/>
            </a:pPr>
            <a:r>
              <a:t/>
            </a:r>
            <a:endParaRPr/>
          </a:p>
        </p:txBody>
      </p:sp>
      <p:sp>
        <p:nvSpPr>
          <p:cNvPr id="451" name="Google Shape;451;g38b3ff21739_2_446:notes"/>
          <p:cNvSpPr txBox="1"/>
          <p:nvPr>
            <p:ph idx="12" type="sldNum"/>
          </p:nvPr>
        </p:nvSpPr>
        <p:spPr>
          <a:xfrm>
            <a:off x="5994638" y="8685071"/>
            <a:ext cx="861600" cy="459000"/>
          </a:xfrm>
          <a:prstGeom prst="rect">
            <a:avLst/>
          </a:prstGeom>
          <a:noFill/>
          <a:ln>
            <a:noFill/>
          </a:ln>
        </p:spPr>
        <p:txBody>
          <a:bodyPr anchorCtr="0" anchor="b" bIns="45150" lIns="90325" spcFirstLastPara="1" rIns="90325" wrap="square" tIns="451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2" name="Shape 52"/>
        <p:cNvGrpSpPr/>
        <p:nvPr/>
      </p:nvGrpSpPr>
      <p:grpSpPr>
        <a:xfrm>
          <a:off x="0" y="0"/>
          <a:ext cx="0" cy="0"/>
          <a:chOff x="0" y="0"/>
          <a:chExt cx="0" cy="0"/>
        </a:xfrm>
      </p:grpSpPr>
      <p:sp>
        <p:nvSpPr>
          <p:cNvPr id="53" name="Google Shape;53;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title" showMasterSp="0">
  <p:cSld name="Main title">
    <p:bg>
      <p:bgPr>
        <a:solidFill>
          <a:schemeClr val="dk1"/>
        </a:solidFill>
      </p:bgPr>
    </p:bg>
    <p:spTree>
      <p:nvGrpSpPr>
        <p:cNvPr id="54" name="Shape 54"/>
        <p:cNvGrpSpPr/>
        <p:nvPr/>
      </p:nvGrpSpPr>
      <p:grpSpPr>
        <a:xfrm>
          <a:off x="0" y="0"/>
          <a:ext cx="0" cy="0"/>
          <a:chOff x="0" y="0"/>
          <a:chExt cx="0" cy="0"/>
        </a:xfrm>
      </p:grpSpPr>
      <p:sp>
        <p:nvSpPr>
          <p:cNvPr id="55" name="Google Shape;55;p15"/>
          <p:cNvSpPr txBox="1"/>
          <p:nvPr>
            <p:ph idx="1" type="subTitle"/>
          </p:nvPr>
        </p:nvSpPr>
        <p:spPr>
          <a:xfrm>
            <a:off x="0" y="3488530"/>
            <a:ext cx="9144000" cy="1654800"/>
          </a:xfrm>
          <a:prstGeom prst="rect">
            <a:avLst/>
          </a:prstGeom>
          <a:noFill/>
          <a:ln>
            <a:noFill/>
          </a:ln>
        </p:spPr>
        <p:txBody>
          <a:bodyPr anchorCtr="0" anchor="t" bIns="0" lIns="68575" spcFirstLastPara="1" rIns="68575" wrap="square" tIns="0">
            <a:normAutofit/>
          </a:bodyPr>
          <a:lstStyle>
            <a:lvl1pPr lvl="0" marR="0" rtl="0" algn="ctr">
              <a:lnSpc>
                <a:spcPct val="95000"/>
              </a:lnSpc>
              <a:spcBef>
                <a:spcPts val="0"/>
              </a:spcBef>
              <a:spcAft>
                <a:spcPts val="0"/>
              </a:spcAft>
              <a:buClr>
                <a:srgbClr val="000000"/>
              </a:buClr>
              <a:buSzPts val="2000"/>
              <a:buFont typeface="Arial"/>
              <a:buNone/>
              <a:defRPr b="0" i="0" sz="1800" u="none" cap="none" strike="noStrike">
                <a:solidFill>
                  <a:srgbClr val="FFFFFF"/>
                </a:solidFill>
                <a:latin typeface="Roboto"/>
                <a:ea typeface="Roboto"/>
                <a:cs typeface="Roboto"/>
                <a:sym typeface="Roboto"/>
              </a:defRPr>
            </a:lvl1pPr>
            <a:lvl2pPr lvl="1" marR="0" rtl="0" algn="ctr">
              <a:lnSpc>
                <a:spcPct val="95000"/>
              </a:lnSpc>
              <a:spcBef>
                <a:spcPts val="1400"/>
              </a:spcBef>
              <a:spcAft>
                <a:spcPts val="0"/>
              </a:spcAft>
              <a:buClr>
                <a:srgbClr val="000000"/>
              </a:buClr>
              <a:buSzPts val="900"/>
              <a:buFont typeface="Arial"/>
              <a:buNone/>
              <a:defRPr b="0" i="0" sz="800" u="none" cap="none" strike="noStrike">
                <a:solidFill>
                  <a:srgbClr val="000000"/>
                </a:solidFill>
                <a:latin typeface="Arial"/>
                <a:ea typeface="Arial"/>
                <a:cs typeface="Arial"/>
                <a:sym typeface="Arial"/>
              </a:defRPr>
            </a:lvl2pPr>
            <a:lvl3pPr lvl="2" marR="0" rtl="0" algn="ctr">
              <a:lnSpc>
                <a:spcPct val="95000"/>
              </a:lnSpc>
              <a:spcBef>
                <a:spcPts val="140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lvl="3" marR="0" rtl="0" algn="ctr">
              <a:lnSpc>
                <a:spcPct val="95000"/>
              </a:lnSpc>
              <a:spcBef>
                <a:spcPts val="140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4pPr>
            <a:lvl5pPr lvl="4" marR="0" rtl="0" algn="ctr">
              <a:lnSpc>
                <a:spcPct val="95000"/>
              </a:lnSpc>
              <a:spcBef>
                <a:spcPts val="140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5pPr>
            <a:lvl6pPr lvl="5" marR="0" rtl="0" algn="ctr">
              <a:lnSpc>
                <a:spcPct val="90000"/>
              </a:lnSpc>
              <a:spcBef>
                <a:spcPts val="1400"/>
              </a:spcBef>
              <a:spcAft>
                <a:spcPts val="0"/>
              </a:spcAft>
              <a:buClr>
                <a:schemeClr val="dk1"/>
              </a:buClr>
              <a:buSzPts val="700"/>
              <a:buFont typeface="Arial"/>
              <a:buNone/>
              <a:defRPr b="0" i="0" sz="700" u="none" cap="none" strike="noStrike">
                <a:solidFill>
                  <a:srgbClr val="000000"/>
                </a:solidFill>
                <a:latin typeface="Arial"/>
                <a:ea typeface="Arial"/>
                <a:cs typeface="Arial"/>
                <a:sym typeface="Arial"/>
              </a:defRPr>
            </a:lvl6pPr>
            <a:lvl7pPr lvl="6" marR="0" rtl="0" algn="ctr">
              <a:lnSpc>
                <a:spcPct val="90000"/>
              </a:lnSpc>
              <a:spcBef>
                <a:spcPts val="200"/>
              </a:spcBef>
              <a:spcAft>
                <a:spcPts val="0"/>
              </a:spcAft>
              <a:buClr>
                <a:schemeClr val="dk1"/>
              </a:buClr>
              <a:buSzPts val="700"/>
              <a:buFont typeface="Arial"/>
              <a:buNone/>
              <a:defRPr b="0" i="0" sz="700" u="none" cap="none" strike="noStrike">
                <a:solidFill>
                  <a:srgbClr val="000000"/>
                </a:solidFill>
                <a:latin typeface="Arial"/>
                <a:ea typeface="Arial"/>
                <a:cs typeface="Arial"/>
                <a:sym typeface="Arial"/>
              </a:defRPr>
            </a:lvl7pPr>
            <a:lvl8pPr lvl="7" marR="0" rtl="0" algn="ctr">
              <a:lnSpc>
                <a:spcPct val="90000"/>
              </a:lnSpc>
              <a:spcBef>
                <a:spcPts val="200"/>
              </a:spcBef>
              <a:spcAft>
                <a:spcPts val="0"/>
              </a:spcAft>
              <a:buClr>
                <a:schemeClr val="dk1"/>
              </a:buClr>
              <a:buSzPts val="700"/>
              <a:buFont typeface="Arial"/>
              <a:buNone/>
              <a:defRPr b="0" i="0" sz="700" u="none" cap="none" strike="noStrike">
                <a:solidFill>
                  <a:srgbClr val="000000"/>
                </a:solidFill>
                <a:latin typeface="Arial"/>
                <a:ea typeface="Arial"/>
                <a:cs typeface="Arial"/>
                <a:sym typeface="Arial"/>
              </a:defRPr>
            </a:lvl8pPr>
            <a:lvl9pPr lvl="8" marR="0" rtl="0" algn="ctr">
              <a:lnSpc>
                <a:spcPct val="90000"/>
              </a:lnSpc>
              <a:spcBef>
                <a:spcPts val="200"/>
              </a:spcBef>
              <a:spcAft>
                <a:spcPts val="0"/>
              </a:spcAft>
              <a:buClr>
                <a:schemeClr val="dk1"/>
              </a:buClr>
              <a:buSzPts val="700"/>
              <a:buFont typeface="Arial"/>
              <a:buNone/>
              <a:defRPr b="0" i="0" sz="700" u="none" cap="none" strike="noStrike">
                <a:solidFill>
                  <a:srgbClr val="000000"/>
                </a:solidFill>
                <a:latin typeface="Arial"/>
                <a:ea typeface="Arial"/>
                <a:cs typeface="Arial"/>
                <a:sym typeface="Arial"/>
              </a:defRPr>
            </a:lvl9pPr>
          </a:lstStyle>
          <a:p/>
        </p:txBody>
      </p:sp>
      <p:sp>
        <p:nvSpPr>
          <p:cNvPr id="56" name="Google Shape;56;p15"/>
          <p:cNvSpPr txBox="1"/>
          <p:nvPr>
            <p:ph type="ctrTitle"/>
          </p:nvPr>
        </p:nvSpPr>
        <p:spPr>
          <a:xfrm>
            <a:off x="0" y="381001"/>
            <a:ext cx="9144000" cy="1274100"/>
          </a:xfrm>
          <a:prstGeom prst="rect">
            <a:avLst/>
          </a:prstGeom>
          <a:noFill/>
          <a:ln>
            <a:noFill/>
          </a:ln>
        </p:spPr>
        <p:txBody>
          <a:bodyPr anchorCtr="0" anchor="b" bIns="0" lIns="0" spcFirstLastPara="1" rIns="0" wrap="square" tIns="0">
            <a:normAutofit/>
          </a:bodyPr>
          <a:lstStyle>
            <a:lvl1pPr lvl="0" marR="0" rtl="0" algn="ctr">
              <a:lnSpc>
                <a:spcPct val="90000"/>
              </a:lnSpc>
              <a:spcBef>
                <a:spcPts val="0"/>
              </a:spcBef>
              <a:spcAft>
                <a:spcPts val="0"/>
              </a:spcAft>
              <a:buClr>
                <a:srgbClr val="FFFFFF"/>
              </a:buClr>
              <a:buSzPts val="3300"/>
              <a:buFont typeface="Montserrat"/>
              <a:buNone/>
              <a:defRPr b="0" i="0" sz="3300" u="none" cap="none" strike="noStrike">
                <a:solidFill>
                  <a:srgbClr val="FFFFFF"/>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pic>
        <p:nvPicPr>
          <p:cNvPr id="57" name="Google Shape;57;p15"/>
          <p:cNvPicPr preferRelativeResize="0"/>
          <p:nvPr/>
        </p:nvPicPr>
        <p:blipFill rotWithShape="1">
          <a:blip r:embed="rId2">
            <a:alphaModFix/>
          </a:blip>
          <a:srcRect b="0" l="0" r="0" t="0"/>
          <a:stretch/>
        </p:blipFill>
        <p:spPr>
          <a:xfrm>
            <a:off x="3667515" y="1757927"/>
            <a:ext cx="1808497" cy="1627647"/>
          </a:xfrm>
          <a:prstGeom prst="rect">
            <a:avLst/>
          </a:prstGeom>
          <a:noFill/>
          <a:ln>
            <a:noFill/>
          </a:ln>
        </p:spPr>
      </p:pic>
    </p:spTree>
  </p:cSld>
  <p:clrMapOvr>
    <a:masterClrMapping/>
  </p:clrMapOvr>
  <p:extLst>
    <p:ext uri="{DCECCB84-F9BA-43D5-87BE-67443E8EF086}">
      <p15:sldGuideLst>
        <p15:guide id="1" orient="horz" pos="16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2" name="Shape 62"/>
        <p:cNvGrpSpPr/>
        <p:nvPr/>
      </p:nvGrpSpPr>
      <p:grpSpPr>
        <a:xfrm>
          <a:off x="0" y="0"/>
          <a:ext cx="0" cy="0"/>
          <a:chOff x="0" y="0"/>
          <a:chExt cx="0" cy="0"/>
        </a:xfrm>
      </p:grpSpPr>
      <p:sp>
        <p:nvSpPr>
          <p:cNvPr id="63" name="Google Shape;63;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4" name="Google Shape;64;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5" name="Google Shape;6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8" name="Google Shape;68;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9" name="Shape 69"/>
        <p:cNvGrpSpPr/>
        <p:nvPr/>
      </p:nvGrpSpPr>
      <p:grpSpPr>
        <a:xfrm>
          <a:off x="0" y="0"/>
          <a:ext cx="0" cy="0"/>
          <a:chOff x="0" y="0"/>
          <a:chExt cx="0" cy="0"/>
        </a:xfrm>
      </p:grpSpPr>
      <p:sp>
        <p:nvSpPr>
          <p:cNvPr id="70" name="Google Shape;70;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1" name="Google Shape;71;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2" name="Google Shape;72;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 name="Google Shape;75;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 name="Google Shape;7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0" name="Google Shape;8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 name="Shape 81"/>
        <p:cNvGrpSpPr/>
        <p:nvPr/>
      </p:nvGrpSpPr>
      <p:grpSpPr>
        <a:xfrm>
          <a:off x="0" y="0"/>
          <a:ext cx="0" cy="0"/>
          <a:chOff x="0" y="0"/>
          <a:chExt cx="0" cy="0"/>
        </a:xfrm>
      </p:grpSpPr>
      <p:sp>
        <p:nvSpPr>
          <p:cNvPr id="82" name="Google Shape;82;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3" name="Google Shape;83;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4" name="Google Shape;8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7" name="Google Shape;8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8" name="Shape 88"/>
        <p:cNvGrpSpPr/>
        <p:nvPr/>
      </p:nvGrpSpPr>
      <p:grpSpPr>
        <a:xfrm>
          <a:off x="0" y="0"/>
          <a:ext cx="0" cy="0"/>
          <a:chOff x="0" y="0"/>
          <a:chExt cx="0" cy="0"/>
        </a:xfrm>
      </p:grpSpPr>
      <p:sp>
        <p:nvSpPr>
          <p:cNvPr id="89" name="Google Shape;89;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1" name="Google Shape;91;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2" name="Google Shape;92;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3" name="Google Shape;93;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2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6" name="Google Shape;96;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7" name="Shape 97"/>
        <p:cNvGrpSpPr/>
        <p:nvPr/>
      </p:nvGrpSpPr>
      <p:grpSpPr>
        <a:xfrm>
          <a:off x="0" y="0"/>
          <a:ext cx="0" cy="0"/>
          <a:chOff x="0" y="0"/>
          <a:chExt cx="0" cy="0"/>
        </a:xfrm>
      </p:grpSpPr>
      <p:sp>
        <p:nvSpPr>
          <p:cNvPr id="98" name="Google Shape;98;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9" name="Google Shape;99;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00" name="Google Shape;100;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2.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8" name="Shape 58"/>
        <p:cNvGrpSpPr/>
        <p:nvPr/>
      </p:nvGrpSpPr>
      <p:grpSpPr>
        <a:xfrm>
          <a:off x="0" y="0"/>
          <a:ext cx="0" cy="0"/>
          <a:chOff x="0" y="0"/>
          <a:chExt cx="0" cy="0"/>
        </a:xfrm>
      </p:grpSpPr>
      <p:sp>
        <p:nvSpPr>
          <p:cNvPr id="59" name="Google Shape;59;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60" name="Google Shape;60;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61" name="Google Shape;6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hyperlink" Target="https://catalog.data.gov/dataset/crime-data-from-2020-to-presen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747"/>
        </a:solidFill>
      </p:bgPr>
    </p:bg>
    <p:spTree>
      <p:nvGrpSpPr>
        <p:cNvPr id="107" name="Shape 107"/>
        <p:cNvGrpSpPr/>
        <p:nvPr/>
      </p:nvGrpSpPr>
      <p:grpSpPr>
        <a:xfrm>
          <a:off x="0" y="0"/>
          <a:ext cx="0" cy="0"/>
          <a:chOff x="0" y="0"/>
          <a:chExt cx="0" cy="0"/>
        </a:xfrm>
      </p:grpSpPr>
      <p:sp>
        <p:nvSpPr>
          <p:cNvPr id="108" name="Google Shape;108;p28"/>
          <p:cNvSpPr/>
          <p:nvPr/>
        </p:nvSpPr>
        <p:spPr>
          <a:xfrm>
            <a:off x="914400" y="548640"/>
            <a:ext cx="7315200" cy="12801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2800"/>
              <a:buFont typeface="Calibri"/>
              <a:buNone/>
            </a:pPr>
            <a:r>
              <a:rPr b="1" i="0" lang="en" sz="2800" u="none" cap="none" strike="noStrike">
                <a:solidFill>
                  <a:srgbClr val="F0C132"/>
                </a:solidFill>
                <a:latin typeface="Calibri"/>
                <a:ea typeface="Calibri"/>
                <a:cs typeface="Calibri"/>
                <a:sym typeface="Calibri"/>
              </a:rPr>
              <a:t>Predicting Crime Incidents using Victim Characteristics, Location, and Time: A Case Study of Los Angeles From 2020-2024</a:t>
            </a:r>
            <a:endParaRPr b="0" i="0" sz="2800" u="none" cap="none" strike="noStrike">
              <a:solidFill>
                <a:schemeClr val="dk1"/>
              </a:solidFill>
              <a:latin typeface="Calibri"/>
              <a:ea typeface="Calibri"/>
              <a:cs typeface="Calibri"/>
              <a:sym typeface="Calibri"/>
            </a:endParaRPr>
          </a:p>
        </p:txBody>
      </p:sp>
      <p:sp>
        <p:nvSpPr>
          <p:cNvPr id="109" name="Google Shape;109;p28"/>
          <p:cNvSpPr/>
          <p:nvPr/>
        </p:nvSpPr>
        <p:spPr>
          <a:xfrm>
            <a:off x="3749040" y="1920240"/>
            <a:ext cx="1645920" cy="12801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700"/>
              <a:buFont typeface="Calibri"/>
              <a:buNone/>
            </a:pPr>
            <a:r>
              <a:t/>
            </a:r>
            <a:endParaRPr b="0" i="0" sz="700" u="none" cap="none" strike="noStrike">
              <a:solidFill>
                <a:schemeClr val="dk1"/>
              </a:solidFill>
              <a:latin typeface="Calibri"/>
              <a:ea typeface="Calibri"/>
              <a:cs typeface="Calibri"/>
              <a:sym typeface="Calibri"/>
            </a:endParaRPr>
          </a:p>
        </p:txBody>
      </p:sp>
      <p:sp>
        <p:nvSpPr>
          <p:cNvPr id="110" name="Google Shape;110;p28"/>
          <p:cNvSpPr/>
          <p:nvPr/>
        </p:nvSpPr>
        <p:spPr>
          <a:xfrm>
            <a:off x="365760" y="4114800"/>
            <a:ext cx="45720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0C132"/>
              </a:buClr>
              <a:buSzPts val="1600"/>
              <a:buFont typeface="Calibri"/>
              <a:buNone/>
            </a:pPr>
            <a:r>
              <a:rPr b="1" i="0" lang="en" sz="1600" u="none" cap="none" strike="noStrike">
                <a:solidFill>
                  <a:srgbClr val="F0C132"/>
                </a:solidFill>
                <a:latin typeface="Calibri"/>
                <a:ea typeface="Calibri"/>
                <a:cs typeface="Calibri"/>
                <a:sym typeface="Calibri"/>
              </a:rPr>
              <a:t>By Patricia Magumise| Edward Paunganwa</a:t>
            </a:r>
            <a:endParaRPr b="0" i="0" sz="1600" u="none" cap="none" strike="noStrike">
              <a:solidFill>
                <a:schemeClr val="dk1"/>
              </a:solidFill>
              <a:latin typeface="Calibri"/>
              <a:ea typeface="Calibri"/>
              <a:cs typeface="Calibri"/>
              <a:sym typeface="Calibri"/>
            </a:endParaRPr>
          </a:p>
        </p:txBody>
      </p:sp>
      <p:sp>
        <p:nvSpPr>
          <p:cNvPr id="111" name="Google Shape;111;p28"/>
          <p:cNvSpPr/>
          <p:nvPr/>
        </p:nvSpPr>
        <p:spPr>
          <a:xfrm>
            <a:off x="365760" y="4617720"/>
            <a:ext cx="64008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IA 650: Masters in Applied Data Science | Clarkson University | January 2026</a:t>
            </a:r>
            <a:endParaRPr b="0" i="0" sz="1100" u="none" cap="none" strike="noStrike">
              <a:solidFill>
                <a:schemeClr val="dk1"/>
              </a:solidFill>
              <a:latin typeface="Calibri"/>
              <a:ea typeface="Calibri"/>
              <a:cs typeface="Calibri"/>
              <a:sym typeface="Calibri"/>
            </a:endParaRPr>
          </a:p>
        </p:txBody>
      </p:sp>
      <p:pic>
        <p:nvPicPr>
          <p:cNvPr descr="18. Technology&#10;&#10;AI-generated content may be incorrect." id="112" name="Google Shape;112;p28"/>
          <p:cNvPicPr preferRelativeResize="0"/>
          <p:nvPr/>
        </p:nvPicPr>
        <p:blipFill rotWithShape="1">
          <a:blip r:embed="rId3">
            <a:alphaModFix/>
          </a:blip>
          <a:srcRect b="0" l="0" r="0" t="0"/>
          <a:stretch/>
        </p:blipFill>
        <p:spPr>
          <a:xfrm>
            <a:off x="3771759" y="1939220"/>
            <a:ext cx="1623201" cy="1607959"/>
          </a:xfrm>
          <a:prstGeom prst="rect">
            <a:avLst/>
          </a:prstGeom>
          <a:noFill/>
          <a:ln>
            <a:noFill/>
          </a:ln>
        </p:spPr>
      </p:pic>
      <p:sp>
        <p:nvSpPr>
          <p:cNvPr id="113" name="Google Shape;113;p2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9"/>
          <p:cNvSpPr txBox="1"/>
          <p:nvPr>
            <p:ph type="ctrTitle"/>
          </p:nvPr>
        </p:nvSpPr>
        <p:spPr>
          <a:xfrm>
            <a:off x="0" y="776599"/>
            <a:ext cx="8915400" cy="4135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None/>
            </a:pPr>
            <a:r>
              <a:t/>
            </a:r>
            <a:endParaRPr sz="1000">
              <a:solidFill>
                <a:srgbClr val="2D3748"/>
              </a:solidFill>
              <a:latin typeface="Calibri"/>
              <a:ea typeface="Calibri"/>
              <a:cs typeface="Calibri"/>
              <a:sym typeface="Calibri"/>
            </a:endParaRPr>
          </a:p>
          <a:p>
            <a:pPr indent="0" lvl="0" marL="0" rtl="0" algn="l">
              <a:lnSpc>
                <a:spcPct val="100000"/>
              </a:lnSpc>
              <a:spcBef>
                <a:spcPts val="0"/>
              </a:spcBef>
              <a:spcAft>
                <a:spcPts val="0"/>
              </a:spcAft>
              <a:buSzPts val="5200"/>
              <a:buNone/>
            </a:pPr>
            <a:br>
              <a:rPr lang="en" sz="1000">
                <a:solidFill>
                  <a:srgbClr val="2D3748"/>
                </a:solidFill>
                <a:latin typeface="Calibri"/>
                <a:ea typeface="Calibri"/>
                <a:cs typeface="Calibri"/>
                <a:sym typeface="Calibri"/>
              </a:rPr>
            </a:br>
            <a:br>
              <a:rPr lang="en" sz="1000">
                <a:solidFill>
                  <a:srgbClr val="2D3748"/>
                </a:solidFill>
                <a:latin typeface="Calibri"/>
                <a:ea typeface="Calibri"/>
                <a:cs typeface="Calibri"/>
                <a:sym typeface="Calibri"/>
              </a:rPr>
            </a:br>
            <a:endParaRPr sz="1000"/>
          </a:p>
        </p:txBody>
      </p:sp>
      <p:pic>
        <p:nvPicPr>
          <p:cNvPr id="119" name="Google Shape;119;p29"/>
          <p:cNvPicPr preferRelativeResize="0"/>
          <p:nvPr/>
        </p:nvPicPr>
        <p:blipFill rotWithShape="1">
          <a:blip r:embed="rId3">
            <a:alphaModFix/>
          </a:blip>
          <a:srcRect b="0" l="0" r="0" t="0"/>
          <a:stretch/>
        </p:blipFill>
        <p:spPr>
          <a:xfrm>
            <a:off x="4322450" y="2011800"/>
            <a:ext cx="2937900" cy="2750401"/>
          </a:xfrm>
          <a:prstGeom prst="rect">
            <a:avLst/>
          </a:prstGeom>
          <a:noFill/>
          <a:ln>
            <a:noFill/>
          </a:ln>
        </p:spPr>
      </p:pic>
      <p:sp>
        <p:nvSpPr>
          <p:cNvPr id="120" name="Google Shape;12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1" name="Google Shape;121;p29"/>
          <p:cNvSpPr/>
          <p:nvPr/>
        </p:nvSpPr>
        <p:spPr>
          <a:xfrm>
            <a:off x="96953" y="4886735"/>
            <a:ext cx="320100" cy="32010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29"/>
          <p:cNvSpPr/>
          <p:nvPr/>
        </p:nvSpPr>
        <p:spPr>
          <a:xfrm>
            <a:off x="96953" y="4886735"/>
            <a:ext cx="3201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123" name="Google Shape;123;p29"/>
          <p:cNvSpPr/>
          <p:nvPr/>
        </p:nvSpPr>
        <p:spPr>
          <a:xfrm>
            <a:off x="444425" y="4932455"/>
            <a:ext cx="1371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000"/>
              <a:buFont typeface="Calibri"/>
              <a:buNone/>
            </a:pPr>
            <a:r>
              <a:rPr b="1" i="0" lang="en" sz="1000" u="none" cap="none" strike="noStrike">
                <a:solidFill>
                  <a:srgbClr val="006747"/>
                </a:solidFill>
                <a:latin typeface="Calibri"/>
                <a:ea typeface="Calibri"/>
                <a:cs typeface="Calibri"/>
                <a:sym typeface="Calibri"/>
              </a:rPr>
              <a:t>Clarkson university</a:t>
            </a:r>
            <a:endParaRPr b="0" i="0" sz="1000" u="none" cap="none" strike="noStrike">
              <a:solidFill>
                <a:schemeClr val="dk1"/>
              </a:solidFill>
              <a:latin typeface="Calibri"/>
              <a:ea typeface="Calibri"/>
              <a:cs typeface="Calibri"/>
              <a:sym typeface="Calibri"/>
            </a:endParaRPr>
          </a:p>
        </p:txBody>
      </p:sp>
      <p:sp>
        <p:nvSpPr>
          <p:cNvPr id="124" name="Google Shape;124;p29"/>
          <p:cNvSpPr/>
          <p:nvPr/>
        </p:nvSpPr>
        <p:spPr>
          <a:xfrm>
            <a:off x="60377" y="4932455"/>
            <a:ext cx="2286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1000"/>
              <a:buFont typeface="Calibri"/>
              <a:buNone/>
            </a:pPr>
            <a:r>
              <a:rPr b="0" i="0" lang="en" sz="1000" u="none" cap="none" strike="noStrike">
                <a:solidFill>
                  <a:srgbClr val="006747"/>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25" name="Google Shape;125;p29"/>
          <p:cNvSpPr/>
          <p:nvPr/>
        </p:nvSpPr>
        <p:spPr>
          <a:xfrm>
            <a:off x="201168" y="878000"/>
            <a:ext cx="1600200" cy="342882"/>
          </a:xfrm>
          <a:prstGeom prst="rect">
            <a:avLst/>
          </a:prstGeom>
          <a:solidFill>
            <a:srgbClr val="1A2E44"/>
          </a:solidFill>
          <a:ln cap="flat" cmpd="sng" w="12700">
            <a:solidFill>
              <a:srgbClr val="1A2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9"/>
          <p:cNvSpPr/>
          <p:nvPr/>
        </p:nvSpPr>
        <p:spPr>
          <a:xfrm>
            <a:off x="201175" y="813998"/>
            <a:ext cx="1600200" cy="45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2020</a:t>
            </a:r>
            <a:endParaRPr b="0" i="0" sz="1600" u="none" cap="none" strike="noStrike">
              <a:solidFill>
                <a:srgbClr val="000000"/>
              </a:solidFill>
              <a:latin typeface="Calibri"/>
              <a:ea typeface="Calibri"/>
              <a:cs typeface="Calibri"/>
              <a:sym typeface="Calibri"/>
            </a:endParaRPr>
          </a:p>
        </p:txBody>
      </p:sp>
      <p:sp>
        <p:nvSpPr>
          <p:cNvPr id="127" name="Google Shape;127;p29"/>
          <p:cNvSpPr/>
          <p:nvPr/>
        </p:nvSpPr>
        <p:spPr>
          <a:xfrm>
            <a:off x="186250" y="1253925"/>
            <a:ext cx="1600200" cy="633900"/>
          </a:xfrm>
          <a:prstGeom prst="rect">
            <a:avLst/>
          </a:prstGeom>
          <a:solidFill>
            <a:srgbClr val="F1F5F9"/>
          </a:solidFill>
          <a:ln cap="flat" cmpd="sng" w="9525">
            <a:solidFill>
              <a:srgbClr val="CBD5E1"/>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9"/>
          <p:cNvSpPr/>
          <p:nvPr/>
        </p:nvSpPr>
        <p:spPr>
          <a:xfrm>
            <a:off x="201175" y="1194250"/>
            <a:ext cx="1600200" cy="278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4"/>
              </a:buClr>
              <a:buSzPts val="2000"/>
              <a:buFont typeface="Calibri"/>
              <a:buNone/>
            </a:pPr>
            <a:r>
              <a:rPr b="1" i="0" lang="en" sz="2000" u="none" cap="none" strike="noStrike">
                <a:solidFill>
                  <a:srgbClr val="1A2E44"/>
                </a:solidFill>
                <a:latin typeface="Calibri"/>
                <a:ea typeface="Calibri"/>
                <a:cs typeface="Calibri"/>
                <a:sym typeface="Calibri"/>
              </a:rPr>
              <a:t>207K</a:t>
            </a:r>
            <a:endParaRPr b="0" i="0" sz="2000" u="none" cap="none" strike="noStrike">
              <a:solidFill>
                <a:srgbClr val="000000"/>
              </a:solidFill>
              <a:latin typeface="Calibri"/>
              <a:ea typeface="Calibri"/>
              <a:cs typeface="Calibri"/>
              <a:sym typeface="Calibri"/>
            </a:endParaRPr>
          </a:p>
        </p:txBody>
      </p:sp>
      <p:sp>
        <p:nvSpPr>
          <p:cNvPr id="129" name="Google Shape;129;p29"/>
          <p:cNvSpPr/>
          <p:nvPr/>
        </p:nvSpPr>
        <p:spPr>
          <a:xfrm>
            <a:off x="181325" y="1474775"/>
            <a:ext cx="1463100" cy="38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75569"/>
              </a:buClr>
              <a:buSzPts val="850"/>
              <a:buFont typeface="Calibri"/>
              <a:buNone/>
            </a:pPr>
            <a:r>
              <a:rPr b="0" i="0" lang="en" sz="850" u="none" cap="none" strike="noStrike">
                <a:solidFill>
                  <a:srgbClr val="475569"/>
                </a:solidFill>
                <a:latin typeface="Calibri"/>
                <a:ea typeface="Calibri"/>
                <a:cs typeface="Calibri"/>
                <a:sym typeface="Calibri"/>
              </a:rPr>
              <a:t>COVID-19 year</a:t>
            </a:r>
            <a:endParaRPr b="0" i="0" sz="85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475569"/>
              </a:buClr>
              <a:buSzPts val="850"/>
              <a:buFont typeface="Calibri"/>
              <a:buNone/>
            </a:pPr>
            <a:r>
              <a:rPr b="0" i="0" lang="en" sz="850" u="none" cap="none" strike="noStrike">
                <a:solidFill>
                  <a:srgbClr val="475569"/>
                </a:solidFill>
                <a:latin typeface="Calibri"/>
                <a:ea typeface="Calibri"/>
                <a:cs typeface="Calibri"/>
                <a:sym typeface="Calibri"/>
              </a:rPr>
              <a:t>Crime suppressed</a:t>
            </a:r>
            <a:endParaRPr b="0" i="0" sz="85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475569"/>
              </a:buClr>
              <a:buSzPts val="850"/>
              <a:buFont typeface="Calibri"/>
              <a:buNone/>
            </a:pPr>
            <a:r>
              <a:rPr b="0" i="0" lang="en" sz="850" u="none" cap="none" strike="noStrike">
                <a:solidFill>
                  <a:srgbClr val="475569"/>
                </a:solidFill>
                <a:latin typeface="Calibri"/>
                <a:ea typeface="Calibri"/>
                <a:cs typeface="Calibri"/>
                <a:sym typeface="Calibri"/>
              </a:rPr>
              <a:t>by lockdowns</a:t>
            </a:r>
            <a:endParaRPr b="0" i="0" sz="850" u="none" cap="none" strike="noStrike">
              <a:solidFill>
                <a:srgbClr val="000000"/>
              </a:solidFill>
              <a:latin typeface="Calibri"/>
              <a:ea typeface="Calibri"/>
              <a:cs typeface="Calibri"/>
              <a:sym typeface="Calibri"/>
            </a:endParaRPr>
          </a:p>
        </p:txBody>
      </p:sp>
      <p:sp>
        <p:nvSpPr>
          <p:cNvPr id="130" name="Google Shape;130;p29"/>
          <p:cNvSpPr/>
          <p:nvPr/>
        </p:nvSpPr>
        <p:spPr>
          <a:xfrm>
            <a:off x="2002525" y="878000"/>
            <a:ext cx="1513200" cy="297300"/>
          </a:xfrm>
          <a:prstGeom prst="rect">
            <a:avLst/>
          </a:prstGeom>
          <a:solidFill>
            <a:srgbClr val="E05C3A"/>
          </a:solidFill>
          <a:ln cap="flat" cmpd="sng" w="12700">
            <a:solidFill>
              <a:srgbClr val="E05C3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9"/>
          <p:cNvSpPr/>
          <p:nvPr/>
        </p:nvSpPr>
        <p:spPr>
          <a:xfrm>
            <a:off x="1965950" y="948975"/>
            <a:ext cx="151320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2021</a:t>
            </a:r>
            <a:endParaRPr b="0" i="0" sz="1600" u="none" cap="none" strike="noStrike">
              <a:solidFill>
                <a:srgbClr val="000000"/>
              </a:solidFill>
              <a:latin typeface="Calibri"/>
              <a:ea typeface="Calibri"/>
              <a:cs typeface="Calibri"/>
              <a:sym typeface="Calibri"/>
            </a:endParaRPr>
          </a:p>
        </p:txBody>
      </p:sp>
      <p:sp>
        <p:nvSpPr>
          <p:cNvPr id="132" name="Google Shape;132;p29"/>
          <p:cNvSpPr/>
          <p:nvPr/>
        </p:nvSpPr>
        <p:spPr>
          <a:xfrm>
            <a:off x="2002425" y="1220875"/>
            <a:ext cx="1513200" cy="633900"/>
          </a:xfrm>
          <a:prstGeom prst="rect">
            <a:avLst/>
          </a:prstGeom>
          <a:solidFill>
            <a:srgbClr val="F1F5F9"/>
          </a:solidFill>
          <a:ln cap="flat" cmpd="sng" w="9525">
            <a:solidFill>
              <a:srgbClr val="CBD5E1"/>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9"/>
          <p:cNvSpPr/>
          <p:nvPr/>
        </p:nvSpPr>
        <p:spPr>
          <a:xfrm>
            <a:off x="1965960" y="1238744"/>
            <a:ext cx="1600200" cy="33875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05C3A"/>
              </a:buClr>
              <a:buSzPts val="2000"/>
              <a:buFont typeface="Calibri"/>
              <a:buNone/>
            </a:pPr>
            <a:r>
              <a:rPr b="1" i="0" lang="en" sz="2000" u="none" cap="none" strike="noStrike">
                <a:solidFill>
                  <a:srgbClr val="E05C3A"/>
                </a:solidFill>
                <a:latin typeface="Calibri"/>
                <a:ea typeface="Calibri"/>
                <a:cs typeface="Calibri"/>
                <a:sym typeface="Calibri"/>
              </a:rPr>
              <a:t>218K</a:t>
            </a:r>
            <a:endParaRPr b="0" i="0" sz="2000" u="none" cap="none" strike="noStrike">
              <a:solidFill>
                <a:srgbClr val="000000"/>
              </a:solidFill>
              <a:latin typeface="Calibri"/>
              <a:ea typeface="Calibri"/>
              <a:cs typeface="Calibri"/>
              <a:sym typeface="Calibri"/>
            </a:endParaRPr>
          </a:p>
        </p:txBody>
      </p:sp>
      <p:sp>
        <p:nvSpPr>
          <p:cNvPr id="134" name="Google Shape;134;p29"/>
          <p:cNvSpPr/>
          <p:nvPr/>
        </p:nvSpPr>
        <p:spPr>
          <a:xfrm>
            <a:off x="2057250" y="1437725"/>
            <a:ext cx="1260600" cy="458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75569"/>
              </a:buClr>
              <a:buSzPts val="850"/>
              <a:buFont typeface="Calibri"/>
              <a:buNone/>
            </a:pPr>
            <a:r>
              <a:rPr b="0" i="0" lang="en" sz="850" u="none" cap="none" strike="noStrike">
                <a:solidFill>
                  <a:srgbClr val="475569"/>
                </a:solidFill>
                <a:latin typeface="Calibri"/>
                <a:ea typeface="Calibri"/>
                <a:cs typeface="Calibri"/>
                <a:sym typeface="Calibri"/>
              </a:rPr>
              <a:t>During lockdown</a:t>
            </a:r>
            <a:endParaRPr b="0" i="0" sz="85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475569"/>
              </a:buClr>
              <a:buSzPts val="850"/>
              <a:buFont typeface="Calibri"/>
              <a:buNone/>
            </a:pPr>
            <a:r>
              <a:rPr b="0" i="0" lang="en" sz="850" u="none" cap="none" strike="noStrike">
                <a:solidFill>
                  <a:srgbClr val="475569"/>
                </a:solidFill>
                <a:latin typeface="Calibri"/>
                <a:ea typeface="Calibri"/>
                <a:cs typeface="Calibri"/>
                <a:sym typeface="Calibri"/>
              </a:rPr>
              <a:t>Property crime peak</a:t>
            </a:r>
            <a:endParaRPr b="0" i="0" sz="85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475569"/>
              </a:buClr>
              <a:buSzPts val="850"/>
              <a:buFont typeface="Calibri"/>
              <a:buNone/>
            </a:pPr>
            <a:r>
              <a:rPr b="0" i="0" lang="en" sz="850" u="none" cap="none" strike="noStrike">
                <a:solidFill>
                  <a:srgbClr val="475569"/>
                </a:solidFill>
                <a:latin typeface="Calibri"/>
                <a:ea typeface="Calibri"/>
                <a:cs typeface="Calibri"/>
                <a:sym typeface="Calibri"/>
              </a:rPr>
              <a:t>114,453 incident</a:t>
            </a:r>
            <a:endParaRPr b="0" i="0" sz="850" u="none" cap="none" strike="noStrike">
              <a:solidFill>
                <a:srgbClr val="000000"/>
              </a:solidFill>
              <a:latin typeface="Calibri"/>
              <a:ea typeface="Calibri"/>
              <a:cs typeface="Calibri"/>
              <a:sym typeface="Calibri"/>
            </a:endParaRPr>
          </a:p>
        </p:txBody>
      </p:sp>
      <p:sp>
        <p:nvSpPr>
          <p:cNvPr id="135" name="Google Shape;135;p29"/>
          <p:cNvSpPr/>
          <p:nvPr/>
        </p:nvSpPr>
        <p:spPr>
          <a:xfrm>
            <a:off x="3730752" y="895674"/>
            <a:ext cx="1600200" cy="338754"/>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9"/>
          <p:cNvSpPr/>
          <p:nvPr/>
        </p:nvSpPr>
        <p:spPr>
          <a:xfrm>
            <a:off x="3730752" y="895674"/>
            <a:ext cx="1600200" cy="35116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2022</a:t>
            </a:r>
            <a:endParaRPr b="0" i="0" sz="1600" u="none" cap="none" strike="noStrike">
              <a:solidFill>
                <a:srgbClr val="000000"/>
              </a:solidFill>
              <a:latin typeface="Calibri"/>
              <a:ea typeface="Calibri"/>
              <a:cs typeface="Calibri"/>
              <a:sym typeface="Calibri"/>
            </a:endParaRPr>
          </a:p>
        </p:txBody>
      </p:sp>
      <p:sp>
        <p:nvSpPr>
          <p:cNvPr id="137" name="Google Shape;137;p29"/>
          <p:cNvSpPr/>
          <p:nvPr/>
        </p:nvSpPr>
        <p:spPr>
          <a:xfrm>
            <a:off x="3730750" y="1253925"/>
            <a:ext cx="1621800" cy="633900"/>
          </a:xfrm>
          <a:prstGeom prst="rect">
            <a:avLst/>
          </a:prstGeom>
          <a:solidFill>
            <a:srgbClr val="F1F5F9"/>
          </a:solidFill>
          <a:ln cap="flat" cmpd="sng" w="9525">
            <a:solidFill>
              <a:srgbClr val="CBD5E1"/>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9"/>
          <p:cNvSpPr/>
          <p:nvPr/>
        </p:nvSpPr>
        <p:spPr>
          <a:xfrm>
            <a:off x="3817645" y="1275090"/>
            <a:ext cx="1426414" cy="2783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C2626"/>
              </a:buClr>
              <a:buSzPts val="2000"/>
              <a:buFont typeface="Calibri"/>
              <a:buNone/>
            </a:pPr>
            <a:r>
              <a:rPr b="1" i="0" lang="en" sz="2000" u="none" cap="none" strike="noStrike">
                <a:solidFill>
                  <a:srgbClr val="DC2626"/>
                </a:solidFill>
                <a:latin typeface="Calibri"/>
                <a:ea typeface="Calibri"/>
                <a:cs typeface="Calibri"/>
                <a:sym typeface="Calibri"/>
              </a:rPr>
              <a:t>245K</a:t>
            </a:r>
            <a:endParaRPr b="0" i="0" sz="2000" u="none" cap="none" strike="noStrike">
              <a:solidFill>
                <a:srgbClr val="000000"/>
              </a:solidFill>
              <a:latin typeface="Calibri"/>
              <a:ea typeface="Calibri"/>
              <a:cs typeface="Calibri"/>
              <a:sym typeface="Calibri"/>
            </a:endParaRPr>
          </a:p>
        </p:txBody>
      </p:sp>
      <p:sp>
        <p:nvSpPr>
          <p:cNvPr id="139" name="Google Shape;139;p29"/>
          <p:cNvSpPr/>
          <p:nvPr/>
        </p:nvSpPr>
        <p:spPr>
          <a:xfrm>
            <a:off x="3803900" y="1462575"/>
            <a:ext cx="1463100" cy="458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75569"/>
              </a:buClr>
              <a:buSzPts val="850"/>
              <a:buFont typeface="Calibri"/>
              <a:buNone/>
            </a:pPr>
            <a:r>
              <a:rPr b="0" i="0" lang="en" sz="850" u="none" cap="none" strike="noStrike">
                <a:solidFill>
                  <a:srgbClr val="475569"/>
                </a:solidFill>
                <a:latin typeface="Calibri"/>
                <a:ea typeface="Calibri"/>
                <a:cs typeface="Calibri"/>
                <a:sym typeface="Calibri"/>
              </a:rPr>
              <a:t>Peak total crime</a:t>
            </a:r>
            <a:endParaRPr b="0" i="0" sz="85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475569"/>
              </a:buClr>
              <a:buSzPts val="850"/>
              <a:buFont typeface="Calibri"/>
              <a:buNone/>
            </a:pPr>
            <a:r>
              <a:rPr b="0" i="0" lang="en" sz="850" u="none" cap="none" strike="noStrike">
                <a:solidFill>
                  <a:srgbClr val="475569"/>
                </a:solidFill>
                <a:latin typeface="Calibri"/>
                <a:ea typeface="Calibri"/>
                <a:cs typeface="Calibri"/>
                <a:sym typeface="Calibri"/>
              </a:rPr>
              <a:t>Highest since 2008 </a:t>
            </a:r>
            <a:endParaRPr b="0" i="0" sz="850" u="none" cap="none" strike="noStrike">
              <a:solidFill>
                <a:srgbClr val="000000"/>
              </a:solidFill>
              <a:latin typeface="Calibri"/>
              <a:ea typeface="Calibri"/>
              <a:cs typeface="Calibri"/>
              <a:sym typeface="Calibri"/>
            </a:endParaRPr>
          </a:p>
        </p:txBody>
      </p:sp>
      <p:sp>
        <p:nvSpPr>
          <p:cNvPr id="140" name="Google Shape;140;p29"/>
          <p:cNvSpPr/>
          <p:nvPr/>
        </p:nvSpPr>
        <p:spPr>
          <a:xfrm>
            <a:off x="5495544" y="895674"/>
            <a:ext cx="1600200" cy="351166"/>
          </a:xfrm>
          <a:prstGeom prst="rect">
            <a:avLst/>
          </a:prstGeom>
          <a:solidFill>
            <a:srgbClr val="1A2E44"/>
          </a:solidFill>
          <a:ln cap="flat" cmpd="sng" w="12700">
            <a:solidFill>
              <a:srgbClr val="1A2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9"/>
          <p:cNvSpPr/>
          <p:nvPr/>
        </p:nvSpPr>
        <p:spPr>
          <a:xfrm>
            <a:off x="5495550" y="873700"/>
            <a:ext cx="1513200" cy="32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2023</a:t>
            </a:r>
            <a:endParaRPr b="0" i="0" sz="1600" u="none" cap="none" strike="noStrike">
              <a:solidFill>
                <a:srgbClr val="000000"/>
              </a:solidFill>
              <a:latin typeface="Calibri"/>
              <a:ea typeface="Calibri"/>
              <a:cs typeface="Calibri"/>
              <a:sym typeface="Calibri"/>
            </a:endParaRPr>
          </a:p>
        </p:txBody>
      </p:sp>
      <p:sp>
        <p:nvSpPr>
          <p:cNvPr id="142" name="Google Shape;142;p29"/>
          <p:cNvSpPr/>
          <p:nvPr/>
        </p:nvSpPr>
        <p:spPr>
          <a:xfrm>
            <a:off x="5495550" y="1253925"/>
            <a:ext cx="1621800" cy="633900"/>
          </a:xfrm>
          <a:prstGeom prst="rect">
            <a:avLst/>
          </a:prstGeom>
          <a:solidFill>
            <a:srgbClr val="F1F5F9"/>
          </a:solidFill>
          <a:ln cap="flat" cmpd="sng" w="9525">
            <a:solidFill>
              <a:srgbClr val="CBD5E1"/>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9"/>
          <p:cNvSpPr/>
          <p:nvPr/>
        </p:nvSpPr>
        <p:spPr>
          <a:xfrm>
            <a:off x="5582437" y="1285338"/>
            <a:ext cx="1426414" cy="2921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E44"/>
              </a:buClr>
              <a:buSzPts val="2000"/>
              <a:buFont typeface="Calibri"/>
              <a:buNone/>
            </a:pPr>
            <a:r>
              <a:rPr b="1" i="0" lang="en" sz="2000" u="none" cap="none" strike="noStrike">
                <a:solidFill>
                  <a:srgbClr val="1A2E44"/>
                </a:solidFill>
                <a:latin typeface="Calibri"/>
                <a:ea typeface="Calibri"/>
                <a:cs typeface="Calibri"/>
                <a:sym typeface="Calibri"/>
              </a:rPr>
              <a:t>240K</a:t>
            </a:r>
            <a:endParaRPr b="0" i="0" sz="2000" u="none" cap="none" strike="noStrike">
              <a:solidFill>
                <a:srgbClr val="000000"/>
              </a:solidFill>
              <a:latin typeface="Calibri"/>
              <a:ea typeface="Calibri"/>
              <a:cs typeface="Calibri"/>
              <a:sym typeface="Calibri"/>
            </a:endParaRPr>
          </a:p>
        </p:txBody>
      </p:sp>
      <p:sp>
        <p:nvSpPr>
          <p:cNvPr id="144" name="Google Shape;144;p29"/>
          <p:cNvSpPr/>
          <p:nvPr/>
        </p:nvSpPr>
        <p:spPr>
          <a:xfrm>
            <a:off x="5568700" y="1553454"/>
            <a:ext cx="1355700" cy="34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75569"/>
              </a:buClr>
              <a:buSzPts val="850"/>
              <a:buFont typeface="Calibri"/>
              <a:buNone/>
            </a:pPr>
            <a:r>
              <a:rPr b="0" i="0" lang="en" sz="850" u="none" cap="none" strike="noStrike">
                <a:solidFill>
                  <a:srgbClr val="475569"/>
                </a:solidFill>
                <a:latin typeface="Calibri"/>
                <a:ea typeface="Calibri"/>
                <a:cs typeface="Calibri"/>
                <a:sym typeface="Calibri"/>
              </a:rPr>
              <a:t>Slight decline</a:t>
            </a:r>
            <a:endParaRPr b="0" i="0" sz="85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475569"/>
              </a:buClr>
              <a:buSzPts val="850"/>
              <a:buFont typeface="Calibri"/>
              <a:buNone/>
            </a:pPr>
            <a:r>
              <a:rPr b="0" i="0" lang="en" sz="850" u="none" cap="none" strike="noStrike">
                <a:solidFill>
                  <a:srgbClr val="475569"/>
                </a:solidFill>
                <a:latin typeface="Calibri"/>
                <a:ea typeface="Calibri"/>
                <a:cs typeface="Calibri"/>
                <a:sym typeface="Calibri"/>
              </a:rPr>
              <a:t>17% vs 2022</a:t>
            </a:r>
            <a:endParaRPr b="0" i="0" sz="850" u="none" cap="none" strike="noStrike">
              <a:solidFill>
                <a:srgbClr val="000000"/>
              </a:solidFill>
              <a:latin typeface="Calibri"/>
              <a:ea typeface="Calibri"/>
              <a:cs typeface="Calibri"/>
              <a:sym typeface="Calibri"/>
            </a:endParaRPr>
          </a:p>
        </p:txBody>
      </p:sp>
      <p:sp>
        <p:nvSpPr>
          <p:cNvPr id="145" name="Google Shape;145;p29"/>
          <p:cNvSpPr/>
          <p:nvPr/>
        </p:nvSpPr>
        <p:spPr>
          <a:xfrm>
            <a:off x="7260336" y="891963"/>
            <a:ext cx="1600200" cy="365700"/>
          </a:xfrm>
          <a:prstGeom prst="rect">
            <a:avLst/>
          </a:prstGeom>
          <a:solidFill>
            <a:srgbClr val="0A8A7A"/>
          </a:solidFill>
          <a:ln cap="flat" cmpd="sng" w="12700">
            <a:solidFill>
              <a:srgbClr val="0A8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9"/>
          <p:cNvSpPr/>
          <p:nvPr/>
        </p:nvSpPr>
        <p:spPr>
          <a:xfrm>
            <a:off x="7312600" y="926749"/>
            <a:ext cx="15480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2024</a:t>
            </a:r>
            <a:endParaRPr b="0" i="0" sz="1600" u="none" cap="none" strike="noStrike">
              <a:solidFill>
                <a:srgbClr val="000000"/>
              </a:solidFill>
              <a:latin typeface="Calibri"/>
              <a:ea typeface="Calibri"/>
              <a:cs typeface="Calibri"/>
              <a:sym typeface="Calibri"/>
            </a:endParaRPr>
          </a:p>
        </p:txBody>
      </p:sp>
      <p:sp>
        <p:nvSpPr>
          <p:cNvPr id="147" name="Google Shape;147;p29"/>
          <p:cNvSpPr/>
          <p:nvPr/>
        </p:nvSpPr>
        <p:spPr>
          <a:xfrm>
            <a:off x="7236575" y="1287875"/>
            <a:ext cx="1621800" cy="612900"/>
          </a:xfrm>
          <a:prstGeom prst="rect">
            <a:avLst/>
          </a:prstGeom>
          <a:solidFill>
            <a:srgbClr val="F1F5F9"/>
          </a:solidFill>
          <a:ln cap="flat" cmpd="sng" w="9525">
            <a:solidFill>
              <a:srgbClr val="CBD5E1"/>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9"/>
          <p:cNvSpPr/>
          <p:nvPr/>
        </p:nvSpPr>
        <p:spPr>
          <a:xfrm>
            <a:off x="7260361" y="1227369"/>
            <a:ext cx="1600200" cy="297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A8A7A"/>
              </a:buClr>
              <a:buSzPts val="2000"/>
              <a:buFont typeface="Calibri"/>
              <a:buNone/>
            </a:pPr>
            <a:r>
              <a:rPr b="1" i="0" lang="en" sz="2000" u="none" cap="none" strike="noStrike">
                <a:solidFill>
                  <a:srgbClr val="0A8A7A"/>
                </a:solidFill>
                <a:latin typeface="Calibri"/>
                <a:ea typeface="Calibri"/>
                <a:cs typeface="Calibri"/>
                <a:sym typeface="Calibri"/>
              </a:rPr>
              <a:t>187K</a:t>
            </a:r>
            <a:endParaRPr b="0" i="0" sz="2000" u="none" cap="none" strike="noStrike">
              <a:solidFill>
                <a:srgbClr val="000000"/>
              </a:solidFill>
              <a:latin typeface="Calibri"/>
              <a:ea typeface="Calibri"/>
              <a:cs typeface="Calibri"/>
              <a:sym typeface="Calibri"/>
            </a:endParaRPr>
          </a:p>
        </p:txBody>
      </p:sp>
      <p:sp>
        <p:nvSpPr>
          <p:cNvPr id="149" name="Google Shape;149;p29"/>
          <p:cNvSpPr/>
          <p:nvPr/>
        </p:nvSpPr>
        <p:spPr>
          <a:xfrm>
            <a:off x="7547112" y="1553458"/>
            <a:ext cx="1249475" cy="42409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75569"/>
              </a:buClr>
              <a:buSzPts val="850"/>
              <a:buFont typeface="Calibri"/>
              <a:buNone/>
            </a:pPr>
            <a:r>
              <a:rPr b="0" i="0" lang="en" sz="850" u="none" cap="none" strike="noStrike">
                <a:solidFill>
                  <a:srgbClr val="475569"/>
                </a:solidFill>
                <a:latin typeface="Calibri"/>
                <a:ea typeface="Calibri"/>
                <a:cs typeface="Calibri"/>
                <a:sym typeface="Calibri"/>
              </a:rPr>
              <a:t>Significant drop</a:t>
            </a:r>
            <a:endParaRPr b="0" i="0" sz="85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475569"/>
              </a:buClr>
              <a:buSzPts val="850"/>
              <a:buFont typeface="Calibri"/>
              <a:buNone/>
            </a:pPr>
            <a:r>
              <a:rPr b="0" i="0" lang="en" sz="850" u="none" cap="none" strike="noStrike">
                <a:solidFill>
                  <a:srgbClr val="475569"/>
                </a:solidFill>
                <a:latin typeface="Calibri"/>
                <a:ea typeface="Calibri"/>
                <a:cs typeface="Calibri"/>
                <a:sym typeface="Calibri"/>
              </a:rPr>
              <a:t>14% vs 2023</a:t>
            </a:r>
            <a:endParaRPr b="0" i="0" sz="850" u="none" cap="none" strike="noStrike">
              <a:solidFill>
                <a:srgbClr val="000000"/>
              </a:solidFill>
              <a:latin typeface="Calibri"/>
              <a:ea typeface="Calibri"/>
              <a:cs typeface="Calibri"/>
              <a:sym typeface="Calibri"/>
            </a:endParaRPr>
          </a:p>
        </p:txBody>
      </p:sp>
      <p:sp>
        <p:nvSpPr>
          <p:cNvPr id="150" name="Google Shape;150;p29"/>
          <p:cNvSpPr/>
          <p:nvPr/>
        </p:nvSpPr>
        <p:spPr>
          <a:xfrm>
            <a:off x="7398174" y="2171300"/>
            <a:ext cx="1513200" cy="633900"/>
          </a:xfrm>
          <a:prstGeom prst="rect">
            <a:avLst/>
          </a:prstGeom>
          <a:solidFill>
            <a:srgbClr val="F1F5F9"/>
          </a:solidFill>
          <a:ln cap="flat" cmpd="sng" w="9525">
            <a:solidFill>
              <a:srgbClr val="CBD5E1"/>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9"/>
          <p:cNvSpPr/>
          <p:nvPr/>
        </p:nvSpPr>
        <p:spPr>
          <a:xfrm>
            <a:off x="7312775" y="2171250"/>
            <a:ext cx="79200" cy="633900"/>
          </a:xfrm>
          <a:prstGeom prst="rect">
            <a:avLst/>
          </a:prstGeom>
          <a:solidFill>
            <a:srgbClr val="0A8A7A"/>
          </a:solidFill>
          <a:ln cap="flat" cmpd="sng" w="12700">
            <a:solidFill>
              <a:srgbClr val="0A8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9"/>
          <p:cNvSpPr/>
          <p:nvPr/>
        </p:nvSpPr>
        <p:spPr>
          <a:xfrm>
            <a:off x="7420700" y="2190850"/>
            <a:ext cx="717300" cy="163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A8A7A"/>
              </a:buClr>
              <a:buSzPts val="1800"/>
              <a:buFont typeface="Calibri"/>
              <a:buNone/>
            </a:pPr>
            <a:r>
              <a:rPr b="1" i="0" lang="en" sz="1800" u="none" cap="none" strike="noStrike">
                <a:solidFill>
                  <a:srgbClr val="0A8A7A"/>
                </a:solidFill>
                <a:latin typeface="Calibri"/>
                <a:ea typeface="Calibri"/>
                <a:cs typeface="Calibri"/>
                <a:sym typeface="Calibri"/>
              </a:rPr>
              <a:t>14.2%</a:t>
            </a:r>
            <a:endParaRPr b="0" i="0" sz="1800" u="none" cap="none" strike="noStrike">
              <a:solidFill>
                <a:srgbClr val="000000"/>
              </a:solidFill>
              <a:latin typeface="Calibri"/>
              <a:ea typeface="Calibri"/>
              <a:cs typeface="Calibri"/>
              <a:sym typeface="Calibri"/>
            </a:endParaRPr>
          </a:p>
        </p:txBody>
      </p:sp>
      <p:sp>
        <p:nvSpPr>
          <p:cNvPr id="153" name="Google Shape;153;p29"/>
          <p:cNvSpPr/>
          <p:nvPr/>
        </p:nvSpPr>
        <p:spPr>
          <a:xfrm>
            <a:off x="7394084" y="2309376"/>
            <a:ext cx="1402563" cy="43371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00"/>
              <a:buFont typeface="Calibri"/>
              <a:buNone/>
            </a:pPr>
            <a:r>
              <a:t/>
            </a:r>
            <a:endParaRPr b="0" i="0" sz="900" u="none" cap="none" strike="noStrike">
              <a:solidFill>
                <a:srgbClr val="475569"/>
              </a:solidFill>
              <a:latin typeface="Calibri"/>
              <a:ea typeface="Calibri"/>
              <a:cs typeface="Calibri"/>
              <a:sym typeface="Calibri"/>
            </a:endParaRPr>
          </a:p>
          <a:p>
            <a:pPr indent="0" lvl="0" marL="0" marR="0" rtl="0" algn="l">
              <a:lnSpc>
                <a:spcPct val="100000"/>
              </a:lnSpc>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Decrease in violent crime</a:t>
            </a:r>
            <a:endParaRPr b="0" i="0" sz="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2020 to 2024</a:t>
            </a:r>
            <a:endParaRPr b="0" i="0" sz="900" u="none" cap="none" strike="noStrike">
              <a:solidFill>
                <a:srgbClr val="000000"/>
              </a:solidFill>
              <a:latin typeface="Calibri"/>
              <a:ea typeface="Calibri"/>
              <a:cs typeface="Calibri"/>
              <a:sym typeface="Calibri"/>
            </a:endParaRPr>
          </a:p>
        </p:txBody>
      </p:sp>
      <p:sp>
        <p:nvSpPr>
          <p:cNvPr id="154" name="Google Shape;154;p29"/>
          <p:cNvSpPr/>
          <p:nvPr/>
        </p:nvSpPr>
        <p:spPr>
          <a:xfrm>
            <a:off x="7408775" y="3155200"/>
            <a:ext cx="1468800" cy="612900"/>
          </a:xfrm>
          <a:prstGeom prst="rect">
            <a:avLst/>
          </a:prstGeom>
          <a:solidFill>
            <a:srgbClr val="F1F5F9"/>
          </a:solidFill>
          <a:ln cap="flat" cmpd="sng" w="9525">
            <a:solidFill>
              <a:srgbClr val="CBD5E1"/>
            </a:solidFill>
            <a:prstDash val="solid"/>
            <a:round/>
            <a:headEnd len="sm" w="sm" type="none"/>
            <a:tailEnd len="sm" w="sm" type="none"/>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 sz="1400" u="none" cap="none" strike="noStrike">
                <a:solidFill>
                  <a:srgbClr val="0A8A7A"/>
                </a:solidFill>
                <a:latin typeface="Calibri"/>
                <a:ea typeface="Calibri"/>
                <a:cs typeface="Calibri"/>
                <a:sym typeface="Calibri"/>
              </a:rPr>
              <a:t>6.0%</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9"/>
          <p:cNvSpPr/>
          <p:nvPr/>
        </p:nvSpPr>
        <p:spPr>
          <a:xfrm>
            <a:off x="7312600" y="3155625"/>
            <a:ext cx="79200" cy="612900"/>
          </a:xfrm>
          <a:prstGeom prst="rect">
            <a:avLst/>
          </a:prstGeom>
          <a:solidFill>
            <a:srgbClr val="0A8A7A"/>
          </a:solidFill>
          <a:ln cap="flat" cmpd="sng" w="12700">
            <a:solidFill>
              <a:srgbClr val="0A8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9"/>
          <p:cNvSpPr/>
          <p:nvPr/>
        </p:nvSpPr>
        <p:spPr>
          <a:xfrm>
            <a:off x="5833872" y="3904488"/>
            <a:ext cx="9144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A8A7A"/>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7" name="Google Shape;157;p29"/>
          <p:cNvSpPr/>
          <p:nvPr/>
        </p:nvSpPr>
        <p:spPr>
          <a:xfrm>
            <a:off x="7836000" y="3116350"/>
            <a:ext cx="1123500" cy="612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00"/>
              <a:buFont typeface="Calibri"/>
              <a:buNone/>
            </a:pPr>
            <a:r>
              <a:t/>
            </a:r>
            <a:endParaRPr b="0" i="0" sz="900" u="none" cap="none" strike="noStrike">
              <a:solidFill>
                <a:srgbClr val="475569"/>
              </a:solidFill>
              <a:latin typeface="Calibri"/>
              <a:ea typeface="Calibri"/>
              <a:cs typeface="Calibri"/>
              <a:sym typeface="Calibri"/>
            </a:endParaRPr>
          </a:p>
          <a:p>
            <a:pPr indent="0" lvl="0" marL="0" marR="0" rtl="0" algn="l">
              <a:lnSpc>
                <a:spcPct val="100000"/>
              </a:lnSpc>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Decrease in Non violent crime</a:t>
            </a:r>
            <a:endParaRPr b="0" i="0" sz="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2020 to 2024</a:t>
            </a:r>
            <a:endParaRPr b="0" i="0" sz="900" u="none" cap="none" strike="noStrike">
              <a:solidFill>
                <a:srgbClr val="000000"/>
              </a:solidFill>
              <a:latin typeface="Calibri"/>
              <a:ea typeface="Calibri"/>
              <a:cs typeface="Calibri"/>
              <a:sym typeface="Calibri"/>
            </a:endParaRPr>
          </a:p>
        </p:txBody>
      </p:sp>
      <p:sp>
        <p:nvSpPr>
          <p:cNvPr id="158" name="Google Shape;158;p29"/>
          <p:cNvSpPr/>
          <p:nvPr/>
        </p:nvSpPr>
        <p:spPr>
          <a:xfrm>
            <a:off x="0" y="36642"/>
            <a:ext cx="9144000" cy="777348"/>
          </a:xfrm>
          <a:prstGeom prst="rect">
            <a:avLst/>
          </a:prstGeom>
          <a:solidFill>
            <a:srgbClr val="006747"/>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 name="Google Shape;159;p29"/>
          <p:cNvSpPr/>
          <p:nvPr/>
        </p:nvSpPr>
        <p:spPr>
          <a:xfrm>
            <a:off x="358091" y="77880"/>
            <a:ext cx="7863840" cy="502920"/>
          </a:xfrm>
          <a:prstGeom prst="rect">
            <a:avLst/>
          </a:prstGeom>
          <a:solidFill>
            <a:srgbClr val="00674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2EE"/>
              </a:buClr>
              <a:buSzPts val="2200"/>
              <a:buFont typeface="Calibri"/>
              <a:buNone/>
            </a:pPr>
            <a:r>
              <a:rPr b="1" i="0" lang="en" sz="2200" u="none" cap="none" strike="noStrike">
                <a:solidFill>
                  <a:srgbClr val="FFC000"/>
                </a:solidFill>
                <a:latin typeface="Calibri"/>
                <a:ea typeface="Calibri"/>
                <a:cs typeface="Calibri"/>
                <a:sym typeface="Calibri"/>
              </a:rPr>
              <a:t>Crime in Los Angeles - Historical Overview</a:t>
            </a:r>
            <a:endParaRPr b="0" i="0" sz="2200" u="none" cap="none" strike="noStrike">
              <a:solidFill>
                <a:srgbClr val="FFC000"/>
              </a:solidFill>
              <a:latin typeface="Calibri"/>
              <a:ea typeface="Calibri"/>
              <a:cs typeface="Calibri"/>
              <a:sym typeface="Calibri"/>
            </a:endParaRPr>
          </a:p>
        </p:txBody>
      </p:sp>
      <p:sp>
        <p:nvSpPr>
          <p:cNvPr id="160" name="Google Shape;160;p29"/>
          <p:cNvSpPr/>
          <p:nvPr/>
        </p:nvSpPr>
        <p:spPr>
          <a:xfrm>
            <a:off x="96950" y="2011800"/>
            <a:ext cx="4152600" cy="27504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000">
              <a:solidFill>
                <a:srgbClr val="1E293B"/>
              </a:solidFill>
              <a:latin typeface="Calibri"/>
              <a:ea typeface="Calibri"/>
              <a:cs typeface="Calibri"/>
              <a:sym typeface="Calibri"/>
            </a:endParaRPr>
          </a:p>
          <a:p>
            <a:pPr indent="0" lvl="0" marL="0" rtl="0" algn="l">
              <a:spcBef>
                <a:spcPts val="0"/>
              </a:spcBef>
              <a:spcAft>
                <a:spcPts val="0"/>
              </a:spcAft>
              <a:buNone/>
            </a:pPr>
            <a:r>
              <a:t/>
            </a:r>
            <a:endParaRPr b="1" sz="1000">
              <a:solidFill>
                <a:srgbClr val="1E293B"/>
              </a:solidFill>
              <a:latin typeface="Calibri"/>
              <a:ea typeface="Calibri"/>
              <a:cs typeface="Calibri"/>
              <a:sym typeface="Calibri"/>
            </a:endParaRPr>
          </a:p>
          <a:p>
            <a:pPr indent="0" lvl="0" marL="0" rtl="0" algn="l">
              <a:spcBef>
                <a:spcPts val="0"/>
              </a:spcBef>
              <a:spcAft>
                <a:spcPts val="0"/>
              </a:spcAft>
              <a:buNone/>
            </a:pPr>
            <a:r>
              <a:t/>
            </a:r>
            <a:endParaRPr b="1" sz="1000">
              <a:solidFill>
                <a:srgbClr val="1E293B"/>
              </a:solidFill>
              <a:latin typeface="Calibri"/>
              <a:ea typeface="Calibri"/>
              <a:cs typeface="Calibri"/>
              <a:sym typeface="Calibri"/>
            </a:endParaRPr>
          </a:p>
          <a:p>
            <a:pPr indent="0" lvl="0" marL="0" rtl="0" algn="l">
              <a:spcBef>
                <a:spcPts val="0"/>
              </a:spcBef>
              <a:spcAft>
                <a:spcPts val="0"/>
              </a:spcAft>
              <a:buNone/>
            </a:pPr>
            <a:r>
              <a:rPr b="1" lang="en" sz="1000">
                <a:solidFill>
                  <a:srgbClr val="1E293B"/>
                </a:solidFill>
                <a:latin typeface="Calibri"/>
                <a:ea typeface="Calibri"/>
                <a:cs typeface="Calibri"/>
                <a:sym typeface="Calibri"/>
              </a:rPr>
              <a:t>Introduction</a:t>
            </a:r>
            <a:endParaRPr b="1" sz="1000">
              <a:solidFill>
                <a:srgbClr val="1E293B"/>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Can we predict whether a crime will be violent or non-violent just by looking at who, where, and when it happened?</a:t>
            </a:r>
            <a:endParaRPr sz="10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0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FBI (2019) defines violent crimes as offenses involving force or threat of force.</a:t>
            </a:r>
            <a:endParaRPr sz="10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In this project, we analyzed crime data from Los Angeles between 2020 and 2024 to uncover hidden patterns and build predictive models that can support smarter policing and safer communities.</a:t>
            </a:r>
            <a:endParaRPr sz="10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0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 Peeler (2025) argues non-violent crimes do not involve physical injury to another person.</a:t>
            </a:r>
            <a:endParaRPr sz="10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0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ability to predict whether a crime is violent or non-violent allows law enforcement to prioritize responses and deploy resources more effectively.</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rgbClr val="1E293B"/>
              </a:solidFill>
              <a:latin typeface="Calibri"/>
              <a:ea typeface="Calibri"/>
              <a:cs typeface="Calibri"/>
              <a:sym typeface="Calibri"/>
            </a:endParaRPr>
          </a:p>
          <a:p>
            <a:pPr indent="0" lvl="0" marL="0" rtl="0" algn="l">
              <a:spcBef>
                <a:spcPts val="0"/>
              </a:spcBef>
              <a:spcAft>
                <a:spcPts val="0"/>
              </a:spcAft>
              <a:buClr>
                <a:schemeClr val="dk1"/>
              </a:buClr>
              <a:buSzPts val="5200"/>
              <a:buFont typeface="Arial"/>
              <a:buNone/>
            </a:pPr>
            <a:br>
              <a:rPr lang="en" sz="1000">
                <a:solidFill>
                  <a:srgbClr val="2D3748"/>
                </a:solidFill>
                <a:latin typeface="Calibri"/>
                <a:ea typeface="Calibri"/>
                <a:cs typeface="Calibri"/>
                <a:sym typeface="Calibri"/>
              </a:rPr>
            </a:br>
            <a:br>
              <a:rPr lang="en" sz="1000">
                <a:solidFill>
                  <a:srgbClr val="2D3748"/>
                </a:solidFill>
                <a:latin typeface="Calibri"/>
                <a:ea typeface="Calibri"/>
                <a:cs typeface="Calibri"/>
                <a:sym typeface="Calibri"/>
              </a:rPr>
            </a:br>
            <a:endParaRPr sz="1000">
              <a:solidFill>
                <a:srgbClr val="1E293B"/>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30"/>
          <p:cNvSpPr/>
          <p:nvPr/>
        </p:nvSpPr>
        <p:spPr>
          <a:xfrm>
            <a:off x="228600" y="73152"/>
            <a:ext cx="868680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2400"/>
              <a:buFont typeface="Calibri"/>
              <a:buNone/>
            </a:pPr>
            <a:r>
              <a:rPr b="1" i="0" lang="en" sz="2400" u="none" cap="none" strike="noStrike">
                <a:solidFill>
                  <a:srgbClr val="006747"/>
                </a:solidFill>
                <a:latin typeface="Calibri"/>
                <a:ea typeface="Calibri"/>
                <a:cs typeface="Calibri"/>
                <a:sym typeface="Calibri"/>
              </a:rPr>
              <a:t>Research Framework and Dataset Overview</a:t>
            </a:r>
            <a:endParaRPr b="0" i="0" sz="2400" u="none" cap="none" strike="noStrike">
              <a:solidFill>
                <a:schemeClr val="dk1"/>
              </a:solidFill>
              <a:latin typeface="Calibri"/>
              <a:ea typeface="Calibri"/>
              <a:cs typeface="Calibri"/>
              <a:sym typeface="Calibri"/>
            </a:endParaRPr>
          </a:p>
        </p:txBody>
      </p:sp>
      <p:sp>
        <p:nvSpPr>
          <p:cNvPr id="167" name="Google Shape;167;p30"/>
          <p:cNvSpPr/>
          <p:nvPr/>
        </p:nvSpPr>
        <p:spPr>
          <a:xfrm>
            <a:off x="228600" y="566928"/>
            <a:ext cx="8686800" cy="64008"/>
          </a:xfrm>
          <a:prstGeom prst="rect">
            <a:avLst/>
          </a:prstGeom>
          <a:solidFill>
            <a:srgbClr val="F0C132"/>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p30"/>
          <p:cNvSpPr/>
          <p:nvPr/>
        </p:nvSpPr>
        <p:spPr>
          <a:xfrm>
            <a:off x="109728" y="4709160"/>
            <a:ext cx="320040" cy="32004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30"/>
          <p:cNvSpPr/>
          <p:nvPr/>
        </p:nvSpPr>
        <p:spPr>
          <a:xfrm>
            <a:off x="109728" y="4709160"/>
            <a:ext cx="32004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170" name="Google Shape;170;p30"/>
          <p:cNvSpPr/>
          <p:nvPr/>
        </p:nvSpPr>
        <p:spPr>
          <a:xfrm>
            <a:off x="457200" y="4754880"/>
            <a:ext cx="1371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000"/>
              <a:buFont typeface="Calibri"/>
              <a:buNone/>
            </a:pPr>
            <a:r>
              <a:rPr b="1" i="0" lang="en" sz="1000" u="none" cap="none" strike="noStrike">
                <a:solidFill>
                  <a:srgbClr val="006747"/>
                </a:solidFill>
                <a:latin typeface="Calibri"/>
                <a:ea typeface="Calibri"/>
                <a:cs typeface="Calibri"/>
                <a:sym typeface="Calibri"/>
              </a:rPr>
              <a:t>Clarkson university</a:t>
            </a:r>
            <a:endParaRPr b="0" i="0" sz="1000" u="none" cap="none" strike="noStrike">
              <a:solidFill>
                <a:schemeClr val="dk1"/>
              </a:solidFill>
              <a:latin typeface="Calibri"/>
              <a:ea typeface="Calibri"/>
              <a:cs typeface="Calibri"/>
              <a:sym typeface="Calibri"/>
            </a:endParaRPr>
          </a:p>
        </p:txBody>
      </p:sp>
      <p:sp>
        <p:nvSpPr>
          <p:cNvPr id="171" name="Google Shape;171;p30"/>
          <p:cNvSpPr/>
          <p:nvPr/>
        </p:nvSpPr>
        <p:spPr>
          <a:xfrm>
            <a:off x="73152" y="4754880"/>
            <a:ext cx="2286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1000"/>
              <a:buFont typeface="Calibri"/>
              <a:buNone/>
            </a:pPr>
            <a:r>
              <a:rPr b="0" i="0" lang="en" sz="1000" u="none" cap="none" strike="noStrike">
                <a:solidFill>
                  <a:srgbClr val="006747"/>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72" name="Google Shape;172;p30"/>
          <p:cNvSpPr/>
          <p:nvPr/>
        </p:nvSpPr>
        <p:spPr>
          <a:xfrm>
            <a:off x="274320" y="713232"/>
            <a:ext cx="859536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400"/>
              <a:buFont typeface="Calibri"/>
              <a:buNone/>
            </a:pPr>
            <a:r>
              <a:rPr b="1" i="0" lang="en" sz="1150" u="none" cap="none" strike="noStrike">
                <a:solidFill>
                  <a:srgbClr val="006747"/>
                </a:solidFill>
                <a:latin typeface="Calibri"/>
                <a:ea typeface="Calibri"/>
                <a:cs typeface="Calibri"/>
                <a:sym typeface="Calibri"/>
              </a:rPr>
              <a:t>Dataset Source: data.gov </a:t>
            </a:r>
            <a:r>
              <a:rPr lang="en" sz="1150" u="sng">
                <a:solidFill>
                  <a:schemeClr val="hlink"/>
                </a:solidFill>
                <a:hlinkClick r:id="rId3"/>
              </a:rPr>
              <a:t>Crime Data from 2020 to 2024 - Catalog</a:t>
            </a:r>
            <a:endParaRPr b="0" i="0" sz="1150" u="none" cap="none" strike="noStrike">
              <a:solidFill>
                <a:schemeClr val="dk1"/>
              </a:solidFill>
              <a:latin typeface="Calibri"/>
              <a:ea typeface="Calibri"/>
              <a:cs typeface="Calibri"/>
              <a:sym typeface="Calibri"/>
            </a:endParaRPr>
          </a:p>
        </p:txBody>
      </p:sp>
      <p:sp>
        <p:nvSpPr>
          <p:cNvPr id="173" name="Google Shape;173;p30"/>
          <p:cNvSpPr/>
          <p:nvPr/>
        </p:nvSpPr>
        <p:spPr>
          <a:xfrm>
            <a:off x="274320" y="1005840"/>
            <a:ext cx="2743200" cy="530352"/>
          </a:xfrm>
          <a:prstGeom prst="rect">
            <a:avLst/>
          </a:prstGeom>
          <a:solidFill>
            <a:srgbClr val="E8F5E9"/>
          </a:solidFill>
          <a:ln cap="flat" cmpd="sng" w="9525">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150" u="none" cap="none" strike="noStrike">
              <a:solidFill>
                <a:schemeClr val="dk1"/>
              </a:solidFill>
              <a:latin typeface="Calibri"/>
              <a:ea typeface="Calibri"/>
              <a:cs typeface="Calibri"/>
              <a:sym typeface="Calibri"/>
            </a:endParaRPr>
          </a:p>
        </p:txBody>
      </p:sp>
      <p:sp>
        <p:nvSpPr>
          <p:cNvPr id="174" name="Google Shape;174;p30"/>
          <p:cNvSpPr/>
          <p:nvPr/>
        </p:nvSpPr>
        <p:spPr>
          <a:xfrm>
            <a:off x="347472" y="1078992"/>
            <a:ext cx="141732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100"/>
              <a:buFont typeface="Calibri"/>
              <a:buNone/>
            </a:pPr>
            <a:r>
              <a:rPr b="1" i="0" lang="en" sz="1150" u="none" cap="none" strike="noStrike">
                <a:solidFill>
                  <a:srgbClr val="006747"/>
                </a:solidFill>
                <a:latin typeface="Calibri"/>
                <a:ea typeface="Calibri"/>
                <a:cs typeface="Calibri"/>
                <a:sym typeface="Calibri"/>
              </a:rPr>
              <a:t>Initial Records: </a:t>
            </a:r>
            <a:endParaRPr b="0" i="0" sz="1150" u="none" cap="none" strike="noStrike">
              <a:solidFill>
                <a:schemeClr val="dk1"/>
              </a:solidFill>
              <a:latin typeface="Calibri"/>
              <a:ea typeface="Calibri"/>
              <a:cs typeface="Calibri"/>
              <a:sym typeface="Calibri"/>
            </a:endParaRPr>
          </a:p>
        </p:txBody>
      </p:sp>
      <p:sp>
        <p:nvSpPr>
          <p:cNvPr id="175" name="Google Shape;175;p30"/>
          <p:cNvSpPr/>
          <p:nvPr/>
        </p:nvSpPr>
        <p:spPr>
          <a:xfrm>
            <a:off x="1645920" y="1078992"/>
            <a:ext cx="1280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00"/>
              <a:buFont typeface="Calibri"/>
              <a:buNone/>
            </a:pPr>
            <a:r>
              <a:rPr b="1" i="0" lang="en" sz="1150" u="none" cap="none" strike="noStrike">
                <a:solidFill>
                  <a:srgbClr val="1A1A1A"/>
                </a:solidFill>
                <a:latin typeface="Calibri"/>
                <a:ea typeface="Calibri"/>
                <a:cs typeface="Calibri"/>
                <a:sym typeface="Calibri"/>
              </a:rPr>
              <a:t>1,004,992</a:t>
            </a:r>
            <a:endParaRPr b="0" i="0" sz="1150" u="none" cap="none" strike="noStrike">
              <a:solidFill>
                <a:schemeClr val="dk1"/>
              </a:solidFill>
              <a:latin typeface="Calibri"/>
              <a:ea typeface="Calibri"/>
              <a:cs typeface="Calibri"/>
              <a:sym typeface="Calibri"/>
            </a:endParaRPr>
          </a:p>
        </p:txBody>
      </p:sp>
      <p:sp>
        <p:nvSpPr>
          <p:cNvPr id="176" name="Google Shape;176;p30"/>
          <p:cNvSpPr/>
          <p:nvPr/>
        </p:nvSpPr>
        <p:spPr>
          <a:xfrm>
            <a:off x="3154680" y="1005840"/>
            <a:ext cx="2743200" cy="530352"/>
          </a:xfrm>
          <a:prstGeom prst="rect">
            <a:avLst/>
          </a:prstGeom>
          <a:solidFill>
            <a:srgbClr val="E8F5E9"/>
          </a:solidFill>
          <a:ln cap="flat" cmpd="sng" w="9525">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150" u="none" cap="none" strike="noStrike">
              <a:solidFill>
                <a:schemeClr val="dk1"/>
              </a:solidFill>
              <a:latin typeface="Calibri"/>
              <a:ea typeface="Calibri"/>
              <a:cs typeface="Calibri"/>
              <a:sym typeface="Calibri"/>
            </a:endParaRPr>
          </a:p>
        </p:txBody>
      </p:sp>
      <p:sp>
        <p:nvSpPr>
          <p:cNvPr id="177" name="Google Shape;177;p30"/>
          <p:cNvSpPr/>
          <p:nvPr/>
        </p:nvSpPr>
        <p:spPr>
          <a:xfrm>
            <a:off x="3227832" y="1078992"/>
            <a:ext cx="141732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100"/>
              <a:buFont typeface="Calibri"/>
              <a:buNone/>
            </a:pPr>
            <a:r>
              <a:rPr b="1" i="0" lang="en" sz="1150" u="none" cap="none" strike="noStrike">
                <a:solidFill>
                  <a:srgbClr val="006747"/>
                </a:solidFill>
                <a:latin typeface="Calibri"/>
                <a:ea typeface="Calibri"/>
                <a:cs typeface="Calibri"/>
                <a:sym typeface="Calibri"/>
              </a:rPr>
              <a:t>After Cleaning: </a:t>
            </a:r>
            <a:endParaRPr b="0" i="0" sz="1150" u="none" cap="none" strike="noStrike">
              <a:solidFill>
                <a:schemeClr val="dk1"/>
              </a:solidFill>
              <a:latin typeface="Calibri"/>
              <a:ea typeface="Calibri"/>
              <a:cs typeface="Calibri"/>
              <a:sym typeface="Calibri"/>
            </a:endParaRPr>
          </a:p>
        </p:txBody>
      </p:sp>
      <p:sp>
        <p:nvSpPr>
          <p:cNvPr id="178" name="Google Shape;178;p30"/>
          <p:cNvSpPr/>
          <p:nvPr/>
        </p:nvSpPr>
        <p:spPr>
          <a:xfrm>
            <a:off x="4526280" y="1078992"/>
            <a:ext cx="1280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00"/>
              <a:buFont typeface="Calibri"/>
              <a:buNone/>
            </a:pPr>
            <a:r>
              <a:rPr b="1" i="0" lang="en" sz="1150" u="none" cap="none" strike="noStrike">
                <a:solidFill>
                  <a:srgbClr val="1A1A1A"/>
                </a:solidFill>
                <a:latin typeface="Calibri"/>
                <a:ea typeface="Calibri"/>
                <a:cs typeface="Calibri"/>
                <a:sym typeface="Calibri"/>
              </a:rPr>
              <a:t>733,886</a:t>
            </a:r>
            <a:endParaRPr b="0" i="0" sz="1150" u="none" cap="none" strike="noStrike">
              <a:solidFill>
                <a:schemeClr val="dk1"/>
              </a:solidFill>
              <a:latin typeface="Calibri"/>
              <a:ea typeface="Calibri"/>
              <a:cs typeface="Calibri"/>
              <a:sym typeface="Calibri"/>
            </a:endParaRPr>
          </a:p>
        </p:txBody>
      </p:sp>
      <p:sp>
        <p:nvSpPr>
          <p:cNvPr id="179" name="Google Shape;179;p30"/>
          <p:cNvSpPr/>
          <p:nvPr/>
        </p:nvSpPr>
        <p:spPr>
          <a:xfrm>
            <a:off x="6035040" y="1005840"/>
            <a:ext cx="2743200" cy="530352"/>
          </a:xfrm>
          <a:prstGeom prst="rect">
            <a:avLst/>
          </a:prstGeom>
          <a:solidFill>
            <a:srgbClr val="E8F5E9"/>
          </a:solidFill>
          <a:ln cap="flat" cmpd="sng" w="9525">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150" u="none" cap="none" strike="noStrike">
              <a:solidFill>
                <a:schemeClr val="dk1"/>
              </a:solidFill>
              <a:latin typeface="Calibri"/>
              <a:ea typeface="Calibri"/>
              <a:cs typeface="Calibri"/>
              <a:sym typeface="Calibri"/>
            </a:endParaRPr>
          </a:p>
        </p:txBody>
      </p:sp>
      <p:sp>
        <p:nvSpPr>
          <p:cNvPr id="180" name="Google Shape;180;p30"/>
          <p:cNvSpPr/>
          <p:nvPr/>
        </p:nvSpPr>
        <p:spPr>
          <a:xfrm>
            <a:off x="6108192" y="1078992"/>
            <a:ext cx="141732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100"/>
              <a:buFont typeface="Calibri"/>
              <a:buNone/>
            </a:pPr>
            <a:r>
              <a:rPr b="1" i="0" lang="en" sz="1150" u="none" cap="none" strike="noStrike">
                <a:solidFill>
                  <a:srgbClr val="006747"/>
                </a:solidFill>
                <a:latin typeface="Calibri"/>
                <a:ea typeface="Calibri"/>
                <a:cs typeface="Calibri"/>
                <a:sym typeface="Calibri"/>
              </a:rPr>
              <a:t>Initial Variables: </a:t>
            </a:r>
            <a:endParaRPr b="0" i="0" sz="1150" u="none" cap="none" strike="noStrike">
              <a:solidFill>
                <a:schemeClr val="dk1"/>
              </a:solidFill>
              <a:latin typeface="Calibri"/>
              <a:ea typeface="Calibri"/>
              <a:cs typeface="Calibri"/>
              <a:sym typeface="Calibri"/>
            </a:endParaRPr>
          </a:p>
        </p:txBody>
      </p:sp>
      <p:sp>
        <p:nvSpPr>
          <p:cNvPr id="181" name="Google Shape;181;p30"/>
          <p:cNvSpPr/>
          <p:nvPr/>
        </p:nvSpPr>
        <p:spPr>
          <a:xfrm>
            <a:off x="7406640" y="1078992"/>
            <a:ext cx="1280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00"/>
              <a:buFont typeface="Calibri"/>
              <a:buNone/>
            </a:pPr>
            <a:r>
              <a:rPr b="1" i="0" lang="en" sz="1150" u="none" cap="none" strike="noStrike">
                <a:solidFill>
                  <a:srgbClr val="1A1A1A"/>
                </a:solidFill>
                <a:latin typeface="Calibri"/>
                <a:ea typeface="Calibri"/>
                <a:cs typeface="Calibri"/>
                <a:sym typeface="Calibri"/>
              </a:rPr>
              <a:t>28</a:t>
            </a:r>
            <a:endParaRPr b="0" i="0" sz="1150" u="none" cap="none" strike="noStrike">
              <a:solidFill>
                <a:schemeClr val="dk1"/>
              </a:solidFill>
              <a:latin typeface="Calibri"/>
              <a:ea typeface="Calibri"/>
              <a:cs typeface="Calibri"/>
              <a:sym typeface="Calibri"/>
            </a:endParaRPr>
          </a:p>
        </p:txBody>
      </p:sp>
      <p:sp>
        <p:nvSpPr>
          <p:cNvPr id="182" name="Google Shape;182;p30"/>
          <p:cNvSpPr/>
          <p:nvPr/>
        </p:nvSpPr>
        <p:spPr>
          <a:xfrm>
            <a:off x="274320" y="1645920"/>
            <a:ext cx="2743200" cy="530352"/>
          </a:xfrm>
          <a:prstGeom prst="rect">
            <a:avLst/>
          </a:prstGeom>
          <a:solidFill>
            <a:srgbClr val="E8F5E9"/>
          </a:solidFill>
          <a:ln cap="flat" cmpd="sng" w="9525">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150" u="none" cap="none" strike="noStrike">
              <a:solidFill>
                <a:schemeClr val="dk1"/>
              </a:solidFill>
              <a:latin typeface="Calibri"/>
              <a:ea typeface="Calibri"/>
              <a:cs typeface="Calibri"/>
              <a:sym typeface="Calibri"/>
            </a:endParaRPr>
          </a:p>
        </p:txBody>
      </p:sp>
      <p:sp>
        <p:nvSpPr>
          <p:cNvPr id="183" name="Google Shape;183;p30"/>
          <p:cNvSpPr/>
          <p:nvPr/>
        </p:nvSpPr>
        <p:spPr>
          <a:xfrm>
            <a:off x="347472" y="1719072"/>
            <a:ext cx="141732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100"/>
              <a:buFont typeface="Calibri"/>
              <a:buNone/>
            </a:pPr>
            <a:r>
              <a:rPr b="1" i="0" lang="en" sz="1150" u="none" cap="none" strike="noStrike">
                <a:solidFill>
                  <a:srgbClr val="006747"/>
                </a:solidFill>
                <a:latin typeface="Calibri"/>
                <a:ea typeface="Calibri"/>
                <a:cs typeface="Calibri"/>
                <a:sym typeface="Calibri"/>
              </a:rPr>
              <a:t>Final Variables: </a:t>
            </a:r>
            <a:endParaRPr b="0" i="0" sz="1150" u="none" cap="none" strike="noStrike">
              <a:solidFill>
                <a:schemeClr val="dk1"/>
              </a:solidFill>
              <a:latin typeface="Calibri"/>
              <a:ea typeface="Calibri"/>
              <a:cs typeface="Calibri"/>
              <a:sym typeface="Calibri"/>
            </a:endParaRPr>
          </a:p>
        </p:txBody>
      </p:sp>
      <p:sp>
        <p:nvSpPr>
          <p:cNvPr id="184" name="Google Shape;184;p30"/>
          <p:cNvSpPr/>
          <p:nvPr/>
        </p:nvSpPr>
        <p:spPr>
          <a:xfrm>
            <a:off x="1645920" y="1719072"/>
            <a:ext cx="1280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00"/>
              <a:buFont typeface="Calibri"/>
              <a:buNone/>
            </a:pPr>
            <a:r>
              <a:rPr b="1" i="0" lang="en" sz="1150" u="none" cap="none" strike="noStrike">
                <a:solidFill>
                  <a:srgbClr val="1A1A1A"/>
                </a:solidFill>
                <a:latin typeface="Calibri"/>
                <a:ea typeface="Calibri"/>
                <a:cs typeface="Calibri"/>
                <a:sym typeface="Calibri"/>
              </a:rPr>
              <a:t>20</a:t>
            </a:r>
            <a:endParaRPr b="0" i="0" sz="1150" u="none" cap="none" strike="noStrike">
              <a:solidFill>
                <a:schemeClr val="dk1"/>
              </a:solidFill>
              <a:latin typeface="Calibri"/>
              <a:ea typeface="Calibri"/>
              <a:cs typeface="Calibri"/>
              <a:sym typeface="Calibri"/>
            </a:endParaRPr>
          </a:p>
        </p:txBody>
      </p:sp>
      <p:sp>
        <p:nvSpPr>
          <p:cNvPr id="185" name="Google Shape;185;p30"/>
          <p:cNvSpPr/>
          <p:nvPr/>
        </p:nvSpPr>
        <p:spPr>
          <a:xfrm>
            <a:off x="3154680" y="1645920"/>
            <a:ext cx="2743200" cy="530352"/>
          </a:xfrm>
          <a:prstGeom prst="rect">
            <a:avLst/>
          </a:prstGeom>
          <a:solidFill>
            <a:srgbClr val="E8F5E9"/>
          </a:solidFill>
          <a:ln cap="flat" cmpd="sng" w="9525">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150" u="none" cap="none" strike="noStrike">
              <a:solidFill>
                <a:schemeClr val="dk1"/>
              </a:solidFill>
              <a:latin typeface="Calibri"/>
              <a:ea typeface="Calibri"/>
              <a:cs typeface="Calibri"/>
              <a:sym typeface="Calibri"/>
            </a:endParaRPr>
          </a:p>
        </p:txBody>
      </p:sp>
      <p:sp>
        <p:nvSpPr>
          <p:cNvPr id="186" name="Google Shape;186;p30"/>
          <p:cNvSpPr/>
          <p:nvPr/>
        </p:nvSpPr>
        <p:spPr>
          <a:xfrm>
            <a:off x="3227832" y="1719072"/>
            <a:ext cx="141732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100"/>
              <a:buFont typeface="Calibri"/>
              <a:buNone/>
            </a:pPr>
            <a:r>
              <a:rPr b="1" i="0" lang="en" sz="1150" u="none" cap="none" strike="noStrike">
                <a:solidFill>
                  <a:srgbClr val="006747"/>
                </a:solidFill>
                <a:latin typeface="Calibri"/>
                <a:ea typeface="Calibri"/>
                <a:cs typeface="Calibri"/>
                <a:sym typeface="Calibri"/>
              </a:rPr>
              <a:t>Target Variable: </a:t>
            </a:r>
            <a:endParaRPr b="0" i="0" sz="1150" u="none" cap="none" strike="noStrike">
              <a:solidFill>
                <a:schemeClr val="dk1"/>
              </a:solidFill>
              <a:latin typeface="Calibri"/>
              <a:ea typeface="Calibri"/>
              <a:cs typeface="Calibri"/>
              <a:sym typeface="Calibri"/>
            </a:endParaRPr>
          </a:p>
        </p:txBody>
      </p:sp>
      <p:sp>
        <p:nvSpPr>
          <p:cNvPr id="187" name="Google Shape;187;p30"/>
          <p:cNvSpPr/>
          <p:nvPr/>
        </p:nvSpPr>
        <p:spPr>
          <a:xfrm>
            <a:off x="4526280" y="1719072"/>
            <a:ext cx="1280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00"/>
              <a:buFont typeface="Calibri"/>
              <a:buNone/>
            </a:pPr>
            <a:r>
              <a:rPr b="1" i="0" lang="en" sz="1150" u="none" cap="none" strike="noStrike">
                <a:solidFill>
                  <a:srgbClr val="1A1A1A"/>
                </a:solidFill>
                <a:latin typeface="Calibri"/>
                <a:ea typeface="Calibri"/>
                <a:cs typeface="Calibri"/>
                <a:sym typeface="Calibri"/>
              </a:rPr>
              <a:t>Type of crime</a:t>
            </a:r>
            <a:endParaRPr b="0" i="0" sz="1150" u="none" cap="none" strike="noStrike">
              <a:solidFill>
                <a:schemeClr val="dk1"/>
              </a:solidFill>
              <a:latin typeface="Calibri"/>
              <a:ea typeface="Calibri"/>
              <a:cs typeface="Calibri"/>
              <a:sym typeface="Calibri"/>
            </a:endParaRPr>
          </a:p>
        </p:txBody>
      </p:sp>
      <p:sp>
        <p:nvSpPr>
          <p:cNvPr id="188" name="Google Shape;188;p30"/>
          <p:cNvSpPr/>
          <p:nvPr/>
        </p:nvSpPr>
        <p:spPr>
          <a:xfrm>
            <a:off x="6035040" y="1645920"/>
            <a:ext cx="2743200" cy="530352"/>
          </a:xfrm>
          <a:prstGeom prst="rect">
            <a:avLst/>
          </a:prstGeom>
          <a:solidFill>
            <a:srgbClr val="E8F5E9"/>
          </a:solidFill>
          <a:ln cap="flat" cmpd="sng" w="9525">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150" u="none" cap="none" strike="noStrike">
              <a:solidFill>
                <a:schemeClr val="dk1"/>
              </a:solidFill>
              <a:latin typeface="Calibri"/>
              <a:ea typeface="Calibri"/>
              <a:cs typeface="Calibri"/>
              <a:sym typeface="Calibri"/>
            </a:endParaRPr>
          </a:p>
        </p:txBody>
      </p:sp>
      <p:sp>
        <p:nvSpPr>
          <p:cNvPr id="189" name="Google Shape;189;p30"/>
          <p:cNvSpPr/>
          <p:nvPr/>
        </p:nvSpPr>
        <p:spPr>
          <a:xfrm>
            <a:off x="6108192" y="1719072"/>
            <a:ext cx="141732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100"/>
              <a:buFont typeface="Calibri"/>
              <a:buNone/>
            </a:pPr>
            <a:r>
              <a:rPr b="1" i="0" lang="en" sz="1150" u="none" cap="none" strike="noStrike">
                <a:solidFill>
                  <a:srgbClr val="006747"/>
                </a:solidFill>
                <a:latin typeface="Calibri"/>
                <a:ea typeface="Calibri"/>
                <a:cs typeface="Calibri"/>
                <a:sym typeface="Calibri"/>
              </a:rPr>
              <a:t>LA Population: </a:t>
            </a:r>
            <a:endParaRPr b="0" i="0" sz="1150" u="none" cap="none" strike="noStrike">
              <a:solidFill>
                <a:schemeClr val="dk1"/>
              </a:solidFill>
              <a:latin typeface="Calibri"/>
              <a:ea typeface="Calibri"/>
              <a:cs typeface="Calibri"/>
              <a:sym typeface="Calibri"/>
            </a:endParaRPr>
          </a:p>
        </p:txBody>
      </p:sp>
      <p:sp>
        <p:nvSpPr>
          <p:cNvPr id="190" name="Google Shape;190;p30"/>
          <p:cNvSpPr/>
          <p:nvPr/>
        </p:nvSpPr>
        <p:spPr>
          <a:xfrm>
            <a:off x="7406640" y="1719072"/>
            <a:ext cx="1280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00"/>
              <a:buFont typeface="Calibri"/>
              <a:buNone/>
            </a:pPr>
            <a:r>
              <a:rPr b="1" i="0" lang="en" sz="1150" u="none" cap="none" strike="noStrike">
                <a:solidFill>
                  <a:srgbClr val="1A1A1A"/>
                </a:solidFill>
                <a:latin typeface="Calibri"/>
                <a:ea typeface="Calibri"/>
                <a:cs typeface="Calibri"/>
                <a:sym typeface="Calibri"/>
              </a:rPr>
              <a:t>3.86 million</a:t>
            </a:r>
            <a:endParaRPr b="0" i="0" sz="1150" u="none" cap="none" strike="noStrike">
              <a:solidFill>
                <a:schemeClr val="dk1"/>
              </a:solidFill>
              <a:latin typeface="Calibri"/>
              <a:ea typeface="Calibri"/>
              <a:cs typeface="Calibri"/>
              <a:sym typeface="Calibri"/>
            </a:endParaRPr>
          </a:p>
        </p:txBody>
      </p:sp>
      <p:sp>
        <p:nvSpPr>
          <p:cNvPr id="191" name="Google Shape;191;p30"/>
          <p:cNvSpPr/>
          <p:nvPr/>
        </p:nvSpPr>
        <p:spPr>
          <a:xfrm>
            <a:off x="274320" y="2377440"/>
            <a:ext cx="4114800" cy="292608"/>
          </a:xfrm>
          <a:prstGeom prst="rect">
            <a:avLst/>
          </a:prstGeom>
          <a:solidFill>
            <a:srgbClr val="00674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400"/>
              <a:buFont typeface="Calibri"/>
              <a:buNone/>
            </a:pPr>
            <a:r>
              <a:rPr b="1" i="0" lang="en" sz="1150" u="none" cap="none" strike="noStrike">
                <a:solidFill>
                  <a:schemeClr val="lt1"/>
                </a:solidFill>
                <a:latin typeface="Calibri"/>
                <a:ea typeface="Calibri"/>
                <a:cs typeface="Calibri"/>
                <a:sym typeface="Calibri"/>
              </a:rPr>
              <a:t>Objective</a:t>
            </a:r>
            <a:endParaRPr b="0" i="0" sz="1150" u="none" cap="none" strike="noStrike">
              <a:solidFill>
                <a:schemeClr val="lt1"/>
              </a:solidFill>
              <a:latin typeface="Calibri"/>
              <a:ea typeface="Calibri"/>
              <a:cs typeface="Calibri"/>
              <a:sym typeface="Calibri"/>
            </a:endParaRPr>
          </a:p>
        </p:txBody>
      </p:sp>
      <p:sp>
        <p:nvSpPr>
          <p:cNvPr id="192" name="Google Shape;192;p30"/>
          <p:cNvSpPr/>
          <p:nvPr/>
        </p:nvSpPr>
        <p:spPr>
          <a:xfrm>
            <a:off x="274320" y="2670048"/>
            <a:ext cx="4114800" cy="502920"/>
          </a:xfrm>
          <a:prstGeom prst="rect">
            <a:avLst/>
          </a:prstGeom>
          <a:solidFill>
            <a:srgbClr val="E8F5E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00"/>
              <a:buFont typeface="Calibri"/>
              <a:buNone/>
            </a:pPr>
            <a:r>
              <a:rPr b="0" i="0" lang="en" sz="1150" u="none" cap="none" strike="noStrike">
                <a:solidFill>
                  <a:srgbClr val="1A1A1A"/>
                </a:solidFill>
                <a:latin typeface="Calibri"/>
                <a:ea typeface="Calibri"/>
                <a:cs typeface="Calibri"/>
                <a:sym typeface="Calibri"/>
              </a:rPr>
              <a:t>Develop a model that predicts type of  crime based on victim characteristics, location, and time of occurrence.</a:t>
            </a:r>
            <a:endParaRPr b="0" i="0" sz="1150" u="none" cap="none" strike="noStrike">
              <a:solidFill>
                <a:schemeClr val="dk1"/>
              </a:solidFill>
              <a:latin typeface="Calibri"/>
              <a:ea typeface="Calibri"/>
              <a:cs typeface="Calibri"/>
              <a:sym typeface="Calibri"/>
            </a:endParaRPr>
          </a:p>
        </p:txBody>
      </p:sp>
      <p:sp>
        <p:nvSpPr>
          <p:cNvPr id="193" name="Google Shape;193;p30"/>
          <p:cNvSpPr/>
          <p:nvPr/>
        </p:nvSpPr>
        <p:spPr>
          <a:xfrm>
            <a:off x="274320" y="3273552"/>
            <a:ext cx="4114800" cy="292608"/>
          </a:xfrm>
          <a:prstGeom prst="rect">
            <a:avLst/>
          </a:prstGeom>
          <a:solidFill>
            <a:srgbClr val="00674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400"/>
              <a:buFont typeface="Calibri"/>
              <a:buNone/>
            </a:pPr>
            <a:r>
              <a:rPr b="1" i="0" lang="en" sz="1150" u="none" cap="none" strike="noStrike">
                <a:solidFill>
                  <a:schemeClr val="lt1"/>
                </a:solidFill>
                <a:latin typeface="Calibri"/>
                <a:ea typeface="Calibri"/>
                <a:cs typeface="Calibri"/>
                <a:sym typeface="Calibri"/>
              </a:rPr>
              <a:t>Research Question</a:t>
            </a:r>
            <a:endParaRPr b="0" i="0" sz="1150" u="none" cap="none" strike="noStrike">
              <a:solidFill>
                <a:schemeClr val="lt1"/>
              </a:solidFill>
              <a:latin typeface="Calibri"/>
              <a:ea typeface="Calibri"/>
              <a:cs typeface="Calibri"/>
              <a:sym typeface="Calibri"/>
            </a:endParaRPr>
          </a:p>
        </p:txBody>
      </p:sp>
      <p:sp>
        <p:nvSpPr>
          <p:cNvPr id="194" name="Google Shape;194;p30"/>
          <p:cNvSpPr/>
          <p:nvPr/>
        </p:nvSpPr>
        <p:spPr>
          <a:xfrm>
            <a:off x="274320" y="3566160"/>
            <a:ext cx="4114800" cy="411480"/>
          </a:xfrm>
          <a:prstGeom prst="rect">
            <a:avLst/>
          </a:prstGeom>
          <a:solidFill>
            <a:srgbClr val="E8F5E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00"/>
              <a:buFont typeface="Calibri"/>
              <a:buNone/>
            </a:pPr>
            <a:r>
              <a:rPr b="0" i="0" lang="en" sz="1150" u="none" cap="none" strike="noStrike">
                <a:solidFill>
                  <a:srgbClr val="1A1A1A"/>
                </a:solidFill>
                <a:latin typeface="Calibri"/>
                <a:ea typeface="Calibri"/>
                <a:cs typeface="Calibri"/>
                <a:sym typeface="Calibri"/>
              </a:rPr>
              <a:t>To what extent can victim characteristics, location, and time predict the type of crime?</a:t>
            </a:r>
            <a:endParaRPr b="0" i="0" sz="1150" u="none" cap="none" strike="noStrike">
              <a:solidFill>
                <a:schemeClr val="dk1"/>
              </a:solidFill>
              <a:latin typeface="Calibri"/>
              <a:ea typeface="Calibri"/>
              <a:cs typeface="Calibri"/>
              <a:sym typeface="Calibri"/>
            </a:endParaRPr>
          </a:p>
        </p:txBody>
      </p:sp>
      <p:sp>
        <p:nvSpPr>
          <p:cNvPr id="195" name="Google Shape;195;p30"/>
          <p:cNvSpPr/>
          <p:nvPr/>
        </p:nvSpPr>
        <p:spPr>
          <a:xfrm>
            <a:off x="4572000" y="2377440"/>
            <a:ext cx="4297680" cy="292608"/>
          </a:xfrm>
          <a:prstGeom prst="rect">
            <a:avLst/>
          </a:prstGeom>
          <a:solidFill>
            <a:srgbClr val="00674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400"/>
              <a:buFont typeface="Calibri"/>
              <a:buNone/>
            </a:pPr>
            <a:r>
              <a:rPr b="1" i="0" lang="en" sz="1150" u="none" cap="none" strike="noStrike">
                <a:solidFill>
                  <a:schemeClr val="lt1"/>
                </a:solidFill>
                <a:latin typeface="Calibri"/>
                <a:ea typeface="Calibri"/>
                <a:cs typeface="Calibri"/>
                <a:sym typeface="Calibri"/>
              </a:rPr>
              <a:t>Hypothesis (H₀)</a:t>
            </a:r>
            <a:endParaRPr b="0" i="0" sz="1150" u="none" cap="none" strike="noStrike">
              <a:solidFill>
                <a:schemeClr val="lt1"/>
              </a:solidFill>
              <a:latin typeface="Calibri"/>
              <a:ea typeface="Calibri"/>
              <a:cs typeface="Calibri"/>
              <a:sym typeface="Calibri"/>
            </a:endParaRPr>
          </a:p>
        </p:txBody>
      </p:sp>
      <p:sp>
        <p:nvSpPr>
          <p:cNvPr id="196" name="Google Shape;196;p30"/>
          <p:cNvSpPr/>
          <p:nvPr/>
        </p:nvSpPr>
        <p:spPr>
          <a:xfrm>
            <a:off x="4572000" y="2670048"/>
            <a:ext cx="4297680" cy="502920"/>
          </a:xfrm>
          <a:prstGeom prst="rect">
            <a:avLst/>
          </a:prstGeom>
          <a:solidFill>
            <a:srgbClr val="E8F5E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00"/>
              <a:buFont typeface="Calibri"/>
              <a:buNone/>
            </a:pPr>
            <a:r>
              <a:rPr b="0" i="0" lang="en" sz="1150" u="none" cap="none" strike="noStrike">
                <a:solidFill>
                  <a:srgbClr val="1A1A1A"/>
                </a:solidFill>
                <a:latin typeface="Calibri"/>
                <a:ea typeface="Calibri"/>
                <a:cs typeface="Calibri"/>
                <a:sym typeface="Calibri"/>
              </a:rPr>
              <a:t>Victim characteristics, location, and time of occurrence do not significantly predict the type of crime.</a:t>
            </a:r>
            <a:endParaRPr b="0" i="0" sz="1150" u="none" cap="none" strike="noStrike">
              <a:solidFill>
                <a:schemeClr val="dk1"/>
              </a:solidFill>
              <a:latin typeface="Calibri"/>
              <a:ea typeface="Calibri"/>
              <a:cs typeface="Calibri"/>
              <a:sym typeface="Calibri"/>
            </a:endParaRPr>
          </a:p>
        </p:txBody>
      </p:sp>
      <p:sp>
        <p:nvSpPr>
          <p:cNvPr id="197" name="Google Shape;197;p30"/>
          <p:cNvSpPr/>
          <p:nvPr/>
        </p:nvSpPr>
        <p:spPr>
          <a:xfrm>
            <a:off x="4572000" y="3273552"/>
            <a:ext cx="4297680" cy="292608"/>
          </a:xfrm>
          <a:prstGeom prst="rect">
            <a:avLst/>
          </a:prstGeom>
          <a:solidFill>
            <a:srgbClr val="006747"/>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400"/>
              <a:buFont typeface="Calibri"/>
              <a:buNone/>
            </a:pPr>
            <a:r>
              <a:rPr b="1" i="0" lang="en" sz="1150" u="none" cap="none" strike="noStrike">
                <a:solidFill>
                  <a:schemeClr val="lt1"/>
                </a:solidFill>
                <a:latin typeface="Calibri"/>
                <a:ea typeface="Calibri"/>
                <a:cs typeface="Calibri"/>
                <a:sym typeface="Calibri"/>
              </a:rPr>
              <a:t>Aims</a:t>
            </a:r>
            <a:endParaRPr b="0" i="0" sz="1150" u="none" cap="none" strike="noStrike">
              <a:solidFill>
                <a:schemeClr val="lt1"/>
              </a:solidFill>
              <a:latin typeface="Calibri"/>
              <a:ea typeface="Calibri"/>
              <a:cs typeface="Calibri"/>
              <a:sym typeface="Calibri"/>
            </a:endParaRPr>
          </a:p>
        </p:txBody>
      </p:sp>
      <p:sp>
        <p:nvSpPr>
          <p:cNvPr id="198" name="Google Shape;198;p30"/>
          <p:cNvSpPr/>
          <p:nvPr/>
        </p:nvSpPr>
        <p:spPr>
          <a:xfrm>
            <a:off x="4572000" y="3547875"/>
            <a:ext cx="4297800" cy="1092900"/>
          </a:xfrm>
          <a:prstGeom prst="rect">
            <a:avLst/>
          </a:prstGeom>
          <a:solidFill>
            <a:srgbClr val="E8F5E9"/>
          </a:solidFill>
          <a:ln>
            <a:noFill/>
          </a:ln>
        </p:spPr>
        <p:txBody>
          <a:bodyPr anchorCtr="0" anchor="t" bIns="45700" lIns="91425" spcFirstLastPara="1" rIns="91425" wrap="square" tIns="45700">
            <a:noAutofit/>
          </a:bodyPr>
          <a:lstStyle/>
          <a:p>
            <a:pPr indent="-349250" lvl="0" marL="342900" marR="0" rtl="0" algn="l">
              <a:lnSpc>
                <a:spcPct val="100000"/>
              </a:lnSpc>
              <a:spcBef>
                <a:spcPts val="0"/>
              </a:spcBef>
              <a:spcAft>
                <a:spcPts val="0"/>
              </a:spcAft>
              <a:buClr>
                <a:srgbClr val="1A1A1A"/>
              </a:buClr>
              <a:buSzPts val="1150"/>
              <a:buFont typeface="Calibri"/>
              <a:buChar char="•"/>
            </a:pPr>
            <a:r>
              <a:rPr b="0" i="0" lang="en" sz="1150" u="none" cap="none" strike="noStrike">
                <a:solidFill>
                  <a:srgbClr val="1A1A1A"/>
                </a:solidFill>
                <a:latin typeface="Calibri"/>
                <a:ea typeface="Calibri"/>
                <a:cs typeface="Calibri"/>
                <a:sym typeface="Calibri"/>
              </a:rPr>
              <a:t>Explore and analyze the distribution and patterns of crime type.</a:t>
            </a:r>
            <a:endParaRPr b="0" i="0" sz="1150" u="none" cap="none" strike="noStrike">
              <a:solidFill>
                <a:schemeClr val="dk1"/>
              </a:solidFill>
              <a:latin typeface="Calibri"/>
              <a:ea typeface="Calibri"/>
              <a:cs typeface="Calibri"/>
              <a:sym typeface="Calibri"/>
            </a:endParaRPr>
          </a:p>
          <a:p>
            <a:pPr indent="-349250" lvl="0" marL="342900" marR="0" rtl="0" algn="l">
              <a:lnSpc>
                <a:spcPct val="100000"/>
              </a:lnSpc>
              <a:spcBef>
                <a:spcPts val="0"/>
              </a:spcBef>
              <a:spcAft>
                <a:spcPts val="0"/>
              </a:spcAft>
              <a:buClr>
                <a:srgbClr val="1A1A1A"/>
              </a:buClr>
              <a:buSzPts val="1150"/>
              <a:buFont typeface="Calibri"/>
              <a:buChar char="•"/>
            </a:pPr>
            <a:r>
              <a:rPr b="0" i="0" lang="en" sz="1150" u="none" cap="none" strike="noStrike">
                <a:solidFill>
                  <a:srgbClr val="1A1A1A"/>
                </a:solidFill>
                <a:latin typeface="Calibri"/>
                <a:ea typeface="Calibri"/>
                <a:cs typeface="Calibri"/>
                <a:sym typeface="Calibri"/>
              </a:rPr>
              <a:t>Examine the influence of victim characteristics, location, and time on crime type.</a:t>
            </a:r>
            <a:endParaRPr b="0" i="0" sz="1150" u="none" cap="none" strike="noStrike">
              <a:solidFill>
                <a:schemeClr val="dk1"/>
              </a:solidFill>
              <a:latin typeface="Calibri"/>
              <a:ea typeface="Calibri"/>
              <a:cs typeface="Calibri"/>
              <a:sym typeface="Calibri"/>
            </a:endParaRPr>
          </a:p>
          <a:p>
            <a:pPr indent="-349250" lvl="0" marL="342900" marR="0" rtl="0" algn="l">
              <a:lnSpc>
                <a:spcPct val="100000"/>
              </a:lnSpc>
              <a:spcBef>
                <a:spcPts val="0"/>
              </a:spcBef>
              <a:spcAft>
                <a:spcPts val="0"/>
              </a:spcAft>
              <a:buClr>
                <a:srgbClr val="1A1A1A"/>
              </a:buClr>
              <a:buSzPts val="1150"/>
              <a:buFont typeface="Calibri"/>
              <a:buChar char="•"/>
            </a:pPr>
            <a:r>
              <a:rPr b="0" i="0" lang="en" sz="1150" u="none" cap="none" strike="noStrike">
                <a:solidFill>
                  <a:srgbClr val="1A1A1A"/>
                </a:solidFill>
                <a:latin typeface="Calibri"/>
                <a:ea typeface="Calibri"/>
                <a:cs typeface="Calibri"/>
                <a:sym typeface="Calibri"/>
              </a:rPr>
              <a:t>Support data-driven decision-making for law enforcement.</a:t>
            </a:r>
            <a:endParaRPr b="0" i="0" sz="1150" u="none" cap="none" strike="noStrike">
              <a:solidFill>
                <a:schemeClr val="dk1"/>
              </a:solidFill>
              <a:latin typeface="Calibri"/>
              <a:ea typeface="Calibri"/>
              <a:cs typeface="Calibri"/>
              <a:sym typeface="Calibri"/>
            </a:endParaRPr>
          </a:p>
          <a:p>
            <a:pPr indent="-349250" lvl="0" marL="342900" marR="0" rtl="0" algn="l">
              <a:lnSpc>
                <a:spcPct val="100000"/>
              </a:lnSpc>
              <a:spcBef>
                <a:spcPts val="0"/>
              </a:spcBef>
              <a:spcAft>
                <a:spcPts val="0"/>
              </a:spcAft>
              <a:buClr>
                <a:srgbClr val="1A1A1A"/>
              </a:buClr>
              <a:buSzPts val="1150"/>
              <a:buFont typeface="Calibri"/>
              <a:buChar char="•"/>
            </a:pPr>
            <a:r>
              <a:rPr b="0" i="0" lang="en" sz="1150" u="none" cap="none" strike="noStrike">
                <a:solidFill>
                  <a:srgbClr val="1A1A1A"/>
                </a:solidFill>
                <a:latin typeface="Calibri"/>
                <a:ea typeface="Calibri"/>
                <a:cs typeface="Calibri"/>
                <a:sym typeface="Calibri"/>
              </a:rPr>
              <a:t>Evaluate model performance using accuracy, precision, recall, AUC-ROC.</a:t>
            </a:r>
            <a:endParaRPr b="0" i="0" sz="1150" u="none" cap="none" strike="noStrike">
              <a:solidFill>
                <a:schemeClr val="dk1"/>
              </a:solidFill>
              <a:latin typeface="Calibri"/>
              <a:ea typeface="Calibri"/>
              <a:cs typeface="Calibri"/>
              <a:sym typeface="Calibri"/>
            </a:endParaRPr>
          </a:p>
        </p:txBody>
      </p:sp>
      <p:sp>
        <p:nvSpPr>
          <p:cNvPr id="199" name="Google Shape;199;p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31"/>
          <p:cNvSpPr/>
          <p:nvPr/>
        </p:nvSpPr>
        <p:spPr>
          <a:xfrm>
            <a:off x="228600" y="73152"/>
            <a:ext cx="868680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2400"/>
              <a:buFont typeface="Calibri"/>
              <a:buNone/>
            </a:pPr>
            <a:r>
              <a:rPr b="1" lang="en" sz="2400">
                <a:solidFill>
                  <a:srgbClr val="006747"/>
                </a:solidFill>
                <a:latin typeface="Calibri"/>
                <a:ea typeface="Calibri"/>
                <a:cs typeface="Calibri"/>
                <a:sym typeface="Calibri"/>
              </a:rPr>
              <a:t>  </a:t>
            </a:r>
            <a:r>
              <a:rPr b="1" lang="en" sz="2400">
                <a:solidFill>
                  <a:srgbClr val="006747"/>
                </a:solidFill>
                <a:latin typeface="Calibri"/>
                <a:ea typeface="Calibri"/>
                <a:cs typeface="Calibri"/>
                <a:sym typeface="Calibri"/>
              </a:rPr>
              <a:t>Methodology and</a:t>
            </a:r>
            <a:r>
              <a:rPr b="1" lang="en" sz="2400">
                <a:solidFill>
                  <a:srgbClr val="006747"/>
                </a:solidFill>
                <a:latin typeface="Calibri"/>
                <a:ea typeface="Calibri"/>
                <a:cs typeface="Calibri"/>
                <a:sym typeface="Calibri"/>
              </a:rPr>
              <a:t>  </a:t>
            </a:r>
            <a:r>
              <a:rPr b="1" i="0" lang="en" sz="2400" u="none" cap="none" strike="noStrike">
                <a:solidFill>
                  <a:srgbClr val="006747"/>
                </a:solidFill>
                <a:latin typeface="Calibri"/>
                <a:ea typeface="Calibri"/>
                <a:cs typeface="Calibri"/>
                <a:sym typeface="Calibri"/>
              </a:rPr>
              <a:t>Dataset Variable Description                                  </a:t>
            </a:r>
            <a:endParaRPr b="0" i="0" sz="2400" u="none" cap="none" strike="noStrike">
              <a:solidFill>
                <a:schemeClr val="dk1"/>
              </a:solidFill>
              <a:latin typeface="Calibri"/>
              <a:ea typeface="Calibri"/>
              <a:cs typeface="Calibri"/>
              <a:sym typeface="Calibri"/>
            </a:endParaRPr>
          </a:p>
        </p:txBody>
      </p:sp>
      <p:sp>
        <p:nvSpPr>
          <p:cNvPr id="206" name="Google Shape;206;p31"/>
          <p:cNvSpPr/>
          <p:nvPr/>
        </p:nvSpPr>
        <p:spPr>
          <a:xfrm>
            <a:off x="228600" y="566928"/>
            <a:ext cx="8686800" cy="64008"/>
          </a:xfrm>
          <a:prstGeom prst="rect">
            <a:avLst/>
          </a:prstGeom>
          <a:solidFill>
            <a:srgbClr val="F0C132"/>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31"/>
          <p:cNvSpPr/>
          <p:nvPr/>
        </p:nvSpPr>
        <p:spPr>
          <a:xfrm>
            <a:off x="109728" y="4709160"/>
            <a:ext cx="320040" cy="32004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31"/>
          <p:cNvSpPr/>
          <p:nvPr/>
        </p:nvSpPr>
        <p:spPr>
          <a:xfrm>
            <a:off x="109728" y="4709160"/>
            <a:ext cx="32004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209" name="Google Shape;209;p31"/>
          <p:cNvSpPr/>
          <p:nvPr/>
        </p:nvSpPr>
        <p:spPr>
          <a:xfrm>
            <a:off x="457200" y="4754880"/>
            <a:ext cx="1371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000"/>
              <a:buFont typeface="Calibri"/>
              <a:buNone/>
            </a:pPr>
            <a:r>
              <a:rPr b="1" i="0" lang="en" sz="1000" u="none" cap="none" strike="noStrike">
                <a:solidFill>
                  <a:srgbClr val="006747"/>
                </a:solidFill>
                <a:latin typeface="Calibri"/>
                <a:ea typeface="Calibri"/>
                <a:cs typeface="Calibri"/>
                <a:sym typeface="Calibri"/>
              </a:rPr>
              <a:t>Clarkson university</a:t>
            </a:r>
            <a:endParaRPr b="0" i="0" sz="1000" u="none" cap="none" strike="noStrike">
              <a:solidFill>
                <a:schemeClr val="dk1"/>
              </a:solidFill>
              <a:latin typeface="Calibri"/>
              <a:ea typeface="Calibri"/>
              <a:cs typeface="Calibri"/>
              <a:sym typeface="Calibri"/>
            </a:endParaRPr>
          </a:p>
        </p:txBody>
      </p:sp>
      <p:sp>
        <p:nvSpPr>
          <p:cNvPr id="210" name="Google Shape;210;p31"/>
          <p:cNvSpPr/>
          <p:nvPr/>
        </p:nvSpPr>
        <p:spPr>
          <a:xfrm>
            <a:off x="73152" y="4754880"/>
            <a:ext cx="2286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1000"/>
              <a:buFont typeface="Calibri"/>
              <a:buNone/>
            </a:pPr>
            <a:r>
              <a:rPr b="0" i="0" lang="en" sz="1000" u="none" cap="none" strike="noStrike">
                <a:solidFill>
                  <a:srgbClr val="006747"/>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211" name="Google Shape;211;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cxnSp>
        <p:nvCxnSpPr>
          <p:cNvPr id="212" name="Google Shape;212;p31"/>
          <p:cNvCxnSpPr/>
          <p:nvPr/>
        </p:nvCxnSpPr>
        <p:spPr>
          <a:xfrm>
            <a:off x="3880303" y="1104138"/>
            <a:ext cx="0" cy="36576"/>
          </a:xfrm>
          <a:prstGeom prst="straightConnector1">
            <a:avLst/>
          </a:prstGeom>
          <a:noFill/>
          <a:ln cap="flat" cmpd="sng" w="12700">
            <a:solidFill>
              <a:srgbClr val="666666"/>
            </a:solidFill>
            <a:prstDash val="solid"/>
            <a:round/>
            <a:headEnd len="sm" w="sm" type="none"/>
            <a:tailEnd len="sm" w="sm" type="none"/>
          </a:ln>
        </p:spPr>
      </p:cxnSp>
      <p:cxnSp>
        <p:nvCxnSpPr>
          <p:cNvPr id="213" name="Google Shape;213;p31"/>
          <p:cNvCxnSpPr/>
          <p:nvPr/>
        </p:nvCxnSpPr>
        <p:spPr>
          <a:xfrm>
            <a:off x="3125923" y="1424178"/>
            <a:ext cx="0" cy="0"/>
          </a:xfrm>
          <a:prstGeom prst="straightConnector1">
            <a:avLst/>
          </a:prstGeom>
          <a:noFill/>
          <a:ln cap="flat" cmpd="sng" w="9525">
            <a:solidFill>
              <a:srgbClr val="AAAAAA"/>
            </a:solidFill>
            <a:prstDash val="dash"/>
            <a:round/>
            <a:headEnd len="sm" w="sm" type="none"/>
            <a:tailEnd len="sm" w="sm" type="none"/>
          </a:ln>
        </p:spPr>
      </p:cxnSp>
      <p:pic>
        <p:nvPicPr>
          <p:cNvPr id="214" name="Google Shape;214;p31"/>
          <p:cNvPicPr preferRelativeResize="0"/>
          <p:nvPr/>
        </p:nvPicPr>
        <p:blipFill>
          <a:blip r:embed="rId3">
            <a:alphaModFix/>
          </a:blip>
          <a:stretch>
            <a:fillRect/>
          </a:stretch>
        </p:blipFill>
        <p:spPr>
          <a:xfrm>
            <a:off x="1718403" y="697200"/>
            <a:ext cx="6635948" cy="40576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32"/>
          <p:cNvSpPr/>
          <p:nvPr/>
        </p:nvSpPr>
        <p:spPr>
          <a:xfrm>
            <a:off x="228600" y="73152"/>
            <a:ext cx="8686800" cy="475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2400"/>
              <a:buFont typeface="Calibri"/>
              <a:buNone/>
            </a:pPr>
            <a:r>
              <a:rPr b="1" lang="en" sz="2400">
                <a:solidFill>
                  <a:srgbClr val="006747"/>
                </a:solidFill>
                <a:latin typeface="Calibri"/>
                <a:ea typeface="Calibri"/>
                <a:cs typeface="Calibri"/>
                <a:sym typeface="Calibri"/>
              </a:rPr>
              <a:t>  Methodology and  </a:t>
            </a:r>
            <a:r>
              <a:rPr b="1" i="0" lang="en" sz="2400" u="none" cap="none" strike="noStrike">
                <a:solidFill>
                  <a:srgbClr val="006747"/>
                </a:solidFill>
                <a:latin typeface="Calibri"/>
                <a:ea typeface="Calibri"/>
                <a:cs typeface="Calibri"/>
                <a:sym typeface="Calibri"/>
              </a:rPr>
              <a:t>Dataset Variable Description                                  </a:t>
            </a:r>
            <a:endParaRPr b="0" i="0" sz="2400" u="none" cap="none" strike="noStrike">
              <a:solidFill>
                <a:schemeClr val="dk1"/>
              </a:solidFill>
              <a:latin typeface="Calibri"/>
              <a:ea typeface="Calibri"/>
              <a:cs typeface="Calibri"/>
              <a:sym typeface="Calibri"/>
            </a:endParaRPr>
          </a:p>
        </p:txBody>
      </p:sp>
      <p:sp>
        <p:nvSpPr>
          <p:cNvPr id="221" name="Google Shape;221;p32"/>
          <p:cNvSpPr/>
          <p:nvPr/>
        </p:nvSpPr>
        <p:spPr>
          <a:xfrm>
            <a:off x="228600" y="566928"/>
            <a:ext cx="8686800" cy="63900"/>
          </a:xfrm>
          <a:prstGeom prst="rect">
            <a:avLst/>
          </a:prstGeom>
          <a:solidFill>
            <a:srgbClr val="F0C132"/>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p32"/>
          <p:cNvSpPr/>
          <p:nvPr/>
        </p:nvSpPr>
        <p:spPr>
          <a:xfrm>
            <a:off x="109728" y="4709160"/>
            <a:ext cx="320100" cy="32010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32"/>
          <p:cNvSpPr/>
          <p:nvPr/>
        </p:nvSpPr>
        <p:spPr>
          <a:xfrm>
            <a:off x="109728" y="4709160"/>
            <a:ext cx="3201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224" name="Google Shape;224;p32"/>
          <p:cNvSpPr/>
          <p:nvPr/>
        </p:nvSpPr>
        <p:spPr>
          <a:xfrm>
            <a:off x="457200" y="4754880"/>
            <a:ext cx="1371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000"/>
              <a:buFont typeface="Calibri"/>
              <a:buNone/>
            </a:pPr>
            <a:r>
              <a:rPr b="1" i="0" lang="en" sz="1000" u="none" cap="none" strike="noStrike">
                <a:solidFill>
                  <a:srgbClr val="006747"/>
                </a:solidFill>
                <a:latin typeface="Calibri"/>
                <a:ea typeface="Calibri"/>
                <a:cs typeface="Calibri"/>
                <a:sym typeface="Calibri"/>
              </a:rPr>
              <a:t>Clarkson university</a:t>
            </a:r>
            <a:endParaRPr b="0" i="0" sz="1000" u="none" cap="none" strike="noStrike">
              <a:solidFill>
                <a:schemeClr val="dk1"/>
              </a:solidFill>
              <a:latin typeface="Calibri"/>
              <a:ea typeface="Calibri"/>
              <a:cs typeface="Calibri"/>
              <a:sym typeface="Calibri"/>
            </a:endParaRPr>
          </a:p>
        </p:txBody>
      </p:sp>
      <p:sp>
        <p:nvSpPr>
          <p:cNvPr id="225" name="Google Shape;225;p32"/>
          <p:cNvSpPr/>
          <p:nvPr/>
        </p:nvSpPr>
        <p:spPr>
          <a:xfrm>
            <a:off x="73152" y="4754880"/>
            <a:ext cx="2286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1000"/>
              <a:buFont typeface="Calibri"/>
              <a:buNone/>
            </a:pPr>
            <a:r>
              <a:rPr b="0" i="0" lang="en" sz="1000" u="none" cap="none" strike="noStrike">
                <a:solidFill>
                  <a:srgbClr val="006747"/>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226" name="Google Shape;226;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aphicFrame>
        <p:nvGraphicFramePr>
          <p:cNvPr id="227" name="Google Shape;227;p32"/>
          <p:cNvGraphicFramePr/>
          <p:nvPr/>
        </p:nvGraphicFramePr>
        <p:xfrm>
          <a:off x="301752" y="839747"/>
          <a:ext cx="3000000" cy="3000000"/>
        </p:xfrm>
        <a:graphic>
          <a:graphicData uri="http://schemas.openxmlformats.org/drawingml/2006/table">
            <a:tbl>
              <a:tblPr>
                <a:noFill/>
                <a:tableStyleId>{3FD1D2FA-D892-4F7D-BE5E-511BBE695E4F}</a:tableStyleId>
              </a:tblPr>
              <a:tblGrid>
                <a:gridCol w="2154075"/>
                <a:gridCol w="878975"/>
                <a:gridCol w="1609175"/>
                <a:gridCol w="3799925"/>
              </a:tblGrid>
              <a:tr h="190375">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Variable Name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12700">
                      <a:solidFill>
                        <a:srgbClr val="C8A828"/>
                      </a:solidFill>
                      <a:prstDash val="solid"/>
                      <a:round/>
                      <a:headEnd len="sm" w="sm" type="none"/>
                      <a:tailEnd len="sm" w="sm" type="none"/>
                    </a:lnT>
                    <a:lnB cap="flat" cmpd="sng" w="9525">
                      <a:solidFill>
                        <a:srgbClr val="AAAAAA"/>
                      </a:solidFill>
                      <a:prstDash val="solid"/>
                      <a:round/>
                      <a:headEnd len="sm" w="sm" type="none"/>
                      <a:tailEnd len="sm" w="sm" type="none"/>
                    </a:lnB>
                    <a:solidFill>
                      <a:srgbClr val="1A6B5A"/>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Role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12700">
                      <a:solidFill>
                        <a:srgbClr val="C8A828"/>
                      </a:solidFill>
                      <a:prstDash val="solid"/>
                      <a:round/>
                      <a:headEnd len="sm" w="sm" type="none"/>
                      <a:tailEnd len="sm" w="sm" type="none"/>
                    </a:lnT>
                    <a:lnB cap="flat" cmpd="sng" w="9525">
                      <a:solidFill>
                        <a:srgbClr val="AAAAAA"/>
                      </a:solidFill>
                      <a:prstDash val="solid"/>
                      <a:round/>
                      <a:headEnd len="sm" w="sm" type="none"/>
                      <a:tailEnd len="sm" w="sm" type="none"/>
                    </a:lnB>
                    <a:solidFill>
                      <a:srgbClr val="1A6B5A"/>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Type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12700">
                      <a:solidFill>
                        <a:srgbClr val="C8A828"/>
                      </a:solidFill>
                      <a:prstDash val="solid"/>
                      <a:round/>
                      <a:headEnd len="sm" w="sm" type="none"/>
                      <a:tailEnd len="sm" w="sm" type="none"/>
                    </a:lnT>
                    <a:lnB cap="flat" cmpd="sng" w="9525">
                      <a:solidFill>
                        <a:srgbClr val="AAAAAA"/>
                      </a:solidFill>
                      <a:prstDash val="solid"/>
                      <a:round/>
                      <a:headEnd len="sm" w="sm" type="none"/>
                      <a:tailEnd len="sm" w="sm" type="none"/>
                    </a:lnB>
                    <a:solidFill>
                      <a:srgbClr val="1A6B5A"/>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12700">
                      <a:solidFill>
                        <a:srgbClr val="C8A828"/>
                      </a:solidFill>
                      <a:prstDash val="solid"/>
                      <a:round/>
                      <a:headEnd len="sm" w="sm" type="none"/>
                      <a:tailEnd len="sm" w="sm" type="none"/>
                    </a:lnT>
                    <a:lnB cap="flat" cmpd="sng" w="9525">
                      <a:solidFill>
                        <a:srgbClr val="AAAAAA"/>
                      </a:solidFill>
                      <a:prstDash val="solid"/>
                      <a:round/>
                      <a:headEnd len="sm" w="sm" type="none"/>
                      <a:tailEnd len="sm" w="sm" type="none"/>
                    </a:lnB>
                    <a:solidFill>
                      <a:srgbClr val="1A6B5A"/>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Date Reported</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l">
                        <a:lnSpc>
                          <a:spcPct val="100000"/>
                        </a:lnSpc>
                        <a:spcBef>
                          <a:spcPts val="0"/>
                        </a:spcBef>
                        <a:spcAft>
                          <a:spcPts val="0"/>
                        </a:spcAft>
                        <a:buClr>
                          <a:srgbClr val="000000"/>
                        </a:buClr>
                        <a:buSzPts val="600"/>
                        <a:buFont typeface="Arial"/>
                        <a:buNone/>
                      </a:pPr>
                      <a:r>
                        <a:rPr b="1" lang="en" sz="600">
                          <a:solidFill>
                            <a:schemeClr val="dk1"/>
                          </a:solidFill>
                        </a:rPr>
                        <a:t>                                   </a:t>
                      </a:r>
                      <a:r>
                        <a:rPr b="1" i="0" lang="en" sz="600" u="none" cap="none" strike="noStrike">
                          <a:solidFill>
                            <a:schemeClr val="dk1"/>
                          </a:solidFill>
                          <a:latin typeface="Arial"/>
                          <a:ea typeface="Arial"/>
                          <a:cs typeface="Arial"/>
                          <a:sym typeface="Arial"/>
                        </a:rPr>
                        <a:t>Date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Date when the crime was reported</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Date Occurred</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Date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Date when the crime occurred</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Area Name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Categorical (Nominal)</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Name of the LAPD area referencing surrounding community</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Reported District Number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Categorical (Nominal)</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Sub-area code with geographic significance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Crime Code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Categorical (Nominal)</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Code identifying the crime committed</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Crime Description</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Categorical (Text)</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Description corresponding to the crime code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Victim Age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Numerical (Continuous)</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Age of the victim at the time of the crime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Victim Sex</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Categorical (Nominal)</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Sex of the victim (Male, Female, Unknown)</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Victim Descent</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Categorical (Nominal)</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Victim's racial or ethnic descent</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Premise Code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Categorical (Nominal)</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Numeric code identifying the type of premises</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Premise Description</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Categorical (Text)</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Description of premises where crime occurred</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Serious Crime Code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Categorical (Nominal)</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Code for the primary and most serious crime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Latitude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Numerical (Continuous)</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Latitude coordinate of the crime location</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Longitude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Numerical (Continuous)</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Longitude coordinate of the crime location</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Hour Occurred</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Numerical (Discrete)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Time the crime occurred (24-hour format)</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Victim Age Group</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Categorical (Ordinal)</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Age group category of the victim</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D9EDE8"/>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Type of crimes</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Target</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A6B5A"/>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Categorical (Binary)</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Classification as Violent or Non-Violent crime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Is night</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C8E8DF"/>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C8E8DF"/>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Categorical (Binary)</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C8E8DF"/>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Whether crime occurred at night (1) or day (0)</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C8E8DF"/>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Status</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Categorical (Nominal)</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Code indicating status of the crime investigation</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E8F5E9"/>
                    </a:solidFill>
                  </a:tcPr>
                </a:tc>
              </a:tr>
              <a:tr h="158250">
                <a:tc>
                  <a:txBody>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Year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C8E8DF"/>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1A6B5A"/>
                          </a:solidFill>
                          <a:latin typeface="Arial"/>
                          <a:ea typeface="Arial"/>
                          <a:cs typeface="Arial"/>
                          <a:sym typeface="Arial"/>
                        </a:rPr>
                        <a:t>Predictor</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C8E8DF"/>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chemeClr val="dk1"/>
                          </a:solidFill>
                          <a:latin typeface="Arial"/>
                          <a:ea typeface="Arial"/>
                          <a:cs typeface="Arial"/>
                          <a:sym typeface="Arial"/>
                        </a:rPr>
                        <a:t>Numerical (Discrete)</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C8E8DF"/>
                    </a:solidFill>
                  </a:tcPr>
                </a:tc>
                <a:tc>
                  <a:txBody>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1A1A1A"/>
                          </a:solidFill>
                          <a:latin typeface="Arial"/>
                          <a:ea typeface="Arial"/>
                          <a:cs typeface="Arial"/>
                          <a:sym typeface="Arial"/>
                        </a:rPr>
                        <a:t>Year the crime occurred</a:t>
                      </a:r>
                      <a:endParaRPr/>
                    </a:p>
                  </a:txBody>
                  <a:tcPr marT="4625" marB="0" marR="4625" marL="4625" anchor="ctr">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C8E8DF"/>
                    </a:solidFill>
                  </a:tcPr>
                </a:tc>
              </a:tr>
            </a:tbl>
          </a:graphicData>
        </a:graphic>
      </p:graphicFrame>
      <p:cxnSp>
        <p:nvCxnSpPr>
          <p:cNvPr id="228" name="Google Shape;228;p32"/>
          <p:cNvCxnSpPr/>
          <p:nvPr/>
        </p:nvCxnSpPr>
        <p:spPr>
          <a:xfrm>
            <a:off x="3125923" y="1424178"/>
            <a:ext cx="0" cy="0"/>
          </a:xfrm>
          <a:prstGeom prst="straightConnector1">
            <a:avLst/>
          </a:prstGeom>
          <a:noFill/>
          <a:ln cap="flat" cmpd="sng" w="9525">
            <a:solidFill>
              <a:srgbClr val="AAAAAA"/>
            </a:solidFill>
            <a:prstDash val="dash"/>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33"/>
          <p:cNvSpPr/>
          <p:nvPr/>
        </p:nvSpPr>
        <p:spPr>
          <a:xfrm>
            <a:off x="228600" y="73152"/>
            <a:ext cx="868680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2400"/>
              <a:buFont typeface="Calibri"/>
              <a:buNone/>
            </a:pPr>
            <a:r>
              <a:rPr b="1" i="0" lang="en" sz="2400" u="none" cap="none" strike="noStrike">
                <a:solidFill>
                  <a:srgbClr val="006747"/>
                </a:solidFill>
                <a:latin typeface="Calibri"/>
                <a:ea typeface="Calibri"/>
                <a:cs typeface="Calibri"/>
                <a:sym typeface="Calibri"/>
              </a:rPr>
              <a:t>Crime Type Distribution</a:t>
            </a:r>
            <a:endParaRPr b="0" i="0" sz="2400" u="none" cap="none" strike="noStrike">
              <a:solidFill>
                <a:schemeClr val="dk1"/>
              </a:solidFill>
              <a:latin typeface="Calibri"/>
              <a:ea typeface="Calibri"/>
              <a:cs typeface="Calibri"/>
              <a:sym typeface="Calibri"/>
            </a:endParaRPr>
          </a:p>
        </p:txBody>
      </p:sp>
      <p:sp>
        <p:nvSpPr>
          <p:cNvPr id="235" name="Google Shape;235;p33"/>
          <p:cNvSpPr/>
          <p:nvPr/>
        </p:nvSpPr>
        <p:spPr>
          <a:xfrm>
            <a:off x="228600" y="566928"/>
            <a:ext cx="8686800" cy="64008"/>
          </a:xfrm>
          <a:prstGeom prst="rect">
            <a:avLst/>
          </a:prstGeom>
          <a:solidFill>
            <a:srgbClr val="F0C132"/>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p33"/>
          <p:cNvSpPr/>
          <p:nvPr/>
        </p:nvSpPr>
        <p:spPr>
          <a:xfrm>
            <a:off x="109728" y="4709160"/>
            <a:ext cx="320040" cy="32004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7" name="Google Shape;237;p33"/>
          <p:cNvSpPr/>
          <p:nvPr/>
        </p:nvSpPr>
        <p:spPr>
          <a:xfrm>
            <a:off x="109728" y="4709160"/>
            <a:ext cx="32004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238" name="Google Shape;238;p33"/>
          <p:cNvSpPr/>
          <p:nvPr/>
        </p:nvSpPr>
        <p:spPr>
          <a:xfrm>
            <a:off x="457200" y="4754880"/>
            <a:ext cx="1371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000"/>
              <a:buFont typeface="Calibri"/>
              <a:buNone/>
            </a:pPr>
            <a:r>
              <a:rPr b="1" i="0" lang="en" sz="1000" u="none" cap="none" strike="noStrike">
                <a:solidFill>
                  <a:srgbClr val="006747"/>
                </a:solidFill>
                <a:latin typeface="Calibri"/>
                <a:ea typeface="Calibri"/>
                <a:cs typeface="Calibri"/>
                <a:sym typeface="Calibri"/>
              </a:rPr>
              <a:t>Clarkson university</a:t>
            </a:r>
            <a:endParaRPr b="0" i="0" sz="1000" u="none" cap="none" strike="noStrike">
              <a:solidFill>
                <a:schemeClr val="dk1"/>
              </a:solidFill>
              <a:latin typeface="Calibri"/>
              <a:ea typeface="Calibri"/>
              <a:cs typeface="Calibri"/>
              <a:sym typeface="Calibri"/>
            </a:endParaRPr>
          </a:p>
        </p:txBody>
      </p:sp>
      <p:sp>
        <p:nvSpPr>
          <p:cNvPr id="239" name="Google Shape;239;p33"/>
          <p:cNvSpPr/>
          <p:nvPr/>
        </p:nvSpPr>
        <p:spPr>
          <a:xfrm>
            <a:off x="73152" y="4754880"/>
            <a:ext cx="2286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1000"/>
              <a:buFont typeface="Calibri"/>
              <a:buNone/>
            </a:pPr>
            <a:r>
              <a:rPr b="0" i="0" lang="en" sz="1000" u="none" cap="none" strike="noStrike">
                <a:solidFill>
                  <a:srgbClr val="006747"/>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
        <p:nvSpPr>
          <p:cNvPr id="240" name="Google Shape;240;p33"/>
          <p:cNvSpPr/>
          <p:nvPr/>
        </p:nvSpPr>
        <p:spPr>
          <a:xfrm>
            <a:off x="228600" y="713232"/>
            <a:ext cx="4160520" cy="1097280"/>
          </a:xfrm>
          <a:prstGeom prst="rect">
            <a:avLst/>
          </a:prstGeom>
          <a:solidFill>
            <a:srgbClr val="FFF3E0"/>
          </a:solidFill>
          <a:ln cap="flat" cmpd="sng" w="1905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1" name="Google Shape;241;p33"/>
          <p:cNvSpPr/>
          <p:nvPr/>
        </p:nvSpPr>
        <p:spPr>
          <a:xfrm>
            <a:off x="228600" y="749808"/>
            <a:ext cx="4160520" cy="62179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0392B"/>
              </a:buClr>
              <a:buSzPts val="4200"/>
              <a:buFont typeface="Calibri"/>
              <a:buNone/>
            </a:pPr>
            <a:r>
              <a:rPr b="1" i="0" lang="en" sz="4200" u="none" cap="none" strike="noStrike">
                <a:solidFill>
                  <a:srgbClr val="C0392B"/>
                </a:solidFill>
                <a:latin typeface="Calibri"/>
                <a:ea typeface="Calibri"/>
                <a:cs typeface="Calibri"/>
                <a:sym typeface="Calibri"/>
              </a:rPr>
              <a:t>52.3%</a:t>
            </a:r>
            <a:endParaRPr b="0" i="0" sz="4200" u="none" cap="none" strike="noStrike">
              <a:solidFill>
                <a:schemeClr val="dk1"/>
              </a:solidFill>
              <a:latin typeface="Calibri"/>
              <a:ea typeface="Calibri"/>
              <a:cs typeface="Calibri"/>
              <a:sym typeface="Calibri"/>
            </a:endParaRPr>
          </a:p>
        </p:txBody>
      </p:sp>
      <p:sp>
        <p:nvSpPr>
          <p:cNvPr id="242" name="Google Shape;242;p33"/>
          <p:cNvSpPr/>
          <p:nvPr/>
        </p:nvSpPr>
        <p:spPr>
          <a:xfrm>
            <a:off x="228600" y="1389888"/>
            <a:ext cx="4160520" cy="34747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1A1A"/>
              </a:buClr>
              <a:buSzPts val="1300"/>
              <a:buFont typeface="Calibri"/>
              <a:buNone/>
            </a:pPr>
            <a:r>
              <a:rPr b="0" i="0" lang="en" sz="1300" u="none" cap="none" strike="noStrike">
                <a:solidFill>
                  <a:srgbClr val="1A1A1A"/>
                </a:solidFill>
                <a:latin typeface="Calibri"/>
                <a:ea typeface="Calibri"/>
                <a:cs typeface="Calibri"/>
                <a:sym typeface="Calibri"/>
              </a:rPr>
              <a:t>Violent Crimes -383,440 incidents</a:t>
            </a:r>
            <a:endParaRPr b="0" i="0" sz="1300" u="none" cap="none" strike="noStrike">
              <a:solidFill>
                <a:schemeClr val="dk1"/>
              </a:solidFill>
              <a:latin typeface="Calibri"/>
              <a:ea typeface="Calibri"/>
              <a:cs typeface="Calibri"/>
              <a:sym typeface="Calibri"/>
            </a:endParaRPr>
          </a:p>
        </p:txBody>
      </p:sp>
      <p:sp>
        <p:nvSpPr>
          <p:cNvPr id="243" name="Google Shape;243;p33"/>
          <p:cNvSpPr/>
          <p:nvPr/>
        </p:nvSpPr>
        <p:spPr>
          <a:xfrm>
            <a:off x="4754880" y="713232"/>
            <a:ext cx="4160520" cy="1097280"/>
          </a:xfrm>
          <a:prstGeom prst="rect">
            <a:avLst/>
          </a:prstGeom>
          <a:solidFill>
            <a:srgbClr val="E8F5E9"/>
          </a:solidFill>
          <a:ln cap="flat" cmpd="sng" w="19050">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p33"/>
          <p:cNvSpPr/>
          <p:nvPr/>
        </p:nvSpPr>
        <p:spPr>
          <a:xfrm>
            <a:off x="4754880" y="749808"/>
            <a:ext cx="4160520" cy="62179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4200"/>
              <a:buFont typeface="Calibri"/>
              <a:buNone/>
            </a:pPr>
            <a:r>
              <a:rPr b="1" i="0" lang="en" sz="4200" u="none" cap="none" strike="noStrike">
                <a:solidFill>
                  <a:srgbClr val="006747"/>
                </a:solidFill>
                <a:latin typeface="Calibri"/>
                <a:ea typeface="Calibri"/>
                <a:cs typeface="Calibri"/>
                <a:sym typeface="Calibri"/>
              </a:rPr>
              <a:t>47.7%</a:t>
            </a:r>
            <a:endParaRPr b="0" i="0" sz="4200" u="none" cap="none" strike="noStrike">
              <a:solidFill>
                <a:schemeClr val="dk1"/>
              </a:solidFill>
              <a:latin typeface="Calibri"/>
              <a:ea typeface="Calibri"/>
              <a:cs typeface="Calibri"/>
              <a:sym typeface="Calibri"/>
            </a:endParaRPr>
          </a:p>
        </p:txBody>
      </p:sp>
      <p:sp>
        <p:nvSpPr>
          <p:cNvPr id="245" name="Google Shape;245;p33"/>
          <p:cNvSpPr/>
          <p:nvPr/>
        </p:nvSpPr>
        <p:spPr>
          <a:xfrm>
            <a:off x="4754880" y="1389888"/>
            <a:ext cx="4160520" cy="34747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1A1A"/>
              </a:buClr>
              <a:buSzPts val="1300"/>
              <a:buFont typeface="Calibri"/>
              <a:buNone/>
            </a:pPr>
            <a:r>
              <a:rPr b="0" i="0" lang="en" sz="1300" u="none" cap="none" strike="noStrike">
                <a:solidFill>
                  <a:srgbClr val="1A1A1A"/>
                </a:solidFill>
                <a:latin typeface="Calibri"/>
                <a:ea typeface="Calibri"/>
                <a:cs typeface="Calibri"/>
                <a:sym typeface="Calibri"/>
              </a:rPr>
              <a:t>Non-Violent Crimes -350,446 incidents</a:t>
            </a:r>
            <a:endParaRPr b="0" i="0" sz="1300" u="none" cap="none" strike="noStrike">
              <a:solidFill>
                <a:schemeClr val="dk1"/>
              </a:solidFill>
              <a:latin typeface="Calibri"/>
              <a:ea typeface="Calibri"/>
              <a:cs typeface="Calibri"/>
              <a:sym typeface="Calibri"/>
            </a:endParaRPr>
          </a:p>
        </p:txBody>
      </p:sp>
      <p:sp>
        <p:nvSpPr>
          <p:cNvPr id="246" name="Google Shape;246;p33"/>
          <p:cNvSpPr/>
          <p:nvPr/>
        </p:nvSpPr>
        <p:spPr>
          <a:xfrm>
            <a:off x="228600" y="1920240"/>
            <a:ext cx="416052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400"/>
              <a:buFont typeface="Calibri"/>
              <a:buNone/>
            </a:pPr>
            <a:r>
              <a:rPr b="1" i="0" lang="en" sz="1400" u="none" cap="none" strike="noStrike">
                <a:solidFill>
                  <a:srgbClr val="006747"/>
                </a:solidFill>
                <a:latin typeface="Calibri"/>
                <a:ea typeface="Calibri"/>
                <a:cs typeface="Calibri"/>
                <a:sym typeface="Calibri"/>
              </a:rPr>
              <a:t>Top Violent Crimes</a:t>
            </a:r>
            <a:endParaRPr b="0" i="0" sz="1400" u="none" cap="none" strike="noStrike">
              <a:solidFill>
                <a:schemeClr val="dk1"/>
              </a:solidFill>
              <a:latin typeface="Calibri"/>
              <a:ea typeface="Calibri"/>
              <a:cs typeface="Calibri"/>
              <a:sym typeface="Calibri"/>
            </a:endParaRPr>
          </a:p>
        </p:txBody>
      </p:sp>
      <p:sp>
        <p:nvSpPr>
          <p:cNvPr id="247" name="Google Shape;247;p33"/>
          <p:cNvSpPr/>
          <p:nvPr/>
        </p:nvSpPr>
        <p:spPr>
          <a:xfrm>
            <a:off x="274320" y="2286000"/>
            <a:ext cx="25603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Burglary from Vehicle</a:t>
            </a:r>
            <a:endParaRPr b="0" i="0" sz="1000" u="none" cap="none" strike="noStrike">
              <a:solidFill>
                <a:schemeClr val="dk1"/>
              </a:solidFill>
              <a:latin typeface="Calibri"/>
              <a:ea typeface="Calibri"/>
              <a:cs typeface="Calibri"/>
              <a:sym typeface="Calibri"/>
            </a:endParaRPr>
          </a:p>
        </p:txBody>
      </p:sp>
      <p:sp>
        <p:nvSpPr>
          <p:cNvPr id="248" name="Google Shape;248;p33"/>
          <p:cNvSpPr/>
          <p:nvPr/>
        </p:nvSpPr>
        <p:spPr>
          <a:xfrm>
            <a:off x="274320" y="2761488"/>
            <a:ext cx="25603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Theft from Motor Vehicle</a:t>
            </a:r>
            <a:endParaRPr b="0" i="0" sz="1000" u="none" cap="none" strike="noStrike">
              <a:solidFill>
                <a:schemeClr val="dk1"/>
              </a:solidFill>
              <a:latin typeface="Calibri"/>
              <a:ea typeface="Calibri"/>
              <a:cs typeface="Calibri"/>
              <a:sym typeface="Calibri"/>
            </a:endParaRPr>
          </a:p>
        </p:txBody>
      </p:sp>
      <p:sp>
        <p:nvSpPr>
          <p:cNvPr id="249" name="Google Shape;249;p33"/>
          <p:cNvSpPr/>
          <p:nvPr/>
        </p:nvSpPr>
        <p:spPr>
          <a:xfrm>
            <a:off x="274320" y="3236976"/>
            <a:ext cx="25603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Aggravated Assault</a:t>
            </a:r>
            <a:endParaRPr b="0" i="0" sz="1000" u="none" cap="none" strike="noStrike">
              <a:solidFill>
                <a:schemeClr val="dk1"/>
              </a:solidFill>
              <a:latin typeface="Calibri"/>
              <a:ea typeface="Calibri"/>
              <a:cs typeface="Calibri"/>
              <a:sym typeface="Calibri"/>
            </a:endParaRPr>
          </a:p>
        </p:txBody>
      </p:sp>
      <p:sp>
        <p:nvSpPr>
          <p:cNvPr id="250" name="Google Shape;250;p33"/>
          <p:cNvSpPr/>
          <p:nvPr/>
        </p:nvSpPr>
        <p:spPr>
          <a:xfrm>
            <a:off x="274320" y="3712464"/>
            <a:ext cx="25603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Theft Plain</a:t>
            </a:r>
            <a:endParaRPr b="0" i="0" sz="1000" u="none" cap="none" strike="noStrike">
              <a:solidFill>
                <a:schemeClr val="dk1"/>
              </a:solidFill>
              <a:latin typeface="Calibri"/>
              <a:ea typeface="Calibri"/>
              <a:cs typeface="Calibri"/>
              <a:sym typeface="Calibri"/>
            </a:endParaRPr>
          </a:p>
        </p:txBody>
      </p:sp>
      <p:sp>
        <p:nvSpPr>
          <p:cNvPr id="251" name="Google Shape;251;p33"/>
          <p:cNvSpPr/>
          <p:nvPr/>
        </p:nvSpPr>
        <p:spPr>
          <a:xfrm>
            <a:off x="274320" y="4187952"/>
            <a:ext cx="25603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Burglary</a:t>
            </a:r>
            <a:endParaRPr b="0" i="0" sz="1000" u="none" cap="none" strike="noStrike">
              <a:solidFill>
                <a:schemeClr val="dk1"/>
              </a:solidFill>
              <a:latin typeface="Calibri"/>
              <a:ea typeface="Calibri"/>
              <a:cs typeface="Calibri"/>
              <a:sym typeface="Calibri"/>
            </a:endParaRPr>
          </a:p>
        </p:txBody>
      </p:sp>
      <p:sp>
        <p:nvSpPr>
          <p:cNvPr id="252" name="Google Shape;252;p33"/>
          <p:cNvSpPr/>
          <p:nvPr/>
        </p:nvSpPr>
        <p:spPr>
          <a:xfrm>
            <a:off x="4754880" y="1920240"/>
            <a:ext cx="416052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400"/>
              <a:buFont typeface="Calibri"/>
              <a:buNone/>
            </a:pPr>
            <a:r>
              <a:rPr b="1" i="0" lang="en" sz="1400" u="none" cap="none" strike="noStrike">
                <a:solidFill>
                  <a:srgbClr val="006747"/>
                </a:solidFill>
                <a:latin typeface="Calibri"/>
                <a:ea typeface="Calibri"/>
                <a:cs typeface="Calibri"/>
                <a:sym typeface="Calibri"/>
              </a:rPr>
              <a:t>Top Non-Violent Crimes</a:t>
            </a:r>
            <a:endParaRPr b="0" i="0" sz="1400" u="none" cap="none" strike="noStrike">
              <a:solidFill>
                <a:schemeClr val="dk1"/>
              </a:solidFill>
              <a:latin typeface="Calibri"/>
              <a:ea typeface="Calibri"/>
              <a:cs typeface="Calibri"/>
              <a:sym typeface="Calibri"/>
            </a:endParaRPr>
          </a:p>
        </p:txBody>
      </p:sp>
      <p:sp>
        <p:nvSpPr>
          <p:cNvPr id="253" name="Google Shape;253;p33"/>
          <p:cNvSpPr/>
          <p:nvPr/>
        </p:nvSpPr>
        <p:spPr>
          <a:xfrm>
            <a:off x="4800600" y="2286000"/>
            <a:ext cx="25603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Battery</a:t>
            </a:r>
            <a:endParaRPr b="0" i="0" sz="1000" u="none" cap="none" strike="noStrike">
              <a:solidFill>
                <a:schemeClr val="dk1"/>
              </a:solidFill>
              <a:latin typeface="Calibri"/>
              <a:ea typeface="Calibri"/>
              <a:cs typeface="Calibri"/>
              <a:sym typeface="Calibri"/>
            </a:endParaRPr>
          </a:p>
        </p:txBody>
      </p:sp>
      <p:sp>
        <p:nvSpPr>
          <p:cNvPr id="254" name="Google Shape;254;p33"/>
          <p:cNvSpPr/>
          <p:nvPr/>
        </p:nvSpPr>
        <p:spPr>
          <a:xfrm>
            <a:off x="7778931" y="2286000"/>
            <a:ext cx="457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55" name="Google Shape;255;p33"/>
          <p:cNvSpPr/>
          <p:nvPr/>
        </p:nvSpPr>
        <p:spPr>
          <a:xfrm>
            <a:off x="7493508" y="2761488"/>
            <a:ext cx="457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56" name="Google Shape;256;p33"/>
          <p:cNvSpPr/>
          <p:nvPr/>
        </p:nvSpPr>
        <p:spPr>
          <a:xfrm>
            <a:off x="4800600" y="3236976"/>
            <a:ext cx="25603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Theft of Identity</a:t>
            </a:r>
            <a:endParaRPr b="0" i="0" sz="1000" u="none" cap="none" strike="noStrike">
              <a:solidFill>
                <a:schemeClr val="dk1"/>
              </a:solidFill>
              <a:latin typeface="Calibri"/>
              <a:ea typeface="Calibri"/>
              <a:cs typeface="Calibri"/>
              <a:sym typeface="Calibri"/>
            </a:endParaRPr>
          </a:p>
        </p:txBody>
      </p:sp>
      <p:sp>
        <p:nvSpPr>
          <p:cNvPr id="257" name="Google Shape;257;p33"/>
          <p:cNvSpPr/>
          <p:nvPr/>
        </p:nvSpPr>
        <p:spPr>
          <a:xfrm>
            <a:off x="7282543" y="3236976"/>
            <a:ext cx="457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58" name="Google Shape;258;p33"/>
          <p:cNvSpPr/>
          <p:nvPr/>
        </p:nvSpPr>
        <p:spPr>
          <a:xfrm>
            <a:off x="4800600" y="3712464"/>
            <a:ext cx="25603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Intimate Partner</a:t>
            </a:r>
            <a:endParaRPr b="0" i="0" sz="1000" u="none" cap="none" strike="noStrike">
              <a:solidFill>
                <a:schemeClr val="dk1"/>
              </a:solidFill>
              <a:latin typeface="Calibri"/>
              <a:ea typeface="Calibri"/>
              <a:cs typeface="Calibri"/>
              <a:sym typeface="Calibri"/>
            </a:endParaRPr>
          </a:p>
        </p:txBody>
      </p:sp>
      <p:pic>
        <p:nvPicPr>
          <p:cNvPr descr="The image shows a bar chart illustrating the percentage distribution of various violent crimes, with theft, burglary, and theft from vehicles being the most prevalent.&#10;&#10;AI-generated content may be incorrect." id="259" name="Google Shape;259;p33"/>
          <p:cNvPicPr preferRelativeResize="0"/>
          <p:nvPr/>
        </p:nvPicPr>
        <p:blipFill rotWithShape="1">
          <a:blip r:embed="rId3">
            <a:alphaModFix/>
          </a:blip>
          <a:srcRect b="0" l="0" r="0" t="0"/>
          <a:stretch/>
        </p:blipFill>
        <p:spPr>
          <a:xfrm>
            <a:off x="-55843" y="2240280"/>
            <a:ext cx="4160520" cy="2354578"/>
          </a:xfrm>
          <a:prstGeom prst="rect">
            <a:avLst/>
          </a:prstGeom>
          <a:noFill/>
          <a:ln>
            <a:noFill/>
          </a:ln>
        </p:spPr>
      </p:pic>
      <p:pic>
        <p:nvPicPr>
          <p:cNvPr descr="The pie chart displays the percentage distribution of various non-violent crimes, with intimate partner violence being the most prevalent at 15%.&#10;&#10;AI-generated content may be incorrect." id="260" name="Google Shape;260;p33"/>
          <p:cNvPicPr preferRelativeResize="0"/>
          <p:nvPr/>
        </p:nvPicPr>
        <p:blipFill rotWithShape="1">
          <a:blip r:embed="rId4">
            <a:alphaModFix/>
          </a:blip>
          <a:srcRect b="0" l="0" r="0" t="0"/>
          <a:stretch/>
        </p:blipFill>
        <p:spPr>
          <a:xfrm>
            <a:off x="4389120" y="2356275"/>
            <a:ext cx="4448650" cy="2238583"/>
          </a:xfrm>
          <a:prstGeom prst="rect">
            <a:avLst/>
          </a:prstGeom>
          <a:noFill/>
          <a:ln>
            <a:noFill/>
          </a:ln>
        </p:spPr>
      </p:pic>
      <p:sp>
        <p:nvSpPr>
          <p:cNvPr id="261" name="Google Shape;261;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62" name="Google Shape;262;p33"/>
          <p:cNvSpPr/>
          <p:nvPr/>
        </p:nvSpPr>
        <p:spPr>
          <a:xfrm>
            <a:off x="2966775" y="4727225"/>
            <a:ext cx="4013700" cy="475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2400"/>
              <a:buFont typeface="Calibri"/>
              <a:buNone/>
            </a:pPr>
            <a:r>
              <a:t/>
            </a:r>
            <a:endParaRPr i="0" sz="11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34"/>
          <p:cNvSpPr/>
          <p:nvPr/>
        </p:nvSpPr>
        <p:spPr>
          <a:xfrm>
            <a:off x="228600" y="73152"/>
            <a:ext cx="868680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2400"/>
              <a:buFont typeface="Calibri"/>
              <a:buNone/>
            </a:pPr>
            <a:r>
              <a:rPr b="1" i="0" lang="en" sz="2400" u="none" cap="none" strike="noStrike">
                <a:solidFill>
                  <a:srgbClr val="006747"/>
                </a:solidFill>
                <a:latin typeface="Calibri"/>
                <a:ea typeface="Calibri"/>
                <a:cs typeface="Calibri"/>
                <a:sym typeface="Calibri"/>
              </a:rPr>
              <a:t>Spatial Analysis</a:t>
            </a:r>
            <a:r>
              <a:rPr b="1" lang="en" sz="2400">
                <a:solidFill>
                  <a:srgbClr val="006747"/>
                </a:solidFill>
                <a:latin typeface="Calibri"/>
                <a:ea typeface="Calibri"/>
                <a:cs typeface="Calibri"/>
                <a:sym typeface="Calibri"/>
              </a:rPr>
              <a:t> -</a:t>
            </a:r>
            <a:r>
              <a:rPr b="1" i="0" lang="en" sz="2400" u="none" cap="none" strike="noStrike">
                <a:solidFill>
                  <a:srgbClr val="006747"/>
                </a:solidFill>
                <a:latin typeface="Calibri"/>
                <a:ea typeface="Calibri"/>
                <a:cs typeface="Calibri"/>
                <a:sym typeface="Calibri"/>
              </a:rPr>
              <a:t> Crime Distribution by Area</a:t>
            </a:r>
            <a:endParaRPr b="0" i="0" sz="2400" u="none" cap="none" strike="noStrike">
              <a:solidFill>
                <a:schemeClr val="dk1"/>
              </a:solidFill>
              <a:latin typeface="Calibri"/>
              <a:ea typeface="Calibri"/>
              <a:cs typeface="Calibri"/>
              <a:sym typeface="Calibri"/>
            </a:endParaRPr>
          </a:p>
        </p:txBody>
      </p:sp>
      <p:sp>
        <p:nvSpPr>
          <p:cNvPr id="269" name="Google Shape;269;p34"/>
          <p:cNvSpPr/>
          <p:nvPr/>
        </p:nvSpPr>
        <p:spPr>
          <a:xfrm>
            <a:off x="228600" y="548641"/>
            <a:ext cx="8686800" cy="63900"/>
          </a:xfrm>
          <a:prstGeom prst="rect">
            <a:avLst/>
          </a:prstGeom>
          <a:solidFill>
            <a:srgbClr val="F0C132"/>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34"/>
          <p:cNvSpPr/>
          <p:nvPr/>
        </p:nvSpPr>
        <p:spPr>
          <a:xfrm>
            <a:off x="109728" y="4709160"/>
            <a:ext cx="320040" cy="32004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1" name="Google Shape;271;p34"/>
          <p:cNvSpPr/>
          <p:nvPr/>
        </p:nvSpPr>
        <p:spPr>
          <a:xfrm>
            <a:off x="109728" y="4709160"/>
            <a:ext cx="32004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272" name="Google Shape;272;p34"/>
          <p:cNvSpPr/>
          <p:nvPr/>
        </p:nvSpPr>
        <p:spPr>
          <a:xfrm>
            <a:off x="457200" y="4754880"/>
            <a:ext cx="1371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000"/>
              <a:buFont typeface="Calibri"/>
              <a:buNone/>
            </a:pPr>
            <a:r>
              <a:rPr b="1" i="0" lang="en" sz="1000" u="none" cap="none" strike="noStrike">
                <a:solidFill>
                  <a:srgbClr val="006747"/>
                </a:solidFill>
                <a:latin typeface="Calibri"/>
                <a:ea typeface="Calibri"/>
                <a:cs typeface="Calibri"/>
                <a:sym typeface="Calibri"/>
              </a:rPr>
              <a:t>Clarkson university</a:t>
            </a:r>
            <a:endParaRPr b="0" i="0" sz="1000" u="none" cap="none" strike="noStrike">
              <a:solidFill>
                <a:schemeClr val="dk1"/>
              </a:solidFill>
              <a:latin typeface="Calibri"/>
              <a:ea typeface="Calibri"/>
              <a:cs typeface="Calibri"/>
              <a:sym typeface="Calibri"/>
            </a:endParaRPr>
          </a:p>
        </p:txBody>
      </p:sp>
      <p:sp>
        <p:nvSpPr>
          <p:cNvPr id="273" name="Google Shape;273;p34"/>
          <p:cNvSpPr/>
          <p:nvPr/>
        </p:nvSpPr>
        <p:spPr>
          <a:xfrm>
            <a:off x="-146298" y="4754880"/>
            <a:ext cx="2286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74" name="Google Shape;274;p34"/>
          <p:cNvSpPr/>
          <p:nvPr/>
        </p:nvSpPr>
        <p:spPr>
          <a:xfrm>
            <a:off x="338075" y="612250"/>
            <a:ext cx="5487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275" name="Google Shape;275;p34"/>
          <p:cNvSpPr/>
          <p:nvPr/>
        </p:nvSpPr>
        <p:spPr>
          <a:xfrm>
            <a:off x="3547872" y="1097280"/>
            <a:ext cx="457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A1A"/>
              </a:buClr>
              <a:buSzPts val="1100"/>
              <a:buFont typeface="Calibri"/>
              <a:buNone/>
            </a:pPr>
            <a:r>
              <a:rPr b="0" i="0" lang="en" sz="1100" u="none" cap="none" strike="noStrike">
                <a:solidFill>
                  <a:srgbClr val="1A1A1A"/>
                </a:solidFill>
                <a:latin typeface="Calibri"/>
                <a:ea typeface="Calibri"/>
                <a:cs typeface="Calibri"/>
                <a:sym typeface="Calibri"/>
              </a:rPr>
              <a:t>7.1%</a:t>
            </a:r>
            <a:endParaRPr b="0" i="0" sz="1100" u="none" cap="none" strike="noStrike">
              <a:solidFill>
                <a:schemeClr val="dk1"/>
              </a:solidFill>
              <a:latin typeface="Calibri"/>
              <a:ea typeface="Calibri"/>
              <a:cs typeface="Calibri"/>
              <a:sym typeface="Calibri"/>
            </a:endParaRPr>
          </a:p>
        </p:txBody>
      </p:sp>
      <p:sp>
        <p:nvSpPr>
          <p:cNvPr id="276" name="Google Shape;276;p34"/>
          <p:cNvSpPr/>
          <p:nvPr/>
        </p:nvSpPr>
        <p:spPr>
          <a:xfrm>
            <a:off x="274320" y="2121408"/>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77th Street</a:t>
            </a:r>
            <a:endParaRPr b="0" i="0" sz="1100" u="none" cap="none" strike="noStrike">
              <a:solidFill>
                <a:schemeClr val="dk1"/>
              </a:solidFill>
              <a:latin typeface="Calibri"/>
              <a:ea typeface="Calibri"/>
              <a:cs typeface="Calibri"/>
              <a:sym typeface="Calibri"/>
            </a:endParaRPr>
          </a:p>
        </p:txBody>
      </p:sp>
      <p:sp>
        <p:nvSpPr>
          <p:cNvPr id="277" name="Google Shape;277;p34"/>
          <p:cNvSpPr/>
          <p:nvPr/>
        </p:nvSpPr>
        <p:spPr>
          <a:xfrm>
            <a:off x="0" y="2121408"/>
            <a:ext cx="274320" cy="16459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278" name="Google Shape;278;p34"/>
          <p:cNvSpPr/>
          <p:nvPr/>
        </p:nvSpPr>
        <p:spPr>
          <a:xfrm>
            <a:off x="274320" y="2633472"/>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Hollywood</a:t>
            </a:r>
            <a:endParaRPr b="0" i="0" sz="1100" u="none" cap="none" strike="noStrike">
              <a:solidFill>
                <a:schemeClr val="dk1"/>
              </a:solidFill>
              <a:latin typeface="Calibri"/>
              <a:ea typeface="Calibri"/>
              <a:cs typeface="Calibri"/>
              <a:sym typeface="Calibri"/>
            </a:endParaRPr>
          </a:p>
        </p:txBody>
      </p:sp>
      <p:sp>
        <p:nvSpPr>
          <p:cNvPr id="279" name="Google Shape;279;p34"/>
          <p:cNvSpPr/>
          <p:nvPr/>
        </p:nvSpPr>
        <p:spPr>
          <a:xfrm>
            <a:off x="274320" y="3145536"/>
            <a:ext cx="1828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Pacific</a:t>
            </a:r>
            <a:endParaRPr b="0" i="0" sz="1100" u="none" cap="none" strike="noStrike">
              <a:solidFill>
                <a:schemeClr val="dk1"/>
              </a:solidFill>
              <a:latin typeface="Calibri"/>
              <a:ea typeface="Calibri"/>
              <a:cs typeface="Calibri"/>
              <a:sym typeface="Calibri"/>
            </a:endParaRPr>
          </a:p>
        </p:txBody>
      </p:sp>
      <p:sp>
        <p:nvSpPr>
          <p:cNvPr id="280" name="Google Shape;280;p34"/>
          <p:cNvSpPr/>
          <p:nvPr/>
        </p:nvSpPr>
        <p:spPr>
          <a:xfrm>
            <a:off x="-41148" y="3119255"/>
            <a:ext cx="457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281" name="Google Shape;281;p34"/>
          <p:cNvSpPr/>
          <p:nvPr/>
        </p:nvSpPr>
        <p:spPr>
          <a:xfrm>
            <a:off x="5506849" y="731524"/>
            <a:ext cx="34542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282" name="Google Shape;282;p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83" name="Google Shape;283;p34" title="Untitled design.png"/>
          <p:cNvPicPr preferRelativeResize="0"/>
          <p:nvPr/>
        </p:nvPicPr>
        <p:blipFill rotWithShape="1">
          <a:blip r:embed="rId3">
            <a:alphaModFix/>
          </a:blip>
          <a:srcRect b="0" l="8110" r="23397" t="0"/>
          <a:stretch/>
        </p:blipFill>
        <p:spPr>
          <a:xfrm>
            <a:off x="990075" y="612550"/>
            <a:ext cx="7566700" cy="42093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 name="Shape 288"/>
        <p:cNvGrpSpPr/>
        <p:nvPr/>
      </p:nvGrpSpPr>
      <p:grpSpPr>
        <a:xfrm>
          <a:off x="0" y="0"/>
          <a:ext cx="0" cy="0"/>
          <a:chOff x="0" y="0"/>
          <a:chExt cx="0" cy="0"/>
        </a:xfrm>
      </p:grpSpPr>
      <p:sp>
        <p:nvSpPr>
          <p:cNvPr id="289" name="Google Shape;289;p35"/>
          <p:cNvSpPr/>
          <p:nvPr/>
        </p:nvSpPr>
        <p:spPr>
          <a:xfrm>
            <a:off x="228600" y="73152"/>
            <a:ext cx="8686800" cy="475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2400"/>
              <a:buFont typeface="Calibri"/>
              <a:buNone/>
            </a:pPr>
            <a:r>
              <a:rPr b="1" i="0" lang="en" sz="2400" u="none" cap="none" strike="noStrike">
                <a:solidFill>
                  <a:srgbClr val="006747"/>
                </a:solidFill>
                <a:latin typeface="Calibri"/>
                <a:ea typeface="Calibri"/>
                <a:cs typeface="Calibri"/>
                <a:sym typeface="Calibri"/>
              </a:rPr>
              <a:t>Crime Distribution by </a:t>
            </a:r>
            <a:r>
              <a:rPr b="1" lang="en" sz="2400">
                <a:solidFill>
                  <a:srgbClr val="006747"/>
                </a:solidFill>
                <a:latin typeface="Calibri"/>
                <a:ea typeface="Calibri"/>
                <a:cs typeface="Calibri"/>
                <a:sym typeface="Calibri"/>
              </a:rPr>
              <a:t>Premise Type</a:t>
            </a:r>
            <a:endParaRPr b="0" i="0" sz="2400" u="none" cap="none" strike="noStrike">
              <a:solidFill>
                <a:schemeClr val="dk1"/>
              </a:solidFill>
              <a:latin typeface="Calibri"/>
              <a:ea typeface="Calibri"/>
              <a:cs typeface="Calibri"/>
              <a:sym typeface="Calibri"/>
            </a:endParaRPr>
          </a:p>
        </p:txBody>
      </p:sp>
      <p:sp>
        <p:nvSpPr>
          <p:cNvPr id="290" name="Google Shape;290;p35"/>
          <p:cNvSpPr/>
          <p:nvPr/>
        </p:nvSpPr>
        <p:spPr>
          <a:xfrm>
            <a:off x="228600" y="548641"/>
            <a:ext cx="8686800" cy="63900"/>
          </a:xfrm>
          <a:prstGeom prst="rect">
            <a:avLst/>
          </a:prstGeom>
          <a:solidFill>
            <a:srgbClr val="F0C132"/>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1" name="Google Shape;291;p35"/>
          <p:cNvSpPr/>
          <p:nvPr/>
        </p:nvSpPr>
        <p:spPr>
          <a:xfrm>
            <a:off x="109728" y="4709160"/>
            <a:ext cx="320100" cy="32010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2" name="Google Shape;292;p35"/>
          <p:cNvSpPr/>
          <p:nvPr/>
        </p:nvSpPr>
        <p:spPr>
          <a:xfrm>
            <a:off x="109728" y="4709160"/>
            <a:ext cx="3201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293" name="Google Shape;293;p35"/>
          <p:cNvSpPr/>
          <p:nvPr/>
        </p:nvSpPr>
        <p:spPr>
          <a:xfrm>
            <a:off x="457200" y="4754880"/>
            <a:ext cx="1371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000"/>
              <a:buFont typeface="Calibri"/>
              <a:buNone/>
            </a:pPr>
            <a:r>
              <a:rPr b="1" i="0" lang="en" sz="1000" u="none" cap="none" strike="noStrike">
                <a:solidFill>
                  <a:srgbClr val="006747"/>
                </a:solidFill>
                <a:latin typeface="Calibri"/>
                <a:ea typeface="Calibri"/>
                <a:cs typeface="Calibri"/>
                <a:sym typeface="Calibri"/>
              </a:rPr>
              <a:t>Clarkson university</a:t>
            </a:r>
            <a:endParaRPr b="0" i="0" sz="1000" u="none" cap="none" strike="noStrike">
              <a:solidFill>
                <a:schemeClr val="dk1"/>
              </a:solidFill>
              <a:latin typeface="Calibri"/>
              <a:ea typeface="Calibri"/>
              <a:cs typeface="Calibri"/>
              <a:sym typeface="Calibri"/>
            </a:endParaRPr>
          </a:p>
        </p:txBody>
      </p:sp>
      <p:sp>
        <p:nvSpPr>
          <p:cNvPr id="294" name="Google Shape;294;p35"/>
          <p:cNvSpPr/>
          <p:nvPr/>
        </p:nvSpPr>
        <p:spPr>
          <a:xfrm>
            <a:off x="-146298" y="4754880"/>
            <a:ext cx="2286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95" name="Google Shape;295;p35"/>
          <p:cNvSpPr/>
          <p:nvPr/>
        </p:nvSpPr>
        <p:spPr>
          <a:xfrm>
            <a:off x="1702450" y="877875"/>
            <a:ext cx="5487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296" name="Google Shape;296;p35"/>
          <p:cNvSpPr/>
          <p:nvPr/>
        </p:nvSpPr>
        <p:spPr>
          <a:xfrm>
            <a:off x="0" y="2121408"/>
            <a:ext cx="274200" cy="164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297" name="Google Shape;297;p35"/>
          <p:cNvSpPr/>
          <p:nvPr/>
        </p:nvSpPr>
        <p:spPr>
          <a:xfrm>
            <a:off x="274320" y="3145536"/>
            <a:ext cx="18288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Pacific</a:t>
            </a:r>
            <a:endParaRPr b="0" i="0" sz="1100" u="none" cap="none" strike="noStrike">
              <a:solidFill>
                <a:schemeClr val="dk1"/>
              </a:solidFill>
              <a:latin typeface="Calibri"/>
              <a:ea typeface="Calibri"/>
              <a:cs typeface="Calibri"/>
              <a:sym typeface="Calibri"/>
            </a:endParaRPr>
          </a:p>
        </p:txBody>
      </p:sp>
      <p:sp>
        <p:nvSpPr>
          <p:cNvPr id="298" name="Google Shape;298;p35"/>
          <p:cNvSpPr/>
          <p:nvPr/>
        </p:nvSpPr>
        <p:spPr>
          <a:xfrm>
            <a:off x="-41148" y="3119255"/>
            <a:ext cx="4572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299" name="Google Shape;299;p35"/>
          <p:cNvSpPr/>
          <p:nvPr/>
        </p:nvSpPr>
        <p:spPr>
          <a:xfrm>
            <a:off x="5506849" y="731524"/>
            <a:ext cx="34542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300" name="Google Shape;300;p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01" name="Google Shape;301;p35" title="Premise.png"/>
          <p:cNvPicPr preferRelativeResize="0"/>
          <p:nvPr/>
        </p:nvPicPr>
        <p:blipFill rotWithShape="1">
          <a:blip r:embed="rId3">
            <a:alphaModFix/>
          </a:blip>
          <a:srcRect b="0" l="0" r="0" t="0"/>
          <a:stretch/>
        </p:blipFill>
        <p:spPr>
          <a:xfrm>
            <a:off x="274200" y="731525"/>
            <a:ext cx="8393550" cy="4103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sp>
        <p:nvSpPr>
          <p:cNvPr id="307" name="Google Shape;307;p36"/>
          <p:cNvSpPr/>
          <p:nvPr/>
        </p:nvSpPr>
        <p:spPr>
          <a:xfrm>
            <a:off x="228600" y="73152"/>
            <a:ext cx="868680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2400"/>
              <a:buFont typeface="Calibri"/>
              <a:buNone/>
            </a:pPr>
            <a:r>
              <a:rPr b="1" i="0" lang="en" sz="2400" u="none" cap="none" strike="noStrike">
                <a:solidFill>
                  <a:srgbClr val="006747"/>
                </a:solidFill>
                <a:latin typeface="Calibri"/>
                <a:ea typeface="Calibri"/>
                <a:cs typeface="Calibri"/>
                <a:sym typeface="Calibri"/>
              </a:rPr>
              <a:t>Victim Characteristics Analysis</a:t>
            </a:r>
            <a:endParaRPr b="0" i="0" sz="2400" u="none" cap="none" strike="noStrike">
              <a:solidFill>
                <a:schemeClr val="dk1"/>
              </a:solidFill>
              <a:latin typeface="Calibri"/>
              <a:ea typeface="Calibri"/>
              <a:cs typeface="Calibri"/>
              <a:sym typeface="Calibri"/>
            </a:endParaRPr>
          </a:p>
        </p:txBody>
      </p:sp>
      <p:sp>
        <p:nvSpPr>
          <p:cNvPr id="308" name="Google Shape;308;p36"/>
          <p:cNvSpPr/>
          <p:nvPr/>
        </p:nvSpPr>
        <p:spPr>
          <a:xfrm>
            <a:off x="228600" y="566928"/>
            <a:ext cx="8686800" cy="64008"/>
          </a:xfrm>
          <a:prstGeom prst="rect">
            <a:avLst/>
          </a:prstGeom>
          <a:solidFill>
            <a:srgbClr val="F0C132"/>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p36"/>
          <p:cNvSpPr/>
          <p:nvPr/>
        </p:nvSpPr>
        <p:spPr>
          <a:xfrm>
            <a:off x="109728" y="4709160"/>
            <a:ext cx="320040" cy="32004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p36"/>
          <p:cNvSpPr/>
          <p:nvPr/>
        </p:nvSpPr>
        <p:spPr>
          <a:xfrm>
            <a:off x="109728" y="4709160"/>
            <a:ext cx="32004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311" name="Google Shape;311;p36"/>
          <p:cNvSpPr/>
          <p:nvPr/>
        </p:nvSpPr>
        <p:spPr>
          <a:xfrm>
            <a:off x="457200" y="4754880"/>
            <a:ext cx="1371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000"/>
              <a:buFont typeface="Calibri"/>
              <a:buNone/>
            </a:pPr>
            <a:r>
              <a:rPr b="1" i="0" lang="en" sz="1000" u="none" cap="none" strike="noStrike">
                <a:solidFill>
                  <a:srgbClr val="006747"/>
                </a:solidFill>
                <a:latin typeface="Calibri"/>
                <a:ea typeface="Calibri"/>
                <a:cs typeface="Calibri"/>
                <a:sym typeface="Calibri"/>
              </a:rPr>
              <a:t>Clarkson university</a:t>
            </a:r>
            <a:endParaRPr b="0" i="0" sz="1000" u="none" cap="none" strike="noStrike">
              <a:solidFill>
                <a:schemeClr val="dk1"/>
              </a:solidFill>
              <a:latin typeface="Calibri"/>
              <a:ea typeface="Calibri"/>
              <a:cs typeface="Calibri"/>
              <a:sym typeface="Calibri"/>
            </a:endParaRPr>
          </a:p>
        </p:txBody>
      </p:sp>
      <p:sp>
        <p:nvSpPr>
          <p:cNvPr id="312" name="Google Shape;312;p36"/>
          <p:cNvSpPr/>
          <p:nvPr/>
        </p:nvSpPr>
        <p:spPr>
          <a:xfrm>
            <a:off x="73152" y="4754880"/>
            <a:ext cx="2286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1000"/>
              <a:buFont typeface="Calibri"/>
              <a:buNone/>
            </a:pPr>
            <a:r>
              <a:rPr b="0" i="0" lang="en" sz="1000" u="none" cap="none" strike="noStrike">
                <a:solidFill>
                  <a:srgbClr val="006747"/>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
        <p:nvSpPr>
          <p:cNvPr id="313" name="Google Shape;313;p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14" name="Google Shape;314;p36"/>
          <p:cNvPicPr preferRelativeResize="0"/>
          <p:nvPr/>
        </p:nvPicPr>
        <p:blipFill rotWithShape="1">
          <a:blip r:embed="rId3">
            <a:alphaModFix/>
          </a:blip>
          <a:srcRect b="0" l="0" r="0" t="0"/>
          <a:stretch/>
        </p:blipFill>
        <p:spPr>
          <a:xfrm>
            <a:off x="4738838" y="725850"/>
            <a:ext cx="4139750" cy="2210225"/>
          </a:xfrm>
          <a:prstGeom prst="rect">
            <a:avLst/>
          </a:prstGeom>
          <a:noFill/>
          <a:ln>
            <a:noFill/>
          </a:ln>
        </p:spPr>
      </p:pic>
      <p:graphicFrame>
        <p:nvGraphicFramePr>
          <p:cNvPr id="315" name="Google Shape;315;p36"/>
          <p:cNvGraphicFramePr/>
          <p:nvPr/>
        </p:nvGraphicFramePr>
        <p:xfrm>
          <a:off x="228600" y="1210975"/>
          <a:ext cx="3000000" cy="3000000"/>
        </p:xfrm>
        <a:graphic>
          <a:graphicData uri="http://schemas.openxmlformats.org/drawingml/2006/table">
            <a:tbl>
              <a:tblPr>
                <a:noFill/>
                <a:tableStyleId>{5B8D42D4-010C-4178-A406-B1E3E716C331}</a:tableStyleId>
              </a:tblPr>
              <a:tblGrid>
                <a:gridCol w="1120600"/>
                <a:gridCol w="1307550"/>
                <a:gridCol w="1022400"/>
                <a:gridCol w="830675"/>
              </a:tblGrid>
              <a:tr h="532850">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solidFill>
                            <a:srgbClr val="FFFFFF"/>
                          </a:solidFill>
                          <a:latin typeface="Calibri"/>
                          <a:ea typeface="Calibri"/>
                          <a:cs typeface="Calibri"/>
                          <a:sym typeface="Calibri"/>
                        </a:rPr>
                        <a:t>Descent Group</a:t>
                      </a:r>
                      <a:endParaRPr b="1" sz="1100" u="none" cap="none" strike="noStrike">
                        <a:solidFill>
                          <a:srgbClr val="FFFFFF"/>
                        </a:solidFill>
                        <a:latin typeface="Calibri"/>
                        <a:ea typeface="Calibri"/>
                        <a:cs typeface="Calibri"/>
                        <a:sym typeface="Calibri"/>
                      </a:endParaRPr>
                    </a:p>
                  </a:txBody>
                  <a:tcPr marT="91425" marB="91425" marR="68575" marL="68575">
                    <a:lnL cap="flat" cmpd="sng" w="12200">
                      <a:solidFill>
                        <a:srgbClr val="006747"/>
                      </a:solidFill>
                      <a:prstDash val="solid"/>
                      <a:round/>
                      <a:headEnd len="sm" w="sm" type="none"/>
                      <a:tailEnd len="sm" w="sm" type="none"/>
                    </a:lnL>
                    <a:lnR cap="flat" cmpd="sng" w="12200">
                      <a:solidFill>
                        <a:srgbClr val="006747"/>
                      </a:solidFill>
                      <a:prstDash val="solid"/>
                      <a:round/>
                      <a:headEnd len="sm" w="sm" type="none"/>
                      <a:tailEnd len="sm" w="sm" type="none"/>
                    </a:lnR>
                    <a:lnT cap="flat" cmpd="sng" w="12200">
                      <a:solidFill>
                        <a:srgbClr val="006747"/>
                      </a:solidFill>
                      <a:prstDash val="solid"/>
                      <a:round/>
                      <a:headEnd len="sm" w="sm" type="none"/>
                      <a:tailEnd len="sm" w="sm" type="none"/>
                    </a:lnT>
                    <a:lnB cap="flat" cmpd="sng" w="12200">
                      <a:solidFill>
                        <a:srgbClr val="006747"/>
                      </a:solidFill>
                      <a:prstDash val="solid"/>
                      <a:round/>
                      <a:headEnd len="sm" w="sm" type="none"/>
                      <a:tailEnd len="sm" w="sm" type="none"/>
                    </a:lnB>
                    <a:solidFill>
                      <a:srgbClr val="006747"/>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solidFill>
                            <a:srgbClr val="FFFFFF"/>
                          </a:solidFill>
                          <a:latin typeface="Calibri"/>
                          <a:ea typeface="Calibri"/>
                          <a:cs typeface="Calibri"/>
                          <a:sym typeface="Calibri"/>
                        </a:rPr>
                        <a:t>Population%</a:t>
                      </a:r>
                      <a:endParaRPr b="1" sz="1100" u="none" cap="none" strike="noStrike">
                        <a:solidFill>
                          <a:srgbClr val="FFFFFF"/>
                        </a:solidFill>
                        <a:latin typeface="Calibri"/>
                        <a:ea typeface="Calibri"/>
                        <a:cs typeface="Calibri"/>
                        <a:sym typeface="Calibri"/>
                      </a:endParaRPr>
                    </a:p>
                  </a:txBody>
                  <a:tcPr marT="91425" marB="91425" marR="68575" marL="68575">
                    <a:lnL cap="flat" cmpd="sng" w="12200">
                      <a:solidFill>
                        <a:srgbClr val="006747"/>
                      </a:solidFill>
                      <a:prstDash val="solid"/>
                      <a:round/>
                      <a:headEnd len="sm" w="sm" type="none"/>
                      <a:tailEnd len="sm" w="sm" type="none"/>
                    </a:lnL>
                    <a:lnR cap="flat" cmpd="sng" w="12200">
                      <a:solidFill>
                        <a:srgbClr val="006747"/>
                      </a:solidFill>
                      <a:prstDash val="solid"/>
                      <a:round/>
                      <a:headEnd len="sm" w="sm" type="none"/>
                      <a:tailEnd len="sm" w="sm" type="none"/>
                    </a:lnR>
                    <a:lnT cap="flat" cmpd="sng" w="12200">
                      <a:solidFill>
                        <a:srgbClr val="006747"/>
                      </a:solidFill>
                      <a:prstDash val="solid"/>
                      <a:round/>
                      <a:headEnd len="sm" w="sm" type="none"/>
                      <a:tailEnd len="sm" w="sm" type="none"/>
                    </a:lnT>
                    <a:lnB cap="flat" cmpd="sng" w="12200">
                      <a:solidFill>
                        <a:srgbClr val="006747"/>
                      </a:solidFill>
                      <a:prstDash val="solid"/>
                      <a:round/>
                      <a:headEnd len="sm" w="sm" type="none"/>
                      <a:tailEnd len="sm" w="sm" type="none"/>
                    </a:lnB>
                    <a:solidFill>
                      <a:srgbClr val="006747"/>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solidFill>
                            <a:srgbClr val="FFFFFF"/>
                          </a:solidFill>
                          <a:latin typeface="Calibri"/>
                          <a:ea typeface="Calibri"/>
                          <a:cs typeface="Calibri"/>
                          <a:sym typeface="Calibri"/>
                        </a:rPr>
                        <a:t>Victim%</a:t>
                      </a:r>
                      <a:endParaRPr b="1" sz="1100" u="none" cap="none" strike="noStrike">
                        <a:solidFill>
                          <a:srgbClr val="FFFFFF"/>
                        </a:solidFill>
                        <a:latin typeface="Calibri"/>
                        <a:ea typeface="Calibri"/>
                        <a:cs typeface="Calibri"/>
                        <a:sym typeface="Calibri"/>
                      </a:endParaRPr>
                    </a:p>
                  </a:txBody>
                  <a:tcPr marT="91425" marB="91425" marR="68575" marL="68575">
                    <a:lnL cap="flat" cmpd="sng" w="12200">
                      <a:solidFill>
                        <a:srgbClr val="006747"/>
                      </a:solidFill>
                      <a:prstDash val="solid"/>
                      <a:round/>
                      <a:headEnd len="sm" w="sm" type="none"/>
                      <a:tailEnd len="sm" w="sm" type="none"/>
                    </a:lnL>
                    <a:lnR cap="flat" cmpd="sng" w="12200">
                      <a:solidFill>
                        <a:srgbClr val="006747"/>
                      </a:solidFill>
                      <a:prstDash val="solid"/>
                      <a:round/>
                      <a:headEnd len="sm" w="sm" type="none"/>
                      <a:tailEnd len="sm" w="sm" type="none"/>
                    </a:lnR>
                    <a:lnT cap="flat" cmpd="sng" w="12200">
                      <a:solidFill>
                        <a:srgbClr val="006747"/>
                      </a:solidFill>
                      <a:prstDash val="solid"/>
                      <a:round/>
                      <a:headEnd len="sm" w="sm" type="none"/>
                      <a:tailEnd len="sm" w="sm" type="none"/>
                    </a:lnT>
                    <a:lnB cap="flat" cmpd="sng" w="12200">
                      <a:solidFill>
                        <a:srgbClr val="006747"/>
                      </a:solidFill>
                      <a:prstDash val="solid"/>
                      <a:round/>
                      <a:headEnd len="sm" w="sm" type="none"/>
                      <a:tailEnd len="sm" w="sm" type="none"/>
                    </a:lnB>
                    <a:solidFill>
                      <a:srgbClr val="006747"/>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solidFill>
                            <a:srgbClr val="FFFFFF"/>
                          </a:solidFill>
                          <a:latin typeface="Calibri"/>
                          <a:ea typeface="Calibri"/>
                          <a:cs typeface="Calibri"/>
                          <a:sym typeface="Calibri"/>
                        </a:rPr>
                        <a:t>Ratio</a:t>
                      </a:r>
                      <a:endParaRPr b="1" sz="1100" u="none" cap="none" strike="noStrike">
                        <a:solidFill>
                          <a:srgbClr val="FFFFFF"/>
                        </a:solidFill>
                        <a:latin typeface="Calibri"/>
                        <a:ea typeface="Calibri"/>
                        <a:cs typeface="Calibri"/>
                        <a:sym typeface="Calibri"/>
                      </a:endParaRPr>
                    </a:p>
                  </a:txBody>
                  <a:tcPr marT="91425" marB="91425" marR="68575" marL="68575">
                    <a:lnL cap="flat" cmpd="sng" w="12200">
                      <a:solidFill>
                        <a:srgbClr val="006747"/>
                      </a:solidFill>
                      <a:prstDash val="solid"/>
                      <a:round/>
                      <a:headEnd len="sm" w="sm" type="none"/>
                      <a:tailEnd len="sm" w="sm" type="none"/>
                    </a:lnL>
                    <a:lnR cap="flat" cmpd="sng" w="12200">
                      <a:solidFill>
                        <a:srgbClr val="006747"/>
                      </a:solidFill>
                      <a:prstDash val="solid"/>
                      <a:round/>
                      <a:headEnd len="sm" w="sm" type="none"/>
                      <a:tailEnd len="sm" w="sm" type="none"/>
                    </a:lnR>
                    <a:lnT cap="flat" cmpd="sng" w="12200">
                      <a:solidFill>
                        <a:srgbClr val="006747"/>
                      </a:solidFill>
                      <a:prstDash val="solid"/>
                      <a:round/>
                      <a:headEnd len="sm" w="sm" type="none"/>
                      <a:tailEnd len="sm" w="sm" type="none"/>
                    </a:lnT>
                    <a:lnB cap="flat" cmpd="sng" w="12200">
                      <a:solidFill>
                        <a:srgbClr val="006747"/>
                      </a:solidFill>
                      <a:prstDash val="solid"/>
                      <a:round/>
                      <a:headEnd len="sm" w="sm" type="none"/>
                      <a:tailEnd len="sm" w="sm" type="none"/>
                    </a:lnB>
                    <a:solidFill>
                      <a:srgbClr val="006747"/>
                    </a:solidFill>
                  </a:tcPr>
                </a:tc>
              </a:tr>
              <a:tr h="509725">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Hispanic</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rgbClr val="006747"/>
                      </a:solidFill>
                      <a:prstDash val="solid"/>
                      <a:round/>
                      <a:headEnd len="sm" w="sm" type="none"/>
                      <a:tailEnd len="sm" w="sm" type="none"/>
                    </a:lnT>
                    <a:lnB cap="flat" cmpd="sng" w="12200">
                      <a:solidFill>
                        <a:schemeClr val="lt2"/>
                      </a:solidFill>
                      <a:prstDash val="solid"/>
                      <a:round/>
                      <a:headEnd len="sm" w="sm" type="none"/>
                      <a:tailEnd len="sm" w="sm" type="none"/>
                    </a:lnB>
                    <a:solidFill>
                      <a:srgbClr val="E8F5E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48.8</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rgbClr val="006747"/>
                      </a:solidFill>
                      <a:prstDash val="solid"/>
                      <a:round/>
                      <a:headEnd len="sm" w="sm" type="none"/>
                      <a:tailEnd len="sm" w="sm" type="none"/>
                    </a:lnT>
                    <a:lnB cap="flat" cmpd="sng" w="12200">
                      <a:solidFill>
                        <a:schemeClr val="lt2"/>
                      </a:solidFill>
                      <a:prstDash val="solid"/>
                      <a:round/>
                      <a:headEnd len="sm" w="sm" type="none"/>
                      <a:tailEnd len="sm" w="sm" type="none"/>
                    </a:lnB>
                    <a:solidFill>
                      <a:srgbClr val="E8F5E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39.6</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rgbClr val="006747"/>
                      </a:solidFill>
                      <a:prstDash val="solid"/>
                      <a:round/>
                      <a:headEnd len="sm" w="sm" type="none"/>
                      <a:tailEnd len="sm" w="sm" type="none"/>
                    </a:lnT>
                    <a:lnB cap="flat" cmpd="sng" w="12200">
                      <a:solidFill>
                        <a:schemeClr val="lt2"/>
                      </a:solidFill>
                      <a:prstDash val="solid"/>
                      <a:round/>
                      <a:headEnd len="sm" w="sm" type="none"/>
                      <a:tailEnd len="sm" w="sm" type="none"/>
                    </a:lnB>
                    <a:solidFill>
                      <a:srgbClr val="E8F5E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0.81</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rgbClr val="006747"/>
                      </a:solidFill>
                      <a:prstDash val="solid"/>
                      <a:round/>
                      <a:headEnd len="sm" w="sm" type="none"/>
                      <a:tailEnd len="sm" w="sm" type="none"/>
                    </a:lnT>
                    <a:lnB cap="flat" cmpd="sng" w="12200">
                      <a:solidFill>
                        <a:schemeClr val="lt2"/>
                      </a:solidFill>
                      <a:prstDash val="solid"/>
                      <a:round/>
                      <a:headEnd len="sm" w="sm" type="none"/>
                      <a:tailEnd len="sm" w="sm" type="none"/>
                    </a:lnB>
                    <a:solidFill>
                      <a:srgbClr val="E8F5E9"/>
                    </a:solidFill>
                  </a:tcPr>
                </a:tc>
              </a:tr>
              <a:tr h="509725">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white</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C8E8D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25</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C8E8D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25.4</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C8E8D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1.01</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C8E8DF"/>
                    </a:solidFill>
                  </a:tcPr>
                </a:tc>
              </a:tr>
              <a:tr h="509725">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Black</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E8F5E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8.9</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E8F5E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18.2</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E8F5E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2.05</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E8F5E9"/>
                    </a:solidFill>
                  </a:tcPr>
                </a:tc>
              </a:tr>
              <a:tr h="509725">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Asian</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C8E8D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16.4</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C8E8D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5.4</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C8E8D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0.33</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C8E8DF"/>
                    </a:solidFill>
                  </a:tcPr>
                </a:tc>
              </a:tr>
              <a:tr h="5097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       Others</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E8F5E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5.6</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E8F5E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9</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E8F5E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rgbClr val="1A1A1A"/>
                          </a:solidFill>
                          <a:latin typeface="Calibri"/>
                          <a:ea typeface="Calibri"/>
                          <a:cs typeface="Calibri"/>
                          <a:sym typeface="Calibri"/>
                        </a:rPr>
                        <a:t>1.61</a:t>
                      </a:r>
                      <a:endParaRPr sz="1000" u="none" cap="none" strike="noStrike">
                        <a:solidFill>
                          <a:srgbClr val="1A1A1A"/>
                        </a:solidFill>
                        <a:latin typeface="Calibri"/>
                        <a:ea typeface="Calibri"/>
                        <a:cs typeface="Calibri"/>
                        <a:sym typeface="Calibri"/>
                      </a:endParaRPr>
                    </a:p>
                  </a:txBody>
                  <a:tcPr marT="91425" marB="91425" marR="68575" marL="68575">
                    <a:lnL cap="flat" cmpd="sng" w="12200">
                      <a:solidFill>
                        <a:schemeClr val="lt2"/>
                      </a:solidFill>
                      <a:prstDash val="solid"/>
                      <a:round/>
                      <a:headEnd len="sm" w="sm" type="none"/>
                      <a:tailEnd len="sm" w="sm" type="none"/>
                    </a:lnL>
                    <a:lnR cap="flat" cmpd="sng" w="12200">
                      <a:solidFill>
                        <a:schemeClr val="lt2"/>
                      </a:solidFill>
                      <a:prstDash val="solid"/>
                      <a:round/>
                      <a:headEnd len="sm" w="sm" type="none"/>
                      <a:tailEnd len="sm" w="sm" type="none"/>
                    </a:lnR>
                    <a:lnT cap="flat" cmpd="sng" w="12200">
                      <a:solidFill>
                        <a:schemeClr val="lt2"/>
                      </a:solidFill>
                      <a:prstDash val="solid"/>
                      <a:round/>
                      <a:headEnd len="sm" w="sm" type="none"/>
                      <a:tailEnd len="sm" w="sm" type="none"/>
                    </a:lnT>
                    <a:lnB cap="flat" cmpd="sng" w="12200">
                      <a:solidFill>
                        <a:schemeClr val="lt2"/>
                      </a:solidFill>
                      <a:prstDash val="solid"/>
                      <a:round/>
                      <a:headEnd len="sm" w="sm" type="none"/>
                      <a:tailEnd len="sm" w="sm" type="none"/>
                    </a:lnB>
                    <a:solidFill>
                      <a:srgbClr val="E8F5E9"/>
                    </a:solidFill>
                  </a:tcPr>
                </a:tc>
              </a:tr>
            </a:tbl>
          </a:graphicData>
        </a:graphic>
      </p:graphicFrame>
      <p:pic>
        <p:nvPicPr>
          <p:cNvPr id="316" name="Google Shape;316;p36"/>
          <p:cNvPicPr preferRelativeResize="0"/>
          <p:nvPr/>
        </p:nvPicPr>
        <p:blipFill>
          <a:blip r:embed="rId4">
            <a:alphaModFix/>
          </a:blip>
          <a:stretch>
            <a:fillRect/>
          </a:stretch>
        </p:blipFill>
        <p:spPr>
          <a:xfrm>
            <a:off x="4936750" y="3002475"/>
            <a:ext cx="3743925" cy="2026725"/>
          </a:xfrm>
          <a:prstGeom prst="rect">
            <a:avLst/>
          </a:prstGeom>
          <a:noFill/>
          <a:ln>
            <a:noFill/>
          </a:ln>
        </p:spPr>
      </p:pic>
      <p:sp>
        <p:nvSpPr>
          <p:cNvPr id="317" name="Google Shape;317;p36"/>
          <p:cNvSpPr/>
          <p:nvPr/>
        </p:nvSpPr>
        <p:spPr>
          <a:xfrm>
            <a:off x="228600" y="735500"/>
            <a:ext cx="4089300" cy="4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dk1"/>
              </a:solidFill>
            </a:endParaRPr>
          </a:p>
          <a:p>
            <a:pPr indent="0" lvl="0" marL="0" rtl="0" algn="ctr">
              <a:spcBef>
                <a:spcPts val="0"/>
              </a:spcBef>
              <a:spcAft>
                <a:spcPts val="0"/>
              </a:spcAft>
              <a:buNone/>
            </a:pPr>
            <a:r>
              <a:rPr lang="en" sz="1200">
                <a:solidFill>
                  <a:schemeClr val="dk1"/>
                </a:solidFill>
              </a:rPr>
              <a:t>Crime Victimization Compared to Population</a:t>
            </a:r>
            <a:endParaRPr sz="1200">
              <a:solidFill>
                <a:schemeClr val="dk1"/>
              </a:solidFill>
            </a:endParaRPr>
          </a:p>
          <a:p>
            <a:pPr indent="0" lvl="0" marL="0" rtl="0" algn="ctr">
              <a:spcBef>
                <a:spcPts val="0"/>
              </a:spcBef>
              <a:spcAft>
                <a:spcPts val="0"/>
              </a:spcAft>
              <a:buClr>
                <a:schemeClr val="dk1"/>
              </a:buClr>
              <a:buSzPts val="1100"/>
              <a:buFont typeface="Arial"/>
              <a:buNone/>
            </a:pPr>
            <a:r>
              <a:rPr lang="en" sz="1200">
                <a:solidFill>
                  <a:schemeClr val="dk1"/>
                </a:solidFill>
              </a:rPr>
              <a:t>Distribution by Descent</a:t>
            </a:r>
            <a:endParaRPr sz="1200">
              <a:solidFill>
                <a:schemeClr val="dk1"/>
              </a:solidFill>
            </a:endParaRPr>
          </a:p>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p37"/>
          <p:cNvSpPr/>
          <p:nvPr/>
        </p:nvSpPr>
        <p:spPr>
          <a:xfrm>
            <a:off x="228600" y="73152"/>
            <a:ext cx="868680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2400"/>
              <a:buFont typeface="Calibri"/>
              <a:buNone/>
            </a:pPr>
            <a:r>
              <a:rPr b="1" i="0" lang="en" sz="2400" u="none" cap="none" strike="noStrike">
                <a:solidFill>
                  <a:srgbClr val="006747"/>
                </a:solidFill>
                <a:latin typeface="Calibri"/>
                <a:ea typeface="Calibri"/>
                <a:cs typeface="Calibri"/>
                <a:sym typeface="Calibri"/>
              </a:rPr>
              <a:t>Temporal Patterns of Crime</a:t>
            </a:r>
            <a:endParaRPr b="0" i="0" sz="2400" u="none" cap="none" strike="noStrike">
              <a:solidFill>
                <a:schemeClr val="dk1"/>
              </a:solidFill>
              <a:latin typeface="Calibri"/>
              <a:ea typeface="Calibri"/>
              <a:cs typeface="Calibri"/>
              <a:sym typeface="Calibri"/>
            </a:endParaRPr>
          </a:p>
        </p:txBody>
      </p:sp>
      <p:sp>
        <p:nvSpPr>
          <p:cNvPr id="324" name="Google Shape;324;p37"/>
          <p:cNvSpPr/>
          <p:nvPr/>
        </p:nvSpPr>
        <p:spPr>
          <a:xfrm>
            <a:off x="228600" y="566928"/>
            <a:ext cx="8686800" cy="64008"/>
          </a:xfrm>
          <a:prstGeom prst="rect">
            <a:avLst/>
          </a:prstGeom>
          <a:solidFill>
            <a:srgbClr val="F0C132"/>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5" name="Google Shape;325;p37"/>
          <p:cNvSpPr/>
          <p:nvPr/>
        </p:nvSpPr>
        <p:spPr>
          <a:xfrm>
            <a:off x="109728" y="4709160"/>
            <a:ext cx="320040" cy="32004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6" name="Google Shape;326;p37"/>
          <p:cNvSpPr/>
          <p:nvPr/>
        </p:nvSpPr>
        <p:spPr>
          <a:xfrm>
            <a:off x="109728" y="4709160"/>
            <a:ext cx="32004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327" name="Google Shape;327;p37"/>
          <p:cNvSpPr/>
          <p:nvPr/>
        </p:nvSpPr>
        <p:spPr>
          <a:xfrm>
            <a:off x="457200" y="4754880"/>
            <a:ext cx="1371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000"/>
              <a:buFont typeface="Calibri"/>
              <a:buNone/>
            </a:pPr>
            <a:r>
              <a:rPr b="1" i="0" lang="en" sz="1000" u="none" cap="none" strike="noStrike">
                <a:solidFill>
                  <a:srgbClr val="006747"/>
                </a:solidFill>
                <a:latin typeface="Calibri"/>
                <a:ea typeface="Calibri"/>
                <a:cs typeface="Calibri"/>
                <a:sym typeface="Calibri"/>
              </a:rPr>
              <a:t>Clarkson university</a:t>
            </a:r>
            <a:endParaRPr b="0" i="0" sz="1000" u="none" cap="none" strike="noStrike">
              <a:solidFill>
                <a:schemeClr val="dk1"/>
              </a:solidFill>
              <a:latin typeface="Calibri"/>
              <a:ea typeface="Calibri"/>
              <a:cs typeface="Calibri"/>
              <a:sym typeface="Calibri"/>
            </a:endParaRPr>
          </a:p>
        </p:txBody>
      </p:sp>
      <p:sp>
        <p:nvSpPr>
          <p:cNvPr id="328" name="Google Shape;328;p37"/>
          <p:cNvSpPr/>
          <p:nvPr/>
        </p:nvSpPr>
        <p:spPr>
          <a:xfrm>
            <a:off x="73152" y="4754880"/>
            <a:ext cx="2286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1000"/>
              <a:buFont typeface="Calibri"/>
              <a:buNone/>
            </a:pPr>
            <a:r>
              <a:rPr b="0" i="0" lang="en" sz="1000" u="none" cap="none" strike="noStrike">
                <a:solidFill>
                  <a:srgbClr val="006747"/>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
        <p:nvSpPr>
          <p:cNvPr id="329" name="Google Shape;329;p37"/>
          <p:cNvSpPr/>
          <p:nvPr/>
        </p:nvSpPr>
        <p:spPr>
          <a:xfrm>
            <a:off x="661700" y="3328975"/>
            <a:ext cx="3281400" cy="481800"/>
          </a:xfrm>
          <a:prstGeom prst="rect">
            <a:avLst/>
          </a:prstGeom>
          <a:solidFill>
            <a:srgbClr val="FFF3E0"/>
          </a:solidFill>
          <a:ln cap="flat" cmpd="sng" w="11725">
            <a:solidFill>
              <a:srgbClr val="C0392B"/>
            </a:solidFill>
            <a:prstDash val="solid"/>
            <a:round/>
            <a:headEnd len="sm" w="sm" type="none"/>
            <a:tailEnd len="sm" w="sm" type="none"/>
          </a:ln>
        </p:spPr>
        <p:txBody>
          <a:bodyPr anchorCtr="0" anchor="t" bIns="42200" lIns="84400" spcFirstLastPara="1" rIns="84400" wrap="square" tIns="42200">
            <a:noAutofit/>
          </a:bodyPr>
          <a:lstStyle/>
          <a:p>
            <a:pPr indent="0" lvl="0" marL="0" marR="0" rtl="0" algn="l">
              <a:lnSpc>
                <a:spcPct val="100000"/>
              </a:lnSpc>
              <a:spcBef>
                <a:spcPts val="0"/>
              </a:spcBef>
              <a:spcAft>
                <a:spcPts val="0"/>
              </a:spcAft>
              <a:buClr>
                <a:srgbClr val="000000"/>
              </a:buClr>
              <a:buSzPts val="1662"/>
              <a:buFont typeface="Arial"/>
              <a:buNone/>
            </a:pPr>
            <a:r>
              <a:t/>
            </a:r>
            <a:endParaRPr b="0" i="0" sz="1662" u="none" cap="none" strike="noStrike">
              <a:solidFill>
                <a:schemeClr val="dk1"/>
              </a:solidFill>
              <a:latin typeface="Calibri"/>
              <a:ea typeface="Calibri"/>
              <a:cs typeface="Calibri"/>
              <a:sym typeface="Calibri"/>
            </a:endParaRPr>
          </a:p>
        </p:txBody>
      </p:sp>
      <p:sp>
        <p:nvSpPr>
          <p:cNvPr id="330" name="Google Shape;330;p37"/>
          <p:cNvSpPr/>
          <p:nvPr/>
        </p:nvSpPr>
        <p:spPr>
          <a:xfrm>
            <a:off x="834207" y="3452877"/>
            <a:ext cx="992100" cy="240900"/>
          </a:xfrm>
          <a:prstGeom prst="rect">
            <a:avLst/>
          </a:prstGeom>
          <a:noFill/>
          <a:ln>
            <a:noFill/>
          </a:ln>
        </p:spPr>
        <p:txBody>
          <a:bodyPr anchorCtr="0" anchor="ctr" bIns="42200" lIns="84400" spcFirstLastPara="1" rIns="84400" wrap="square" tIns="42200">
            <a:noAutofit/>
          </a:bodyPr>
          <a:lstStyle/>
          <a:p>
            <a:pPr indent="0" lvl="0" marL="0" marR="0" rtl="0" algn="l">
              <a:lnSpc>
                <a:spcPct val="100000"/>
              </a:lnSpc>
              <a:spcBef>
                <a:spcPts val="0"/>
              </a:spcBef>
              <a:spcAft>
                <a:spcPts val="0"/>
              </a:spcAft>
              <a:buClr>
                <a:srgbClr val="C0392B"/>
              </a:buClr>
              <a:buSzPts val="2400"/>
              <a:buFont typeface="Calibri"/>
              <a:buNone/>
            </a:pPr>
            <a:r>
              <a:rPr b="1" i="0" lang="en" sz="2400" u="none" cap="none" strike="noStrike">
                <a:solidFill>
                  <a:srgbClr val="C0392B"/>
                </a:solidFill>
                <a:latin typeface="Calibri"/>
                <a:ea typeface="Calibri"/>
                <a:cs typeface="Calibri"/>
                <a:sym typeface="Calibri"/>
              </a:rPr>
              <a:t>56%</a:t>
            </a:r>
            <a:endParaRPr b="0" i="0" sz="2400" u="none" cap="none" strike="noStrike">
              <a:solidFill>
                <a:schemeClr val="dk1"/>
              </a:solidFill>
              <a:latin typeface="Calibri"/>
              <a:ea typeface="Calibri"/>
              <a:cs typeface="Calibri"/>
              <a:sym typeface="Calibri"/>
            </a:endParaRPr>
          </a:p>
        </p:txBody>
      </p:sp>
      <p:sp>
        <p:nvSpPr>
          <p:cNvPr id="331" name="Google Shape;331;p37"/>
          <p:cNvSpPr/>
          <p:nvPr/>
        </p:nvSpPr>
        <p:spPr>
          <a:xfrm>
            <a:off x="1647849" y="3351225"/>
            <a:ext cx="2295300" cy="459900"/>
          </a:xfrm>
          <a:prstGeom prst="rect">
            <a:avLst/>
          </a:prstGeom>
          <a:noFill/>
          <a:ln>
            <a:noFill/>
          </a:ln>
        </p:spPr>
        <p:txBody>
          <a:bodyPr anchorCtr="0" anchor="ctr" bIns="42200" lIns="84400" spcFirstLastPara="1" rIns="84400" wrap="square" tIns="42200">
            <a:noAutofit/>
          </a:bodyPr>
          <a:lstStyle/>
          <a:p>
            <a:pPr indent="0" lvl="0" marL="0" marR="0" rtl="0" algn="l">
              <a:lnSpc>
                <a:spcPct val="100000"/>
              </a:lnSpc>
              <a:spcBef>
                <a:spcPts val="0"/>
              </a:spcBef>
              <a:spcAft>
                <a:spcPts val="0"/>
              </a:spcAft>
              <a:buClr>
                <a:srgbClr val="1A1A1A"/>
              </a:buClr>
              <a:buSzPts val="1015"/>
              <a:buFont typeface="Calibri"/>
              <a:buNone/>
            </a:pPr>
            <a:r>
              <a:rPr b="0" i="0" lang="en" sz="1015" u="none" cap="none" strike="noStrike">
                <a:solidFill>
                  <a:srgbClr val="1A1A1A"/>
                </a:solidFill>
                <a:latin typeface="Calibri"/>
                <a:ea typeface="Calibri"/>
                <a:cs typeface="Calibri"/>
                <a:sym typeface="Calibri"/>
              </a:rPr>
              <a:t>of nighttime crimes are violent</a:t>
            </a:r>
            <a:endParaRPr b="0" i="0" sz="101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A1A"/>
              </a:buClr>
              <a:buSzPts val="1015"/>
              <a:buFont typeface="Calibri"/>
              <a:buNone/>
            </a:pPr>
            <a:r>
              <a:rPr b="0" i="0" lang="en" sz="1015" u="none" cap="none" strike="noStrike">
                <a:solidFill>
                  <a:srgbClr val="1A1A1A"/>
                </a:solidFill>
                <a:latin typeface="Calibri"/>
                <a:ea typeface="Calibri"/>
                <a:cs typeface="Calibri"/>
                <a:sym typeface="Calibri"/>
              </a:rPr>
              <a:t>(vs 44% non-violent)</a:t>
            </a:r>
            <a:endParaRPr b="0" i="0" sz="1015" u="none" cap="none" strike="noStrike">
              <a:solidFill>
                <a:schemeClr val="dk1"/>
              </a:solidFill>
              <a:latin typeface="Calibri"/>
              <a:ea typeface="Calibri"/>
              <a:cs typeface="Calibri"/>
              <a:sym typeface="Calibri"/>
            </a:endParaRPr>
          </a:p>
        </p:txBody>
      </p:sp>
      <p:sp>
        <p:nvSpPr>
          <p:cNvPr id="332" name="Google Shape;332;p3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33" name="Google Shape;333;p37" title="time.png"/>
          <p:cNvPicPr preferRelativeResize="0"/>
          <p:nvPr/>
        </p:nvPicPr>
        <p:blipFill rotWithShape="1">
          <a:blip r:embed="rId3">
            <a:alphaModFix/>
          </a:blip>
          <a:srcRect b="0" l="0" r="0" t="0"/>
          <a:stretch/>
        </p:blipFill>
        <p:spPr>
          <a:xfrm>
            <a:off x="0" y="635887"/>
            <a:ext cx="4272700" cy="2605850"/>
          </a:xfrm>
          <a:prstGeom prst="rect">
            <a:avLst/>
          </a:prstGeom>
          <a:noFill/>
          <a:ln>
            <a:noFill/>
          </a:ln>
        </p:spPr>
      </p:pic>
      <p:sp>
        <p:nvSpPr>
          <p:cNvPr id="334" name="Google Shape;334;p37"/>
          <p:cNvSpPr/>
          <p:nvPr/>
        </p:nvSpPr>
        <p:spPr>
          <a:xfrm>
            <a:off x="661700" y="3920600"/>
            <a:ext cx="3281400" cy="481800"/>
          </a:xfrm>
          <a:prstGeom prst="rect">
            <a:avLst/>
          </a:prstGeom>
          <a:solidFill>
            <a:srgbClr val="CBD5E1"/>
          </a:solidFill>
          <a:ln cap="flat" cmpd="sng" w="11725">
            <a:solidFill>
              <a:schemeClr val="accent1"/>
            </a:solidFill>
            <a:prstDash val="solid"/>
            <a:round/>
            <a:headEnd len="sm" w="sm" type="none"/>
            <a:tailEnd len="sm" w="sm" type="none"/>
          </a:ln>
        </p:spPr>
        <p:txBody>
          <a:bodyPr anchorCtr="0" anchor="t" bIns="42200" lIns="84400" spcFirstLastPara="1" rIns="84400" wrap="square" tIns="42200">
            <a:noAutofit/>
          </a:bodyPr>
          <a:lstStyle/>
          <a:p>
            <a:pPr indent="0" lvl="0" marL="0" rtl="0" algn="l">
              <a:spcBef>
                <a:spcPts val="0"/>
              </a:spcBef>
              <a:spcAft>
                <a:spcPts val="0"/>
              </a:spcAft>
              <a:buClr>
                <a:srgbClr val="1A1A1A"/>
              </a:buClr>
              <a:buSzPts val="1015"/>
              <a:buFont typeface="Calibri"/>
              <a:buNone/>
            </a:pPr>
            <a:r>
              <a:rPr lang="en" sz="1015">
                <a:solidFill>
                  <a:srgbClr val="1A1A1A"/>
                </a:solidFill>
                <a:latin typeface="Calibri"/>
                <a:ea typeface="Calibri"/>
                <a:cs typeface="Calibri"/>
                <a:sym typeface="Calibri"/>
              </a:rPr>
              <a:t>                                             </a:t>
            </a:r>
            <a:endParaRPr sz="1015">
              <a:solidFill>
                <a:schemeClr val="dk1"/>
              </a:solidFill>
              <a:latin typeface="Calibri"/>
              <a:ea typeface="Calibri"/>
              <a:cs typeface="Calibri"/>
              <a:sym typeface="Calibri"/>
            </a:endParaRPr>
          </a:p>
        </p:txBody>
      </p:sp>
      <p:sp>
        <p:nvSpPr>
          <p:cNvPr id="335" name="Google Shape;335;p37"/>
          <p:cNvSpPr/>
          <p:nvPr/>
        </p:nvSpPr>
        <p:spPr>
          <a:xfrm>
            <a:off x="747600" y="3964700"/>
            <a:ext cx="777600" cy="393600"/>
          </a:xfrm>
          <a:prstGeom prst="rect">
            <a:avLst/>
          </a:prstGeom>
          <a:noFill/>
          <a:ln>
            <a:noFill/>
          </a:ln>
        </p:spPr>
        <p:txBody>
          <a:bodyPr anchorCtr="0" anchor="ctr" bIns="42200" lIns="84400" spcFirstLastPara="1" rIns="84400" wrap="square" tIns="42200">
            <a:noAutofit/>
          </a:bodyPr>
          <a:lstStyle/>
          <a:p>
            <a:pPr indent="0" lvl="0" marL="0" marR="0" rtl="0" algn="l">
              <a:lnSpc>
                <a:spcPct val="100000"/>
              </a:lnSpc>
              <a:spcBef>
                <a:spcPts val="0"/>
              </a:spcBef>
              <a:spcAft>
                <a:spcPts val="0"/>
              </a:spcAft>
              <a:buClr>
                <a:srgbClr val="006747"/>
              </a:buClr>
              <a:buSzPts val="2400"/>
              <a:buFont typeface="Calibri"/>
              <a:buNone/>
            </a:pPr>
            <a:r>
              <a:rPr b="1" i="0" lang="en" sz="2400" u="none" cap="none" strike="noStrike">
                <a:solidFill>
                  <a:schemeClr val="accent1"/>
                </a:solidFill>
                <a:latin typeface="Calibri"/>
                <a:ea typeface="Calibri"/>
                <a:cs typeface="Calibri"/>
                <a:sym typeface="Calibri"/>
              </a:rPr>
              <a:t>51%</a:t>
            </a:r>
            <a:endParaRPr b="0" i="0" sz="2400" u="none" cap="none" strike="noStrike">
              <a:solidFill>
                <a:schemeClr val="accent1"/>
              </a:solidFill>
              <a:latin typeface="Calibri"/>
              <a:ea typeface="Calibri"/>
              <a:cs typeface="Calibri"/>
              <a:sym typeface="Calibri"/>
            </a:endParaRPr>
          </a:p>
        </p:txBody>
      </p:sp>
      <p:sp>
        <p:nvSpPr>
          <p:cNvPr id="336" name="Google Shape;336;p37"/>
          <p:cNvSpPr/>
          <p:nvPr/>
        </p:nvSpPr>
        <p:spPr>
          <a:xfrm>
            <a:off x="6238329" y="2847180"/>
            <a:ext cx="1941300" cy="481800"/>
          </a:xfrm>
          <a:prstGeom prst="rect">
            <a:avLst/>
          </a:prstGeom>
          <a:noFill/>
          <a:ln>
            <a:noFill/>
          </a:ln>
        </p:spPr>
        <p:txBody>
          <a:bodyPr anchorCtr="0" anchor="ctr" bIns="42200" lIns="84400" spcFirstLastPara="1" rIns="84400" wrap="square" tIns="42200">
            <a:noAutofit/>
          </a:bodyPr>
          <a:lstStyle/>
          <a:p>
            <a:pPr indent="0" lvl="0" marL="0" marR="0" rtl="0" algn="l">
              <a:lnSpc>
                <a:spcPct val="100000"/>
              </a:lnSpc>
              <a:spcBef>
                <a:spcPts val="0"/>
              </a:spcBef>
              <a:spcAft>
                <a:spcPts val="0"/>
              </a:spcAft>
              <a:buClr>
                <a:srgbClr val="1A1A1A"/>
              </a:buClr>
              <a:buSzPts val="1015"/>
              <a:buFont typeface="Calibri"/>
              <a:buNone/>
            </a:pPr>
            <a:r>
              <a:rPr b="0" i="0" lang="en" sz="1015" u="none" cap="none" strike="noStrike">
                <a:solidFill>
                  <a:srgbClr val="1A1A1A"/>
                </a:solidFill>
                <a:latin typeface="Calibri"/>
                <a:ea typeface="Calibri"/>
                <a:cs typeface="Calibri"/>
                <a:sym typeface="Calibri"/>
              </a:rPr>
              <a:t>of daytime crimes are non-violent</a:t>
            </a:r>
            <a:endParaRPr b="0" i="0" sz="1015"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A1A"/>
              </a:buClr>
              <a:buSzPts val="1015"/>
              <a:buFont typeface="Calibri"/>
              <a:buNone/>
            </a:pPr>
            <a:r>
              <a:rPr b="0" i="0" lang="en" sz="1015" u="none" cap="none" strike="noStrike">
                <a:solidFill>
                  <a:srgbClr val="1A1A1A"/>
                </a:solidFill>
                <a:latin typeface="Calibri"/>
                <a:ea typeface="Calibri"/>
                <a:cs typeface="Calibri"/>
                <a:sym typeface="Calibri"/>
              </a:rPr>
              <a:t>(vs 49% violent)</a:t>
            </a:r>
            <a:endParaRPr b="0" i="0" sz="1015" u="none" cap="none" strike="noStrike">
              <a:solidFill>
                <a:schemeClr val="dk1"/>
              </a:solidFill>
              <a:latin typeface="Calibri"/>
              <a:ea typeface="Calibri"/>
              <a:cs typeface="Calibri"/>
              <a:sym typeface="Calibri"/>
            </a:endParaRPr>
          </a:p>
        </p:txBody>
      </p:sp>
      <p:pic>
        <p:nvPicPr>
          <p:cNvPr id="337" name="Google Shape;337;p37" title="year.png"/>
          <p:cNvPicPr preferRelativeResize="0"/>
          <p:nvPr/>
        </p:nvPicPr>
        <p:blipFill>
          <a:blip r:embed="rId4">
            <a:alphaModFix/>
          </a:blip>
          <a:stretch>
            <a:fillRect/>
          </a:stretch>
        </p:blipFill>
        <p:spPr>
          <a:xfrm>
            <a:off x="4641125" y="831250"/>
            <a:ext cx="4209000" cy="3497000"/>
          </a:xfrm>
          <a:prstGeom prst="rect">
            <a:avLst/>
          </a:prstGeom>
          <a:noFill/>
          <a:ln>
            <a:noFill/>
          </a:ln>
        </p:spPr>
      </p:pic>
      <p:sp>
        <p:nvSpPr>
          <p:cNvPr id="338" name="Google Shape;338;p37"/>
          <p:cNvSpPr/>
          <p:nvPr/>
        </p:nvSpPr>
        <p:spPr>
          <a:xfrm>
            <a:off x="1599325" y="3964625"/>
            <a:ext cx="2250600" cy="393600"/>
          </a:xfrm>
          <a:prstGeom prst="rect">
            <a:avLst/>
          </a:prstGeom>
          <a:solidFill>
            <a:srgbClr val="CBD5E1"/>
          </a:solidFill>
          <a:ln cap="flat" cmpd="sng" w="11725">
            <a:solidFill>
              <a:srgbClr val="CBD5E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rgbClr val="1A1A1A"/>
              </a:buClr>
              <a:buSzPts val="1015"/>
              <a:buFont typeface="Calibri"/>
              <a:buNone/>
            </a:pPr>
            <a:r>
              <a:rPr lang="en" sz="1015">
                <a:solidFill>
                  <a:srgbClr val="1A1A1A"/>
                </a:solidFill>
                <a:latin typeface="Calibri"/>
                <a:ea typeface="Calibri"/>
                <a:cs typeface="Calibri"/>
                <a:sym typeface="Calibri"/>
              </a:rPr>
              <a:t>of daytime crimes are non violent(vs 49% violent)</a:t>
            </a:r>
            <a:endParaRPr sz="1015">
              <a:solidFill>
                <a:schemeClr val="dk1"/>
              </a:solidFill>
              <a:latin typeface="Calibri"/>
              <a:ea typeface="Calibri"/>
              <a:cs typeface="Calibri"/>
              <a:sym typeface="Calibri"/>
            </a:endParaRPr>
          </a:p>
          <a:p>
            <a:pPr indent="0" lvl="0" marL="0" rtl="0" algn="l">
              <a:spcBef>
                <a:spcPts val="0"/>
              </a:spcBef>
              <a:spcAft>
                <a:spcPts val="0"/>
              </a:spcAft>
              <a:buClr>
                <a:srgbClr val="006747"/>
              </a:buClr>
              <a:buSzPts val="2400"/>
              <a:buFont typeface="Calibri"/>
              <a:buNone/>
            </a:pPr>
            <a:r>
              <a:t/>
            </a:r>
            <a:endParaRPr sz="11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38"/>
          <p:cNvSpPr/>
          <p:nvPr/>
        </p:nvSpPr>
        <p:spPr>
          <a:xfrm>
            <a:off x="228600" y="73152"/>
            <a:ext cx="8686800" cy="475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2400"/>
              <a:buFont typeface="Calibri"/>
              <a:buNone/>
            </a:pPr>
            <a:r>
              <a:rPr b="1" i="0" lang="en" sz="2400" u="none" cap="none" strike="noStrike">
                <a:solidFill>
                  <a:srgbClr val="006747"/>
                </a:solidFill>
                <a:latin typeface="Calibri"/>
                <a:ea typeface="Calibri"/>
                <a:cs typeface="Calibri"/>
                <a:sym typeface="Calibri"/>
              </a:rPr>
              <a:t>Statistical </a:t>
            </a:r>
            <a:r>
              <a:rPr b="1" lang="en" sz="2400">
                <a:solidFill>
                  <a:srgbClr val="006747"/>
                </a:solidFill>
                <a:latin typeface="Calibri"/>
                <a:ea typeface="Calibri"/>
                <a:cs typeface="Calibri"/>
                <a:sym typeface="Calibri"/>
              </a:rPr>
              <a:t>Analysis </a:t>
            </a:r>
            <a:endParaRPr b="0" i="0" sz="2400" u="none" cap="none" strike="noStrike">
              <a:solidFill>
                <a:schemeClr val="dk1"/>
              </a:solidFill>
              <a:latin typeface="Calibri"/>
              <a:ea typeface="Calibri"/>
              <a:cs typeface="Calibri"/>
              <a:sym typeface="Calibri"/>
            </a:endParaRPr>
          </a:p>
        </p:txBody>
      </p:sp>
      <p:sp>
        <p:nvSpPr>
          <p:cNvPr id="345" name="Google Shape;345;p38"/>
          <p:cNvSpPr/>
          <p:nvPr/>
        </p:nvSpPr>
        <p:spPr>
          <a:xfrm>
            <a:off x="228600" y="566928"/>
            <a:ext cx="8686800" cy="63900"/>
          </a:xfrm>
          <a:prstGeom prst="rect">
            <a:avLst/>
          </a:prstGeom>
          <a:solidFill>
            <a:srgbClr val="F0C132"/>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6" name="Google Shape;346;p38"/>
          <p:cNvSpPr/>
          <p:nvPr/>
        </p:nvSpPr>
        <p:spPr>
          <a:xfrm>
            <a:off x="109728" y="4709160"/>
            <a:ext cx="320100" cy="32010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7" name="Google Shape;347;p38"/>
          <p:cNvSpPr/>
          <p:nvPr/>
        </p:nvSpPr>
        <p:spPr>
          <a:xfrm>
            <a:off x="109728" y="4709160"/>
            <a:ext cx="3201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348" name="Google Shape;348;p38"/>
          <p:cNvSpPr/>
          <p:nvPr/>
        </p:nvSpPr>
        <p:spPr>
          <a:xfrm>
            <a:off x="457200" y="4754880"/>
            <a:ext cx="1371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000"/>
              <a:buFont typeface="Calibri"/>
              <a:buNone/>
            </a:pPr>
            <a:r>
              <a:rPr b="1" i="0" lang="en" sz="1000" u="none" cap="none" strike="noStrike">
                <a:solidFill>
                  <a:srgbClr val="006747"/>
                </a:solidFill>
                <a:latin typeface="Calibri"/>
                <a:ea typeface="Calibri"/>
                <a:cs typeface="Calibri"/>
                <a:sym typeface="Calibri"/>
              </a:rPr>
              <a:t>Clarkson university</a:t>
            </a:r>
            <a:endParaRPr b="0" i="0" sz="1000" u="none" cap="none" strike="noStrike">
              <a:solidFill>
                <a:schemeClr val="dk1"/>
              </a:solidFill>
              <a:latin typeface="Calibri"/>
              <a:ea typeface="Calibri"/>
              <a:cs typeface="Calibri"/>
              <a:sym typeface="Calibri"/>
            </a:endParaRPr>
          </a:p>
        </p:txBody>
      </p:sp>
      <p:sp>
        <p:nvSpPr>
          <p:cNvPr id="349" name="Google Shape;349;p38"/>
          <p:cNvSpPr/>
          <p:nvPr/>
        </p:nvSpPr>
        <p:spPr>
          <a:xfrm>
            <a:off x="73152" y="4754880"/>
            <a:ext cx="2286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1000"/>
              <a:buFont typeface="Calibri"/>
              <a:buNone/>
            </a:pPr>
            <a:r>
              <a:rPr b="0" i="0" lang="en" sz="1000" u="none" cap="none" strike="noStrike">
                <a:solidFill>
                  <a:srgbClr val="006747"/>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350" name="Google Shape;350;p38"/>
          <p:cNvSpPr/>
          <p:nvPr/>
        </p:nvSpPr>
        <p:spPr>
          <a:xfrm>
            <a:off x="228600" y="2816351"/>
            <a:ext cx="3634800" cy="42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351" name="Google Shape;351;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aphicFrame>
        <p:nvGraphicFramePr>
          <p:cNvPr id="352" name="Google Shape;352;p38"/>
          <p:cNvGraphicFramePr/>
          <p:nvPr/>
        </p:nvGraphicFramePr>
        <p:xfrm>
          <a:off x="228563" y="837575"/>
          <a:ext cx="3000000" cy="3000000"/>
        </p:xfrm>
        <a:graphic>
          <a:graphicData uri="http://schemas.openxmlformats.org/drawingml/2006/table">
            <a:tbl>
              <a:tblPr>
                <a:noFill/>
                <a:tableStyleId>{3FD1D2FA-D892-4F7D-BE5E-511BBE695E4F}</a:tableStyleId>
              </a:tblPr>
              <a:tblGrid>
                <a:gridCol w="1005225"/>
                <a:gridCol w="1691900"/>
                <a:gridCol w="822725"/>
                <a:gridCol w="823575"/>
                <a:gridCol w="467525"/>
                <a:gridCol w="550600"/>
                <a:gridCol w="754475"/>
                <a:gridCol w="671150"/>
                <a:gridCol w="1956325"/>
              </a:tblGrid>
              <a:tr h="431700">
                <a:tc>
                  <a:txBody>
                    <a:bodyPr/>
                    <a:lstStyle/>
                    <a:p>
                      <a:pPr indent="0" lvl="0" marL="0" rtl="0" algn="l">
                        <a:spcBef>
                          <a:spcPts val="0"/>
                        </a:spcBef>
                        <a:spcAft>
                          <a:spcPts val="0"/>
                        </a:spcAft>
                        <a:buNone/>
                      </a:pPr>
                      <a:r>
                        <a:rPr b="1" lang="en" sz="800">
                          <a:solidFill>
                            <a:schemeClr val="lt1"/>
                          </a:solidFill>
                        </a:rPr>
                        <a:t>Test</a:t>
                      </a:r>
                      <a:endParaRPr b="1" sz="800">
                        <a:solidFill>
                          <a:schemeClr val="lt1"/>
                        </a:solidFill>
                      </a:endParaRPr>
                    </a:p>
                  </a:txBody>
                  <a:tcPr marT="91425" marB="91425" marR="91425" marL="91425">
                    <a:lnB cap="flat" cmpd="sng" w="9525">
                      <a:solidFill>
                        <a:schemeClr val="lt2"/>
                      </a:solidFill>
                      <a:prstDash val="solid"/>
                      <a:round/>
                      <a:headEnd len="sm" w="sm" type="none"/>
                      <a:tailEnd len="sm" w="sm" type="none"/>
                    </a:lnB>
                    <a:solidFill>
                      <a:srgbClr val="006747"/>
                    </a:solidFill>
                  </a:tcPr>
                </a:tc>
                <a:tc>
                  <a:txBody>
                    <a:bodyPr/>
                    <a:lstStyle/>
                    <a:p>
                      <a:pPr indent="0" lvl="0" marL="0" rtl="0" algn="l">
                        <a:spcBef>
                          <a:spcPts val="0"/>
                        </a:spcBef>
                        <a:spcAft>
                          <a:spcPts val="0"/>
                        </a:spcAft>
                        <a:buNone/>
                      </a:pPr>
                      <a:r>
                        <a:rPr b="1" lang="en" sz="800">
                          <a:solidFill>
                            <a:schemeClr val="lt1"/>
                          </a:solidFill>
                        </a:rPr>
                        <a:t>Variables</a:t>
                      </a:r>
                      <a:endParaRPr b="1" sz="800">
                        <a:solidFill>
                          <a:schemeClr val="lt1"/>
                        </a:solidFill>
                      </a:endParaRPr>
                    </a:p>
                  </a:txBody>
                  <a:tcPr marT="91425" marB="91425" marR="91425" marL="91425">
                    <a:lnB cap="flat" cmpd="sng" w="9525">
                      <a:solidFill>
                        <a:schemeClr val="lt2"/>
                      </a:solidFill>
                      <a:prstDash val="solid"/>
                      <a:round/>
                      <a:headEnd len="sm" w="sm" type="none"/>
                      <a:tailEnd len="sm" w="sm" type="none"/>
                    </a:lnB>
                    <a:solidFill>
                      <a:srgbClr val="006747"/>
                    </a:solidFill>
                  </a:tcPr>
                </a:tc>
                <a:tc>
                  <a:txBody>
                    <a:bodyPr/>
                    <a:lstStyle/>
                    <a:p>
                      <a:pPr indent="0" lvl="0" marL="0" rtl="0" algn="l">
                        <a:spcBef>
                          <a:spcPts val="0"/>
                        </a:spcBef>
                        <a:spcAft>
                          <a:spcPts val="0"/>
                        </a:spcAft>
                        <a:buNone/>
                      </a:pPr>
                      <a:r>
                        <a:rPr b="1" lang="en" sz="800">
                          <a:solidFill>
                            <a:schemeClr val="lt1"/>
                          </a:solidFill>
                        </a:rPr>
                        <a:t>Statistic</a:t>
                      </a:r>
                      <a:endParaRPr b="1" sz="800">
                        <a:solidFill>
                          <a:schemeClr val="lt1"/>
                        </a:solidFill>
                      </a:endParaRPr>
                    </a:p>
                  </a:txBody>
                  <a:tcPr marT="91425" marB="91425" marR="91425" marL="91425">
                    <a:lnB cap="flat" cmpd="sng" w="9525">
                      <a:solidFill>
                        <a:schemeClr val="lt2"/>
                      </a:solidFill>
                      <a:prstDash val="solid"/>
                      <a:round/>
                      <a:headEnd len="sm" w="sm" type="none"/>
                      <a:tailEnd len="sm" w="sm" type="none"/>
                    </a:lnB>
                    <a:solidFill>
                      <a:srgbClr val="006747"/>
                    </a:solidFill>
                  </a:tcPr>
                </a:tc>
                <a:tc>
                  <a:txBody>
                    <a:bodyPr/>
                    <a:lstStyle/>
                    <a:p>
                      <a:pPr indent="0" lvl="0" marL="0" rtl="0" algn="l">
                        <a:spcBef>
                          <a:spcPts val="0"/>
                        </a:spcBef>
                        <a:spcAft>
                          <a:spcPts val="0"/>
                        </a:spcAft>
                        <a:buNone/>
                      </a:pPr>
                      <a:r>
                        <a:rPr b="1" lang="en" sz="800">
                          <a:solidFill>
                            <a:schemeClr val="lt1"/>
                          </a:solidFill>
                        </a:rPr>
                        <a:t>Results</a:t>
                      </a:r>
                      <a:endParaRPr b="1" sz="800">
                        <a:solidFill>
                          <a:schemeClr val="lt1"/>
                        </a:solidFill>
                      </a:endParaRPr>
                    </a:p>
                  </a:txBody>
                  <a:tcPr marT="91425" marB="91425" marR="91425" marL="91425">
                    <a:lnB cap="flat" cmpd="sng" w="9525">
                      <a:solidFill>
                        <a:schemeClr val="lt2"/>
                      </a:solidFill>
                      <a:prstDash val="solid"/>
                      <a:round/>
                      <a:headEnd len="sm" w="sm" type="none"/>
                      <a:tailEnd len="sm" w="sm" type="none"/>
                    </a:lnB>
                    <a:solidFill>
                      <a:srgbClr val="006747"/>
                    </a:solidFill>
                  </a:tcPr>
                </a:tc>
                <a:tc>
                  <a:txBody>
                    <a:bodyPr/>
                    <a:lstStyle/>
                    <a:p>
                      <a:pPr indent="0" lvl="0" marL="0" rtl="0" algn="l">
                        <a:spcBef>
                          <a:spcPts val="0"/>
                        </a:spcBef>
                        <a:spcAft>
                          <a:spcPts val="0"/>
                        </a:spcAft>
                        <a:buNone/>
                      </a:pPr>
                      <a:r>
                        <a:rPr b="1" lang="en" sz="800">
                          <a:solidFill>
                            <a:schemeClr val="lt1"/>
                          </a:solidFill>
                        </a:rPr>
                        <a:t>Alpha</a:t>
                      </a:r>
                      <a:endParaRPr b="1" sz="800">
                        <a:solidFill>
                          <a:schemeClr val="lt1"/>
                        </a:solidFill>
                      </a:endParaRPr>
                    </a:p>
                  </a:txBody>
                  <a:tcPr marT="91425" marB="91425" marR="91425" marL="91425">
                    <a:lnB cap="flat" cmpd="sng" w="9525">
                      <a:solidFill>
                        <a:schemeClr val="lt2"/>
                      </a:solidFill>
                      <a:prstDash val="solid"/>
                      <a:round/>
                      <a:headEnd len="sm" w="sm" type="none"/>
                      <a:tailEnd len="sm" w="sm" type="none"/>
                    </a:lnB>
                    <a:solidFill>
                      <a:srgbClr val="006747"/>
                    </a:solidFill>
                  </a:tcPr>
                </a:tc>
                <a:tc>
                  <a:txBody>
                    <a:bodyPr/>
                    <a:lstStyle/>
                    <a:p>
                      <a:pPr indent="0" lvl="0" marL="0" rtl="0" algn="l">
                        <a:spcBef>
                          <a:spcPts val="0"/>
                        </a:spcBef>
                        <a:spcAft>
                          <a:spcPts val="0"/>
                        </a:spcAft>
                        <a:buNone/>
                      </a:pPr>
                      <a:r>
                        <a:rPr b="1" lang="en" sz="800">
                          <a:solidFill>
                            <a:schemeClr val="lt1"/>
                          </a:solidFill>
                        </a:rPr>
                        <a:t>P-Value</a:t>
                      </a:r>
                      <a:endParaRPr b="1" sz="800">
                        <a:solidFill>
                          <a:schemeClr val="lt1"/>
                        </a:solidFill>
                      </a:endParaRPr>
                    </a:p>
                  </a:txBody>
                  <a:tcPr marT="91425" marB="91425" marR="91425" marL="91425">
                    <a:lnB cap="flat" cmpd="sng" w="9525">
                      <a:solidFill>
                        <a:schemeClr val="lt2"/>
                      </a:solidFill>
                      <a:prstDash val="solid"/>
                      <a:round/>
                      <a:headEnd len="sm" w="sm" type="none"/>
                      <a:tailEnd len="sm" w="sm" type="none"/>
                    </a:lnB>
                    <a:solidFill>
                      <a:srgbClr val="006747"/>
                    </a:solidFill>
                  </a:tcPr>
                </a:tc>
                <a:tc>
                  <a:txBody>
                    <a:bodyPr/>
                    <a:lstStyle/>
                    <a:p>
                      <a:pPr indent="0" lvl="0" marL="0" rtl="0" algn="l">
                        <a:spcBef>
                          <a:spcPts val="0"/>
                        </a:spcBef>
                        <a:spcAft>
                          <a:spcPts val="0"/>
                        </a:spcAft>
                        <a:buNone/>
                      </a:pPr>
                      <a:r>
                        <a:rPr b="1" lang="en" sz="800">
                          <a:solidFill>
                            <a:schemeClr val="lt1"/>
                          </a:solidFill>
                        </a:rPr>
                        <a:t>Cramér's V</a:t>
                      </a:r>
                      <a:endParaRPr b="1" sz="800">
                        <a:solidFill>
                          <a:schemeClr val="lt1"/>
                        </a:solidFill>
                      </a:endParaRPr>
                    </a:p>
                  </a:txBody>
                  <a:tcPr marT="91425" marB="91425" marR="91425" marL="91425">
                    <a:lnB cap="flat" cmpd="sng" w="9525">
                      <a:solidFill>
                        <a:schemeClr val="lt2"/>
                      </a:solidFill>
                      <a:prstDash val="solid"/>
                      <a:round/>
                      <a:headEnd len="sm" w="sm" type="none"/>
                      <a:tailEnd len="sm" w="sm" type="none"/>
                    </a:lnB>
                    <a:solidFill>
                      <a:srgbClr val="006747"/>
                    </a:solidFill>
                  </a:tcPr>
                </a:tc>
                <a:tc>
                  <a:txBody>
                    <a:bodyPr/>
                    <a:lstStyle/>
                    <a:p>
                      <a:pPr indent="0" lvl="0" marL="0" rtl="0" algn="l">
                        <a:spcBef>
                          <a:spcPts val="0"/>
                        </a:spcBef>
                        <a:spcAft>
                          <a:spcPts val="0"/>
                        </a:spcAft>
                        <a:buNone/>
                      </a:pPr>
                      <a:r>
                        <a:rPr b="1" lang="en" sz="800">
                          <a:solidFill>
                            <a:schemeClr val="lt1"/>
                          </a:solidFill>
                        </a:rPr>
                        <a:t>Strength</a:t>
                      </a:r>
                      <a:endParaRPr b="1" sz="800">
                        <a:solidFill>
                          <a:schemeClr val="lt1"/>
                        </a:solidFill>
                      </a:endParaRPr>
                    </a:p>
                  </a:txBody>
                  <a:tcPr marT="91425" marB="91425" marR="91425" marL="91425">
                    <a:lnB cap="flat" cmpd="sng" w="9525">
                      <a:solidFill>
                        <a:schemeClr val="lt2"/>
                      </a:solidFill>
                      <a:prstDash val="solid"/>
                      <a:round/>
                      <a:headEnd len="sm" w="sm" type="none"/>
                      <a:tailEnd len="sm" w="sm" type="none"/>
                    </a:lnB>
                    <a:solidFill>
                      <a:srgbClr val="006747"/>
                    </a:solidFill>
                  </a:tcPr>
                </a:tc>
                <a:tc>
                  <a:txBody>
                    <a:bodyPr/>
                    <a:lstStyle/>
                    <a:p>
                      <a:pPr indent="0" lvl="0" marL="0" rtl="0" algn="l">
                        <a:spcBef>
                          <a:spcPts val="0"/>
                        </a:spcBef>
                        <a:spcAft>
                          <a:spcPts val="0"/>
                        </a:spcAft>
                        <a:buNone/>
                      </a:pPr>
                      <a:r>
                        <a:rPr b="1" lang="en" sz="800">
                          <a:solidFill>
                            <a:schemeClr val="lt1"/>
                          </a:solidFill>
                        </a:rPr>
                        <a:t>Conclusion</a:t>
                      </a:r>
                      <a:endParaRPr b="1" sz="800">
                        <a:solidFill>
                          <a:schemeClr val="lt1"/>
                        </a:solidFill>
                      </a:endParaRPr>
                    </a:p>
                  </a:txBody>
                  <a:tcPr marT="91425" marB="91425" marR="91425" marL="91425">
                    <a:lnB cap="flat" cmpd="sng" w="9525">
                      <a:solidFill>
                        <a:schemeClr val="lt2"/>
                      </a:solidFill>
                      <a:prstDash val="solid"/>
                      <a:round/>
                      <a:headEnd len="sm" w="sm" type="none"/>
                      <a:tailEnd len="sm" w="sm" type="none"/>
                    </a:lnB>
                    <a:solidFill>
                      <a:srgbClr val="006747"/>
                    </a:solidFill>
                  </a:tcPr>
                </a:tc>
              </a:tr>
              <a:tr h="306850">
                <a:tc>
                  <a:txBody>
                    <a:bodyPr/>
                    <a:lstStyle/>
                    <a:p>
                      <a:pPr indent="0" lvl="0" marL="0" rtl="0" algn="l">
                        <a:spcBef>
                          <a:spcPts val="0"/>
                        </a:spcBef>
                        <a:spcAft>
                          <a:spcPts val="0"/>
                        </a:spcAft>
                        <a:buNone/>
                      </a:pPr>
                      <a:r>
                        <a:rPr b="1" lang="en" sz="700"/>
                        <a:t>Chi-Square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Victim Sex vs Crime Type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χ² = 17,222</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Significant</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0.05</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&lt;</a:t>
                      </a:r>
                      <a:r>
                        <a:rPr b="1" lang="en" sz="700"/>
                        <a:t>0.001</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0.154</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Weak</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Association exists</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r>
              <a:tr h="306850">
                <a:tc>
                  <a:txBody>
                    <a:bodyPr/>
                    <a:lstStyle/>
                    <a:p>
                      <a:pPr indent="0" lvl="0" marL="0" rtl="0" algn="l">
                        <a:spcBef>
                          <a:spcPts val="0"/>
                        </a:spcBef>
                        <a:spcAft>
                          <a:spcPts val="0"/>
                        </a:spcAft>
                        <a:buNone/>
                      </a:pPr>
                      <a:r>
                        <a:rPr b="1" lang="en" sz="700"/>
                        <a:t>Chi-Square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Time of Day vs Crime Type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χ² = 3,725.7</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Significant</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0.05</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&lt;</a:t>
                      </a:r>
                      <a:r>
                        <a:rPr b="1" lang="en" sz="700"/>
                        <a:t>0.001</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0.071</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Very Weak</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Association exists</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r>
              <a:tr h="306850">
                <a:tc>
                  <a:txBody>
                    <a:bodyPr/>
                    <a:lstStyle/>
                    <a:p>
                      <a:pPr indent="0" lvl="0" marL="0" rtl="0" algn="l">
                        <a:spcBef>
                          <a:spcPts val="0"/>
                        </a:spcBef>
                        <a:spcAft>
                          <a:spcPts val="0"/>
                        </a:spcAft>
                        <a:buNone/>
                      </a:pPr>
                      <a:r>
                        <a:rPr b="1" lang="en" sz="700"/>
                        <a:t>Chi-Square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Area Name vs Crime Type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χ² = 2,801.6</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Significant</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0.05</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&lt;</a:t>
                      </a:r>
                      <a:r>
                        <a:rPr b="1" lang="en" sz="700"/>
                        <a:t>0.001</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0.106</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Weak</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Association exists</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r>
              <a:tr h="288400">
                <a:tc>
                  <a:txBody>
                    <a:bodyPr/>
                    <a:lstStyle/>
                    <a:p>
                      <a:pPr indent="0" lvl="0" marL="0" rtl="0" algn="l">
                        <a:spcBef>
                          <a:spcPts val="0"/>
                        </a:spcBef>
                        <a:spcAft>
                          <a:spcPts val="0"/>
                        </a:spcAft>
                        <a:buNone/>
                      </a:pPr>
                      <a:r>
                        <a:rPr b="1" lang="en" sz="700"/>
                        <a:t>Chi-Square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Victim Descent vs Crime Type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χ² = 10,733.9</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Significant</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0.05</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&lt;</a:t>
                      </a:r>
                      <a:r>
                        <a:rPr b="1" lang="en" sz="700"/>
                        <a:t>0.001</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0.121</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Weak</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Association exists</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r>
              <a:tr h="393475">
                <a:tc>
                  <a:txBody>
                    <a:bodyPr/>
                    <a:lstStyle/>
                    <a:p>
                      <a:pPr indent="0" lvl="0" marL="0" rtl="0" algn="l">
                        <a:spcBef>
                          <a:spcPts val="0"/>
                        </a:spcBef>
                        <a:spcAft>
                          <a:spcPts val="0"/>
                        </a:spcAft>
                        <a:buNone/>
                      </a:pPr>
                      <a:r>
                        <a:rPr b="1" lang="en" sz="700"/>
                        <a:t>Chi-Square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Premise Description vs Crime Type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χ² = 120,368.9</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Significant</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0.05</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&lt;</a:t>
                      </a:r>
                      <a:r>
                        <a:rPr b="1" lang="en" sz="700"/>
                        <a:t>0.001</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0.405</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Strong</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Association exists</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r>
              <a:tr h="306850">
                <a:tc>
                  <a:txBody>
                    <a:bodyPr/>
                    <a:lstStyle/>
                    <a:p>
                      <a:pPr indent="0" lvl="0" marL="0" rtl="0" algn="l">
                        <a:spcBef>
                          <a:spcPts val="0"/>
                        </a:spcBef>
                        <a:spcAft>
                          <a:spcPts val="0"/>
                        </a:spcAft>
                        <a:buNone/>
                      </a:pPr>
                      <a:r>
                        <a:rPr b="1" lang="en" sz="700"/>
                        <a:t>T-test</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Victim Age vs Crime Type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T = -0.44</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solidFill>
                            <a:srgbClr val="DC2626"/>
                          </a:solidFill>
                        </a:rPr>
                        <a:t>Not Significant</a:t>
                      </a:r>
                      <a:endParaRPr b="1" sz="700">
                        <a:solidFill>
                          <a:srgbClr val="DC2626"/>
                        </a:solidFill>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0.05</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0.664</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0.083</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Very Weak</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No significant association</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r>
              <a:tr h="306850">
                <a:tc>
                  <a:txBody>
                    <a:bodyPr/>
                    <a:lstStyle/>
                    <a:p>
                      <a:pPr indent="0" lvl="0" marL="0" rtl="0" algn="l">
                        <a:spcBef>
                          <a:spcPts val="0"/>
                        </a:spcBef>
                        <a:spcAft>
                          <a:spcPts val="0"/>
                        </a:spcAft>
                        <a:buNone/>
                      </a:pPr>
                      <a:r>
                        <a:rPr b="1" lang="en" sz="700"/>
                        <a:t>Shapiro–Wilk</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Victim Age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0.964</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Significant</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0.05</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&lt;</a:t>
                      </a:r>
                      <a:r>
                        <a:rPr b="1" lang="en" sz="700"/>
                        <a:t>0.001</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c>
                  <a:txBody>
                    <a:bodyPr/>
                    <a:lstStyle/>
                    <a:p>
                      <a:pPr indent="0" lvl="0" marL="0" rtl="0" algn="l">
                        <a:spcBef>
                          <a:spcPts val="0"/>
                        </a:spcBef>
                        <a:spcAft>
                          <a:spcPts val="0"/>
                        </a:spcAft>
                        <a:buNone/>
                      </a:pPr>
                      <a:r>
                        <a:rPr b="1" lang="en" sz="700"/>
                        <a:t>Victim Age is not normally distributed</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C8E8DF"/>
                    </a:solidFill>
                  </a:tcPr>
                </a:tc>
              </a:tr>
              <a:tr h="306850">
                <a:tc>
                  <a:txBody>
                    <a:bodyPr/>
                    <a:lstStyle/>
                    <a:p>
                      <a:pPr indent="0" lvl="0" marL="0" rtl="0" algn="l">
                        <a:spcBef>
                          <a:spcPts val="0"/>
                        </a:spcBef>
                        <a:spcAft>
                          <a:spcPts val="0"/>
                        </a:spcAft>
                        <a:buNone/>
                      </a:pPr>
                      <a:r>
                        <a:rPr b="1" lang="en" sz="700"/>
                        <a:t>Mann–Whitney U</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Victim Age vs Crime Type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66,925,981,546</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Significant</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0.05</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&lt;</a:t>
                      </a:r>
                      <a:r>
                        <a:rPr b="1" lang="en" sz="700"/>
                        <a:t>0.006</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c>
                  <a:txBody>
                    <a:bodyPr/>
                    <a:lstStyle/>
                    <a:p>
                      <a:pPr indent="0" lvl="0" marL="0" rtl="0" algn="l">
                        <a:spcBef>
                          <a:spcPts val="0"/>
                        </a:spcBef>
                        <a:spcAft>
                          <a:spcPts val="0"/>
                        </a:spcAft>
                        <a:buNone/>
                      </a:pPr>
                      <a:r>
                        <a:rPr b="1" lang="en" sz="700"/>
                        <a:t>Significant difference between crime type</a:t>
                      </a:r>
                      <a:endParaRPr b="1" sz="7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E8F5E9"/>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39"/>
          <p:cNvSpPr/>
          <p:nvPr/>
        </p:nvSpPr>
        <p:spPr>
          <a:xfrm>
            <a:off x="228600" y="229600"/>
            <a:ext cx="8686800" cy="696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2400"/>
              <a:buFont typeface="Calibri"/>
              <a:buNone/>
            </a:pPr>
            <a:r>
              <a:rPr b="1" i="0" lang="en" sz="2400" u="none" cap="none" strike="noStrike">
                <a:solidFill>
                  <a:srgbClr val="006747"/>
                </a:solidFill>
                <a:latin typeface="Calibri"/>
                <a:ea typeface="Calibri"/>
                <a:cs typeface="Calibri"/>
                <a:sym typeface="Calibri"/>
              </a:rPr>
              <a:t>Model Performance Results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6747"/>
              </a:buClr>
              <a:buSzPts val="2400"/>
              <a:buFont typeface="Calibri"/>
              <a:buNone/>
            </a:pPr>
            <a:r>
              <a:t/>
            </a:r>
            <a:endParaRPr b="1" i="0" sz="2400" u="none" cap="none" strike="noStrike">
              <a:solidFill>
                <a:srgbClr val="006747"/>
              </a:solidFill>
              <a:latin typeface="Calibri"/>
              <a:ea typeface="Calibri"/>
              <a:cs typeface="Calibri"/>
              <a:sym typeface="Calibri"/>
            </a:endParaRPr>
          </a:p>
        </p:txBody>
      </p:sp>
      <p:sp>
        <p:nvSpPr>
          <p:cNvPr id="359" name="Google Shape;359;p39"/>
          <p:cNvSpPr/>
          <p:nvPr/>
        </p:nvSpPr>
        <p:spPr>
          <a:xfrm>
            <a:off x="228600" y="566928"/>
            <a:ext cx="8686800" cy="64008"/>
          </a:xfrm>
          <a:prstGeom prst="rect">
            <a:avLst/>
          </a:prstGeom>
          <a:solidFill>
            <a:srgbClr val="F0C132"/>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0" name="Google Shape;360;p39"/>
          <p:cNvSpPr/>
          <p:nvPr/>
        </p:nvSpPr>
        <p:spPr>
          <a:xfrm>
            <a:off x="109728" y="4709160"/>
            <a:ext cx="320040" cy="32004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39"/>
          <p:cNvSpPr/>
          <p:nvPr/>
        </p:nvSpPr>
        <p:spPr>
          <a:xfrm>
            <a:off x="109728" y="4709160"/>
            <a:ext cx="32004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362" name="Google Shape;362;p39"/>
          <p:cNvSpPr/>
          <p:nvPr/>
        </p:nvSpPr>
        <p:spPr>
          <a:xfrm>
            <a:off x="73152" y="4754880"/>
            <a:ext cx="2286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1000"/>
              <a:buFont typeface="Calibri"/>
              <a:buNone/>
            </a:pPr>
            <a:r>
              <a:rPr b="0" i="0" lang="en" sz="1000" u="none" cap="none" strike="noStrike">
                <a:solidFill>
                  <a:srgbClr val="006747"/>
                </a:solidFill>
                <a:latin typeface="Calibri"/>
                <a:ea typeface="Calibri"/>
                <a:cs typeface="Calibri"/>
                <a:sym typeface="Calibri"/>
              </a:rPr>
              <a:t>11</a:t>
            </a:r>
            <a:endParaRPr b="0" i="0" sz="1000" u="none" cap="none" strike="noStrike">
              <a:solidFill>
                <a:schemeClr val="dk1"/>
              </a:solidFill>
              <a:latin typeface="Calibri"/>
              <a:ea typeface="Calibri"/>
              <a:cs typeface="Calibri"/>
              <a:sym typeface="Calibri"/>
            </a:endParaRPr>
          </a:p>
        </p:txBody>
      </p:sp>
      <p:graphicFrame>
        <p:nvGraphicFramePr>
          <p:cNvPr id="363" name="Google Shape;363;p39"/>
          <p:cNvGraphicFramePr/>
          <p:nvPr/>
        </p:nvGraphicFramePr>
        <p:xfrm>
          <a:off x="191080" y="701682"/>
          <a:ext cx="3000000" cy="3000000"/>
        </p:xfrm>
        <a:graphic>
          <a:graphicData uri="http://schemas.openxmlformats.org/drawingml/2006/table">
            <a:tbl>
              <a:tblPr>
                <a:noFill/>
                <a:tableStyleId>{5B8D42D4-010C-4178-A406-B1E3E716C331}</a:tableStyleId>
              </a:tblPr>
              <a:tblGrid>
                <a:gridCol w="2101450"/>
                <a:gridCol w="907550"/>
                <a:gridCol w="907550"/>
                <a:gridCol w="859675"/>
                <a:gridCol w="787375"/>
                <a:gridCol w="907550"/>
                <a:gridCol w="859675"/>
                <a:gridCol w="1355975"/>
              </a:tblGrid>
              <a:tr h="403850">
                <a:tc>
                  <a:txBody>
                    <a:bodyPr/>
                    <a:lstStyle/>
                    <a:p>
                      <a:pPr indent="0" lvl="0" marL="0" marR="0" rtl="0" algn="ctr">
                        <a:lnSpc>
                          <a:spcPct val="100000"/>
                        </a:lnSpc>
                        <a:spcBef>
                          <a:spcPts val="0"/>
                        </a:spcBef>
                        <a:spcAft>
                          <a:spcPts val="0"/>
                        </a:spcAft>
                        <a:buClr>
                          <a:srgbClr val="FFFFFF"/>
                        </a:buClr>
                        <a:buSzPts val="1100"/>
                        <a:buFont typeface="Calibri"/>
                        <a:buNone/>
                      </a:pPr>
                      <a:r>
                        <a:rPr b="1" lang="en" sz="1100" u="none" cap="none" strike="noStrike">
                          <a:solidFill>
                            <a:srgbClr val="FFFFFF"/>
                          </a:solidFill>
                          <a:latin typeface="Calibri"/>
                          <a:ea typeface="Calibri"/>
                          <a:cs typeface="Calibri"/>
                          <a:sym typeface="Calibri"/>
                        </a:rPr>
                        <a:t>Model</a:t>
                      </a:r>
                      <a:endParaRPr sz="1100" u="none" cap="none" strike="noStrike">
                        <a:latin typeface="Calibri"/>
                        <a:ea typeface="Calibri"/>
                        <a:cs typeface="Calibri"/>
                        <a:sym typeface="Calibri"/>
                      </a:endParaRPr>
                    </a:p>
                  </a:txBody>
                  <a:tcPr marT="50800" marB="50800" marR="76200" marL="762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6747"/>
                    </a:solidFill>
                  </a:tcPr>
                </a:tc>
                <a:tc>
                  <a:txBody>
                    <a:bodyPr/>
                    <a:lstStyle/>
                    <a:p>
                      <a:pPr indent="0" lvl="0" marL="0" marR="0" rtl="0" algn="ctr">
                        <a:lnSpc>
                          <a:spcPct val="100000"/>
                        </a:lnSpc>
                        <a:spcBef>
                          <a:spcPts val="0"/>
                        </a:spcBef>
                        <a:spcAft>
                          <a:spcPts val="0"/>
                        </a:spcAft>
                        <a:buClr>
                          <a:srgbClr val="FFFFFF"/>
                        </a:buClr>
                        <a:buSzPts val="1100"/>
                        <a:buFont typeface="Calibri"/>
                        <a:buNone/>
                      </a:pPr>
                      <a:r>
                        <a:rPr b="1" lang="en" sz="1100" u="none" cap="none" strike="noStrike">
                          <a:solidFill>
                            <a:srgbClr val="FFFFFF"/>
                          </a:solidFill>
                          <a:latin typeface="Calibri"/>
                          <a:ea typeface="Calibri"/>
                          <a:cs typeface="Calibri"/>
                          <a:sym typeface="Calibri"/>
                        </a:rPr>
                        <a:t>Accuracy</a:t>
                      </a:r>
                      <a:endParaRPr sz="1100" u="none" cap="none" strike="noStrike">
                        <a:latin typeface="Calibri"/>
                        <a:ea typeface="Calibri"/>
                        <a:cs typeface="Calibri"/>
                        <a:sym typeface="Calibri"/>
                      </a:endParaRPr>
                    </a:p>
                  </a:txBody>
                  <a:tcPr marT="50800" marB="50800" marR="76200" marL="762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6747"/>
                    </a:solidFill>
                  </a:tcPr>
                </a:tc>
                <a:tc>
                  <a:txBody>
                    <a:bodyPr/>
                    <a:lstStyle/>
                    <a:p>
                      <a:pPr indent="0" lvl="0" marL="0" marR="0" rtl="0" algn="ctr">
                        <a:lnSpc>
                          <a:spcPct val="100000"/>
                        </a:lnSpc>
                        <a:spcBef>
                          <a:spcPts val="0"/>
                        </a:spcBef>
                        <a:spcAft>
                          <a:spcPts val="0"/>
                        </a:spcAft>
                        <a:buClr>
                          <a:srgbClr val="FFFFFF"/>
                        </a:buClr>
                        <a:buSzPts val="1100"/>
                        <a:buFont typeface="Calibri"/>
                        <a:buNone/>
                      </a:pPr>
                      <a:r>
                        <a:rPr b="1" lang="en" sz="1100" u="none" cap="none" strike="noStrike">
                          <a:solidFill>
                            <a:srgbClr val="FFFFFF"/>
                          </a:solidFill>
                          <a:latin typeface="Calibri"/>
                          <a:ea typeface="Calibri"/>
                          <a:cs typeface="Calibri"/>
                          <a:sym typeface="Calibri"/>
                        </a:rPr>
                        <a:t>ROC-AUC</a:t>
                      </a:r>
                      <a:endParaRPr sz="1100" u="none" cap="none" strike="noStrike">
                        <a:latin typeface="Calibri"/>
                        <a:ea typeface="Calibri"/>
                        <a:cs typeface="Calibri"/>
                        <a:sym typeface="Calibri"/>
                      </a:endParaRPr>
                    </a:p>
                  </a:txBody>
                  <a:tcPr marT="50800" marB="50800" marR="76200" marL="762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6747"/>
                    </a:solidFill>
                  </a:tcPr>
                </a:tc>
                <a:tc>
                  <a:txBody>
                    <a:bodyPr/>
                    <a:lstStyle/>
                    <a:p>
                      <a:pPr indent="0" lvl="0" marL="0" marR="0" rtl="0" algn="ctr">
                        <a:lnSpc>
                          <a:spcPct val="100000"/>
                        </a:lnSpc>
                        <a:spcBef>
                          <a:spcPts val="0"/>
                        </a:spcBef>
                        <a:spcAft>
                          <a:spcPts val="0"/>
                        </a:spcAft>
                        <a:buClr>
                          <a:srgbClr val="FFFFFF"/>
                        </a:buClr>
                        <a:buSzPts val="1100"/>
                        <a:buFont typeface="Calibri"/>
                        <a:buNone/>
                      </a:pPr>
                      <a:r>
                        <a:rPr b="1" lang="en" sz="1100" u="none" cap="none" strike="noStrike">
                          <a:solidFill>
                            <a:srgbClr val="FFFFFF"/>
                          </a:solidFill>
                          <a:latin typeface="Calibri"/>
                          <a:ea typeface="Calibri"/>
                          <a:cs typeface="Calibri"/>
                          <a:sym typeface="Calibri"/>
                        </a:rPr>
                        <a:t>CV Mean</a:t>
                      </a:r>
                      <a:endParaRPr sz="1100" u="none" cap="none" strike="noStrike">
                        <a:latin typeface="Calibri"/>
                        <a:ea typeface="Calibri"/>
                        <a:cs typeface="Calibri"/>
                        <a:sym typeface="Calibri"/>
                      </a:endParaRPr>
                    </a:p>
                  </a:txBody>
                  <a:tcPr marT="50800" marB="50800" marR="76200" marL="762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6747"/>
                    </a:solidFill>
                  </a:tcPr>
                </a:tc>
                <a:tc>
                  <a:txBody>
                    <a:bodyPr/>
                    <a:lstStyle/>
                    <a:p>
                      <a:pPr indent="0" lvl="0" marL="0" marR="0" rtl="0" algn="ctr">
                        <a:lnSpc>
                          <a:spcPct val="100000"/>
                        </a:lnSpc>
                        <a:spcBef>
                          <a:spcPts val="0"/>
                        </a:spcBef>
                        <a:spcAft>
                          <a:spcPts val="0"/>
                        </a:spcAft>
                        <a:buClr>
                          <a:srgbClr val="FFFFFF"/>
                        </a:buClr>
                        <a:buSzPts val="1100"/>
                        <a:buFont typeface="Calibri"/>
                        <a:buNone/>
                      </a:pPr>
                      <a:r>
                        <a:rPr b="1" lang="en" sz="1100" u="none" cap="none" strike="noStrike">
                          <a:solidFill>
                            <a:srgbClr val="FFFFFF"/>
                          </a:solidFill>
                          <a:latin typeface="Calibri"/>
                          <a:ea typeface="Calibri"/>
                          <a:cs typeface="Calibri"/>
                          <a:sym typeface="Calibri"/>
                        </a:rPr>
                        <a:t>CV Std</a:t>
                      </a:r>
                      <a:endParaRPr sz="1100" u="none" cap="none" strike="noStrike">
                        <a:latin typeface="Calibri"/>
                        <a:ea typeface="Calibri"/>
                        <a:cs typeface="Calibri"/>
                        <a:sym typeface="Calibri"/>
                      </a:endParaRPr>
                    </a:p>
                  </a:txBody>
                  <a:tcPr marT="50800" marB="50800" marR="76200" marL="762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6747"/>
                    </a:solidFill>
                  </a:tcPr>
                </a:tc>
                <a:tc>
                  <a:txBody>
                    <a:bodyPr/>
                    <a:lstStyle/>
                    <a:p>
                      <a:pPr indent="0" lvl="0" marL="0" marR="0" rtl="0" algn="ctr">
                        <a:lnSpc>
                          <a:spcPct val="100000"/>
                        </a:lnSpc>
                        <a:spcBef>
                          <a:spcPts val="0"/>
                        </a:spcBef>
                        <a:spcAft>
                          <a:spcPts val="0"/>
                        </a:spcAft>
                        <a:buClr>
                          <a:srgbClr val="FFFFFF"/>
                        </a:buClr>
                        <a:buSzPts val="1100"/>
                        <a:buFont typeface="Calibri"/>
                        <a:buNone/>
                      </a:pPr>
                      <a:r>
                        <a:rPr b="1" lang="en" sz="1100" u="none" cap="none" strike="noStrike">
                          <a:solidFill>
                            <a:srgbClr val="FFFFFF"/>
                          </a:solidFill>
                          <a:latin typeface="Calibri"/>
                          <a:ea typeface="Calibri"/>
                          <a:cs typeface="Calibri"/>
                          <a:sym typeface="Calibri"/>
                        </a:rPr>
                        <a:t>Precision</a:t>
                      </a:r>
                      <a:endParaRPr sz="1100" u="none" cap="none" strike="noStrike">
                        <a:latin typeface="Calibri"/>
                        <a:ea typeface="Calibri"/>
                        <a:cs typeface="Calibri"/>
                        <a:sym typeface="Calibri"/>
                      </a:endParaRPr>
                    </a:p>
                  </a:txBody>
                  <a:tcPr marT="50800" marB="50800" marR="76200" marL="762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6747"/>
                    </a:solidFill>
                  </a:tcPr>
                </a:tc>
                <a:tc>
                  <a:txBody>
                    <a:bodyPr/>
                    <a:lstStyle/>
                    <a:p>
                      <a:pPr indent="0" lvl="0" marL="0" marR="0" rtl="0" algn="ctr">
                        <a:lnSpc>
                          <a:spcPct val="100000"/>
                        </a:lnSpc>
                        <a:spcBef>
                          <a:spcPts val="0"/>
                        </a:spcBef>
                        <a:spcAft>
                          <a:spcPts val="0"/>
                        </a:spcAft>
                        <a:buClr>
                          <a:srgbClr val="FFFFFF"/>
                        </a:buClr>
                        <a:buSzPts val="1100"/>
                        <a:buFont typeface="Calibri"/>
                        <a:buNone/>
                      </a:pPr>
                      <a:r>
                        <a:rPr b="1" lang="en" sz="1100" u="none" cap="none" strike="noStrike">
                          <a:solidFill>
                            <a:srgbClr val="FFFFFF"/>
                          </a:solidFill>
                          <a:latin typeface="Calibri"/>
                          <a:ea typeface="Calibri"/>
                          <a:cs typeface="Calibri"/>
                          <a:sym typeface="Calibri"/>
                        </a:rPr>
                        <a:t>Recall</a:t>
                      </a:r>
                      <a:endParaRPr sz="1100" u="none" cap="none" strike="noStrike">
                        <a:latin typeface="Calibri"/>
                        <a:ea typeface="Calibri"/>
                        <a:cs typeface="Calibri"/>
                        <a:sym typeface="Calibri"/>
                      </a:endParaRPr>
                    </a:p>
                  </a:txBody>
                  <a:tcPr marT="50800" marB="50800" marR="76200" marL="762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6747"/>
                    </a:solidFill>
                  </a:tcPr>
                </a:tc>
                <a:tc>
                  <a:txBody>
                    <a:bodyPr/>
                    <a:lstStyle/>
                    <a:p>
                      <a:pPr indent="0" lvl="0" marL="0" marR="0" rtl="0" algn="ctr">
                        <a:lnSpc>
                          <a:spcPct val="100000"/>
                        </a:lnSpc>
                        <a:spcBef>
                          <a:spcPts val="0"/>
                        </a:spcBef>
                        <a:spcAft>
                          <a:spcPts val="0"/>
                        </a:spcAft>
                        <a:buClr>
                          <a:srgbClr val="FFFFFF"/>
                        </a:buClr>
                        <a:buSzPts val="1100"/>
                        <a:buFont typeface="Calibri"/>
                        <a:buNone/>
                      </a:pPr>
                      <a:r>
                        <a:rPr b="1" lang="en" sz="1100" u="none" cap="none" strike="noStrike">
                          <a:solidFill>
                            <a:srgbClr val="FFFFFF"/>
                          </a:solidFill>
                          <a:latin typeface="Calibri"/>
                          <a:ea typeface="Calibri"/>
                          <a:cs typeface="Calibri"/>
                          <a:sym typeface="Calibri"/>
                        </a:rPr>
                        <a:t>F1</a:t>
                      </a:r>
                      <a:endParaRPr sz="1100" u="none" cap="none" strike="noStrike">
                        <a:latin typeface="Calibri"/>
                        <a:ea typeface="Calibri"/>
                        <a:cs typeface="Calibri"/>
                        <a:sym typeface="Calibri"/>
                      </a:endParaRPr>
                    </a:p>
                  </a:txBody>
                  <a:tcPr marT="50800" marB="50800" marR="76200" marL="762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6747"/>
                    </a:solidFill>
                  </a:tcPr>
                </a:tc>
              </a:tr>
              <a:tr h="344525">
                <a:tc>
                  <a:txBody>
                    <a:bodyPr/>
                    <a:lstStyle/>
                    <a:p>
                      <a:pPr indent="0" lvl="0" marL="0" marR="0" rtl="0" algn="ctr">
                        <a:lnSpc>
                          <a:spcPct val="100000"/>
                        </a:lnSpc>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Gradient Boosting </a:t>
                      </a:r>
                      <a:endParaRPr b="1"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0.7145</a:t>
                      </a:r>
                      <a:endParaRPr b="1"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0.7847</a:t>
                      </a:r>
                      <a:endParaRPr b="1"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0.7116</a:t>
                      </a:r>
                      <a:endParaRPr b="1"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0.0069</a:t>
                      </a:r>
                      <a:endParaRPr b="1"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0.71</a:t>
                      </a:r>
                      <a:endParaRPr b="1"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0.71</a:t>
                      </a:r>
                      <a:endParaRPr b="1"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0.71</a:t>
                      </a:r>
                      <a:endParaRPr b="1"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r>
              <a:tr h="344525">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SVM</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8E8DF"/>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0.7014</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8E8DF"/>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0.7683</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8E8DF"/>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0.6999</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8E8DF"/>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0.0005</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8E8DF"/>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0.70</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8E8DF"/>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0.70</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8E8DF"/>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0.70</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8E8DF"/>
                    </a:solidFill>
                  </a:tcPr>
                </a:tc>
              </a:tr>
              <a:tr h="344525">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Logistic Regression</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0.6978</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0.7595</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0.6969</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0.0004</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0.69</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0.69</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c>
                  <a:txBody>
                    <a:bodyPr/>
                    <a:lstStyle/>
                    <a:p>
                      <a:pPr indent="0" lvl="0" marL="0" marR="0" rtl="0" algn="ctr">
                        <a:lnSpc>
                          <a:spcPct val="100000"/>
                        </a:lnSpc>
                        <a:spcBef>
                          <a:spcPts val="0"/>
                        </a:spcBef>
                        <a:spcAft>
                          <a:spcPts val="0"/>
                        </a:spcAft>
                        <a:buClr>
                          <a:srgbClr val="1A1A1A"/>
                        </a:buClr>
                        <a:buSzPts val="1000"/>
                        <a:buFont typeface="Calibri"/>
                        <a:buNone/>
                      </a:pPr>
                      <a:r>
                        <a:rPr lang="en" sz="1000" u="none" cap="none" strike="noStrike">
                          <a:solidFill>
                            <a:srgbClr val="1A1A1A"/>
                          </a:solidFill>
                          <a:latin typeface="Calibri"/>
                          <a:ea typeface="Calibri"/>
                          <a:cs typeface="Calibri"/>
                          <a:sym typeface="Calibri"/>
                        </a:rPr>
                        <a:t>0.69</a:t>
                      </a:r>
                      <a:endParaRPr sz="1000" u="none" cap="none" strike="noStrike">
                        <a:latin typeface="Calibri"/>
                        <a:ea typeface="Calibri"/>
                        <a:cs typeface="Calibri"/>
                        <a:sym typeface="Calibri"/>
                      </a:endParaRPr>
                    </a:p>
                  </a:txBody>
                  <a:tcPr marT="50800" marB="508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8F5E9"/>
                    </a:solidFill>
                  </a:tcPr>
                </a:tc>
              </a:tr>
            </a:tbl>
          </a:graphicData>
        </a:graphic>
      </p:graphicFrame>
      <p:sp>
        <p:nvSpPr>
          <p:cNvPr id="364" name="Google Shape;364;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365" name="Google Shape;365;p39"/>
          <p:cNvPicPr preferRelativeResize="0"/>
          <p:nvPr/>
        </p:nvPicPr>
        <p:blipFill rotWithShape="1">
          <a:blip r:embed="rId3">
            <a:alphaModFix/>
          </a:blip>
          <a:srcRect b="0" l="0" r="0" t="0"/>
          <a:stretch/>
        </p:blipFill>
        <p:spPr>
          <a:xfrm>
            <a:off x="73150" y="2249225"/>
            <a:ext cx="5868227" cy="2459924"/>
          </a:xfrm>
          <a:prstGeom prst="rect">
            <a:avLst/>
          </a:prstGeom>
          <a:noFill/>
          <a:ln>
            <a:noFill/>
          </a:ln>
        </p:spPr>
      </p:pic>
      <p:sp>
        <p:nvSpPr>
          <p:cNvPr id="366" name="Google Shape;366;p39"/>
          <p:cNvSpPr txBox="1"/>
          <p:nvPr/>
        </p:nvSpPr>
        <p:spPr>
          <a:xfrm>
            <a:off x="429775" y="4795950"/>
            <a:ext cx="1441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6747"/>
                </a:solidFill>
                <a:latin typeface="Calibri"/>
                <a:ea typeface="Calibri"/>
                <a:cs typeface="Calibri"/>
                <a:sym typeface="Calibri"/>
              </a:rPr>
              <a:t>Clarkson university</a:t>
            </a:r>
            <a:endParaRPr b="0" i="0" sz="1400" u="none" cap="none" strike="noStrike">
              <a:solidFill>
                <a:srgbClr val="000000"/>
              </a:solidFill>
              <a:latin typeface="Arial"/>
              <a:ea typeface="Arial"/>
              <a:cs typeface="Arial"/>
              <a:sym typeface="Arial"/>
            </a:endParaRPr>
          </a:p>
        </p:txBody>
      </p:sp>
      <p:pic>
        <p:nvPicPr>
          <p:cNvPr id="367" name="Google Shape;367;p39"/>
          <p:cNvPicPr preferRelativeResize="0"/>
          <p:nvPr/>
        </p:nvPicPr>
        <p:blipFill>
          <a:blip r:embed="rId4">
            <a:alphaModFix/>
          </a:blip>
          <a:stretch>
            <a:fillRect/>
          </a:stretch>
        </p:blipFill>
        <p:spPr>
          <a:xfrm>
            <a:off x="6013700" y="2308312"/>
            <a:ext cx="2974025" cy="2341750"/>
          </a:xfrm>
          <a:prstGeom prst="rect">
            <a:avLst/>
          </a:prstGeom>
          <a:noFill/>
          <a:ln>
            <a:noFill/>
          </a:ln>
        </p:spPr>
      </p:pic>
      <p:sp>
        <p:nvSpPr>
          <p:cNvPr id="368" name="Google Shape;368;p39"/>
          <p:cNvSpPr/>
          <p:nvPr/>
        </p:nvSpPr>
        <p:spPr>
          <a:xfrm>
            <a:off x="8877875" y="2480450"/>
            <a:ext cx="154500" cy="1202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40"/>
          <p:cNvSpPr/>
          <p:nvPr/>
        </p:nvSpPr>
        <p:spPr>
          <a:xfrm>
            <a:off x="228600" y="73152"/>
            <a:ext cx="868680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2400"/>
              <a:buFont typeface="Calibri"/>
              <a:buNone/>
            </a:pPr>
            <a:r>
              <a:rPr b="1" i="0" lang="en" sz="2400" u="none" cap="none" strike="noStrike">
                <a:solidFill>
                  <a:srgbClr val="006747"/>
                </a:solidFill>
                <a:latin typeface="Calibri"/>
                <a:ea typeface="Calibri"/>
                <a:cs typeface="Calibri"/>
                <a:sym typeface="Calibri"/>
              </a:rPr>
              <a:t>Discussion</a:t>
            </a:r>
            <a:endParaRPr b="0" i="0" sz="2400" u="none" cap="none" strike="noStrike">
              <a:solidFill>
                <a:schemeClr val="dk1"/>
              </a:solidFill>
              <a:latin typeface="Calibri"/>
              <a:ea typeface="Calibri"/>
              <a:cs typeface="Calibri"/>
              <a:sym typeface="Calibri"/>
            </a:endParaRPr>
          </a:p>
        </p:txBody>
      </p:sp>
      <p:sp>
        <p:nvSpPr>
          <p:cNvPr id="375" name="Google Shape;375;p40"/>
          <p:cNvSpPr/>
          <p:nvPr/>
        </p:nvSpPr>
        <p:spPr>
          <a:xfrm>
            <a:off x="228600" y="566928"/>
            <a:ext cx="8686800" cy="64008"/>
          </a:xfrm>
          <a:prstGeom prst="rect">
            <a:avLst/>
          </a:prstGeom>
          <a:solidFill>
            <a:srgbClr val="F0C132"/>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6" name="Google Shape;376;p40"/>
          <p:cNvSpPr/>
          <p:nvPr/>
        </p:nvSpPr>
        <p:spPr>
          <a:xfrm>
            <a:off x="109728" y="4709160"/>
            <a:ext cx="320040" cy="32004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7" name="Google Shape;377;p40"/>
          <p:cNvSpPr/>
          <p:nvPr/>
        </p:nvSpPr>
        <p:spPr>
          <a:xfrm>
            <a:off x="109728" y="4709160"/>
            <a:ext cx="32004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378" name="Google Shape;378;p40"/>
          <p:cNvSpPr/>
          <p:nvPr/>
        </p:nvSpPr>
        <p:spPr>
          <a:xfrm>
            <a:off x="457200" y="4754880"/>
            <a:ext cx="1371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000"/>
              <a:buFont typeface="Calibri"/>
              <a:buNone/>
            </a:pPr>
            <a:r>
              <a:rPr b="1" i="0" lang="en" sz="1000" u="none" cap="none" strike="noStrike">
                <a:solidFill>
                  <a:srgbClr val="006747"/>
                </a:solidFill>
                <a:latin typeface="Calibri"/>
                <a:ea typeface="Calibri"/>
                <a:cs typeface="Calibri"/>
                <a:sym typeface="Calibri"/>
              </a:rPr>
              <a:t>Clarkson university</a:t>
            </a:r>
            <a:endParaRPr b="0" i="0" sz="1000" u="none" cap="none" strike="noStrike">
              <a:solidFill>
                <a:schemeClr val="dk1"/>
              </a:solidFill>
              <a:latin typeface="Calibri"/>
              <a:ea typeface="Calibri"/>
              <a:cs typeface="Calibri"/>
              <a:sym typeface="Calibri"/>
            </a:endParaRPr>
          </a:p>
        </p:txBody>
      </p:sp>
      <p:sp>
        <p:nvSpPr>
          <p:cNvPr id="379" name="Google Shape;379;p40"/>
          <p:cNvSpPr/>
          <p:nvPr/>
        </p:nvSpPr>
        <p:spPr>
          <a:xfrm>
            <a:off x="73152" y="4754880"/>
            <a:ext cx="2286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1000"/>
              <a:buFont typeface="Calibri"/>
              <a:buNone/>
            </a:pPr>
            <a:r>
              <a:rPr b="0" i="0" lang="en" sz="1000" u="none" cap="none" strike="noStrike">
                <a:solidFill>
                  <a:srgbClr val="006747"/>
                </a:solidFill>
                <a:latin typeface="Calibri"/>
                <a:ea typeface="Calibri"/>
                <a:cs typeface="Calibri"/>
                <a:sym typeface="Calibri"/>
              </a:rPr>
              <a:t>13</a:t>
            </a:r>
            <a:endParaRPr b="0" i="0" sz="1000" u="none" cap="none" strike="noStrike">
              <a:solidFill>
                <a:schemeClr val="dk1"/>
              </a:solidFill>
              <a:latin typeface="Calibri"/>
              <a:ea typeface="Calibri"/>
              <a:cs typeface="Calibri"/>
              <a:sym typeface="Calibri"/>
            </a:endParaRPr>
          </a:p>
        </p:txBody>
      </p:sp>
      <p:sp>
        <p:nvSpPr>
          <p:cNvPr id="380" name="Google Shape;380;p40"/>
          <p:cNvSpPr/>
          <p:nvPr/>
        </p:nvSpPr>
        <p:spPr>
          <a:xfrm>
            <a:off x="228600" y="713232"/>
            <a:ext cx="4251960" cy="1234440"/>
          </a:xfrm>
          <a:prstGeom prst="rect">
            <a:avLst/>
          </a:prstGeom>
          <a:solidFill>
            <a:srgbClr val="E8F5E9"/>
          </a:solidFill>
          <a:ln cap="flat" cmpd="sng" w="9525">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1" name="Google Shape;381;p40"/>
          <p:cNvSpPr/>
          <p:nvPr/>
        </p:nvSpPr>
        <p:spPr>
          <a:xfrm>
            <a:off x="228600" y="713232"/>
            <a:ext cx="4251960" cy="274320"/>
          </a:xfrm>
          <a:prstGeom prst="rect">
            <a:avLst/>
          </a:prstGeom>
          <a:solidFill>
            <a:srgbClr val="006747"/>
          </a:solidFill>
          <a:ln cap="flat" cmpd="sng" w="12700">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2" name="Google Shape;382;p40"/>
          <p:cNvSpPr/>
          <p:nvPr/>
        </p:nvSpPr>
        <p:spPr>
          <a:xfrm>
            <a:off x="320040" y="713232"/>
            <a:ext cx="40690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Calibri"/>
              <a:buNone/>
            </a:pPr>
            <a:r>
              <a:rPr b="1" i="0" lang="en" sz="1050" u="none" cap="none" strike="noStrike">
                <a:solidFill>
                  <a:srgbClr val="FFFFFF"/>
                </a:solidFill>
                <a:latin typeface="Calibri"/>
                <a:ea typeface="Calibri"/>
                <a:cs typeface="Calibri"/>
                <a:sym typeface="Calibri"/>
              </a:rPr>
              <a:t>Research Question Answer</a:t>
            </a:r>
            <a:endParaRPr b="0" i="0" sz="1050" u="none" cap="none" strike="noStrike">
              <a:solidFill>
                <a:schemeClr val="dk1"/>
              </a:solidFill>
              <a:latin typeface="Calibri"/>
              <a:ea typeface="Calibri"/>
              <a:cs typeface="Calibri"/>
              <a:sym typeface="Calibri"/>
            </a:endParaRPr>
          </a:p>
        </p:txBody>
      </p:sp>
      <p:sp>
        <p:nvSpPr>
          <p:cNvPr id="383" name="Google Shape;383;p40"/>
          <p:cNvSpPr/>
          <p:nvPr/>
        </p:nvSpPr>
        <p:spPr>
          <a:xfrm>
            <a:off x="320040" y="1005840"/>
            <a:ext cx="4069080" cy="868680"/>
          </a:xfrm>
          <a:prstGeom prst="rect">
            <a:avLst/>
          </a:prstGeom>
          <a:solidFill>
            <a:srgbClr val="E8F5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A1A"/>
              </a:buClr>
              <a:buSzPts val="1000"/>
              <a:buFont typeface="Calibri"/>
              <a:buNone/>
            </a:pPr>
            <a:r>
              <a:rPr b="0" i="0" lang="en" sz="1000" u="none" cap="none" strike="noStrike">
                <a:solidFill>
                  <a:srgbClr val="1A1A1A"/>
                </a:solidFill>
                <a:latin typeface="Calibri"/>
                <a:ea typeface="Calibri"/>
                <a:cs typeface="Calibri"/>
                <a:sym typeface="Calibri"/>
              </a:rPr>
              <a:t>Victim characteristics, location, and time predict crime type at a moderate level (accuracy 70-71%), but are limited when considered independently. This answers our research question: predictive power exists but is not high.</a:t>
            </a:r>
            <a:endParaRPr b="0" i="0" sz="1000" u="none" cap="none" strike="noStrike">
              <a:solidFill>
                <a:schemeClr val="dk1"/>
              </a:solidFill>
              <a:latin typeface="Calibri"/>
              <a:ea typeface="Calibri"/>
              <a:cs typeface="Calibri"/>
              <a:sym typeface="Calibri"/>
            </a:endParaRPr>
          </a:p>
        </p:txBody>
      </p:sp>
      <p:sp>
        <p:nvSpPr>
          <p:cNvPr id="384" name="Google Shape;384;p40"/>
          <p:cNvSpPr/>
          <p:nvPr/>
        </p:nvSpPr>
        <p:spPr>
          <a:xfrm>
            <a:off x="4663440" y="713232"/>
            <a:ext cx="4251960" cy="1234440"/>
          </a:xfrm>
          <a:prstGeom prst="rect">
            <a:avLst/>
          </a:prstGeom>
          <a:solidFill>
            <a:srgbClr val="E8F5E9"/>
          </a:solidFill>
          <a:ln cap="flat" cmpd="sng" w="9525">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5" name="Google Shape;385;p40"/>
          <p:cNvSpPr/>
          <p:nvPr/>
        </p:nvSpPr>
        <p:spPr>
          <a:xfrm>
            <a:off x="4663440" y="713232"/>
            <a:ext cx="4251960" cy="274320"/>
          </a:xfrm>
          <a:prstGeom prst="rect">
            <a:avLst/>
          </a:prstGeom>
          <a:solidFill>
            <a:srgbClr val="006747"/>
          </a:solidFill>
          <a:ln cap="flat" cmpd="sng" w="12700">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40"/>
          <p:cNvSpPr/>
          <p:nvPr/>
        </p:nvSpPr>
        <p:spPr>
          <a:xfrm>
            <a:off x="4754880" y="713232"/>
            <a:ext cx="40690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Calibri"/>
              <a:buNone/>
            </a:pPr>
            <a:r>
              <a:rPr b="1" i="0" lang="en" sz="1050" u="none" cap="none" strike="noStrike">
                <a:solidFill>
                  <a:srgbClr val="FFFFFF"/>
                </a:solidFill>
                <a:latin typeface="Calibri"/>
                <a:ea typeface="Calibri"/>
                <a:cs typeface="Calibri"/>
                <a:sym typeface="Calibri"/>
              </a:rPr>
              <a:t>Why Gradient Boosting Won</a:t>
            </a:r>
            <a:endParaRPr b="0" i="0" sz="1050" u="none" cap="none" strike="noStrike">
              <a:solidFill>
                <a:schemeClr val="dk1"/>
              </a:solidFill>
              <a:latin typeface="Calibri"/>
              <a:ea typeface="Calibri"/>
              <a:cs typeface="Calibri"/>
              <a:sym typeface="Calibri"/>
            </a:endParaRPr>
          </a:p>
        </p:txBody>
      </p:sp>
      <p:sp>
        <p:nvSpPr>
          <p:cNvPr id="387" name="Google Shape;387;p40"/>
          <p:cNvSpPr/>
          <p:nvPr/>
        </p:nvSpPr>
        <p:spPr>
          <a:xfrm>
            <a:off x="4754880" y="1005840"/>
            <a:ext cx="4069080" cy="868680"/>
          </a:xfrm>
          <a:prstGeom prst="rect">
            <a:avLst/>
          </a:prstGeom>
          <a:solidFill>
            <a:srgbClr val="E8F5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A1A"/>
              </a:buClr>
              <a:buSzPts val="1000"/>
              <a:buFont typeface="Calibri"/>
              <a:buNone/>
            </a:pPr>
            <a:r>
              <a:rPr b="0" i="0" lang="en" sz="1000" u="none" cap="none" strike="noStrike">
                <a:solidFill>
                  <a:srgbClr val="1A1A1A"/>
                </a:solidFill>
                <a:latin typeface="Calibri"/>
                <a:ea typeface="Calibri"/>
                <a:cs typeface="Calibri"/>
                <a:sym typeface="Calibri"/>
              </a:rPr>
              <a:t>Its iterative boosting mechanism corrects errors of prior trees, capturing non-linear interactions between features that logistic regression and SVM cannot model with linear decision boundaries.</a:t>
            </a:r>
            <a:endParaRPr b="0" i="0" sz="1000" u="none" cap="none" strike="noStrike">
              <a:solidFill>
                <a:schemeClr val="dk1"/>
              </a:solidFill>
              <a:latin typeface="Calibri"/>
              <a:ea typeface="Calibri"/>
              <a:cs typeface="Calibri"/>
              <a:sym typeface="Calibri"/>
            </a:endParaRPr>
          </a:p>
        </p:txBody>
      </p:sp>
      <p:sp>
        <p:nvSpPr>
          <p:cNvPr id="388" name="Google Shape;388;p40"/>
          <p:cNvSpPr/>
          <p:nvPr/>
        </p:nvSpPr>
        <p:spPr>
          <a:xfrm>
            <a:off x="228600" y="2084832"/>
            <a:ext cx="4251960" cy="1234440"/>
          </a:xfrm>
          <a:prstGeom prst="rect">
            <a:avLst/>
          </a:prstGeom>
          <a:solidFill>
            <a:srgbClr val="E8F5E9"/>
          </a:solidFill>
          <a:ln cap="flat" cmpd="sng" w="9525">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40"/>
          <p:cNvSpPr/>
          <p:nvPr/>
        </p:nvSpPr>
        <p:spPr>
          <a:xfrm>
            <a:off x="228600" y="2084832"/>
            <a:ext cx="4251960" cy="274320"/>
          </a:xfrm>
          <a:prstGeom prst="rect">
            <a:avLst/>
          </a:prstGeom>
          <a:solidFill>
            <a:srgbClr val="006747"/>
          </a:solidFill>
          <a:ln cap="flat" cmpd="sng" w="12700">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0" name="Google Shape;390;p40"/>
          <p:cNvSpPr/>
          <p:nvPr/>
        </p:nvSpPr>
        <p:spPr>
          <a:xfrm>
            <a:off x="320040" y="2084832"/>
            <a:ext cx="40690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Calibri"/>
              <a:buNone/>
            </a:pPr>
            <a:r>
              <a:rPr b="1" i="0" lang="en" sz="1050" u="none" cap="none" strike="noStrike">
                <a:solidFill>
                  <a:srgbClr val="FFFFFF"/>
                </a:solidFill>
                <a:latin typeface="Calibri"/>
                <a:ea typeface="Calibri"/>
                <a:cs typeface="Calibri"/>
                <a:sym typeface="Calibri"/>
              </a:rPr>
              <a:t>Premise Description Dominates</a:t>
            </a:r>
            <a:endParaRPr b="0" i="0" sz="1050" u="none" cap="none" strike="noStrike">
              <a:solidFill>
                <a:schemeClr val="dk1"/>
              </a:solidFill>
              <a:latin typeface="Calibri"/>
              <a:ea typeface="Calibri"/>
              <a:cs typeface="Calibri"/>
              <a:sym typeface="Calibri"/>
            </a:endParaRPr>
          </a:p>
        </p:txBody>
      </p:sp>
      <p:sp>
        <p:nvSpPr>
          <p:cNvPr id="391" name="Google Shape;391;p40"/>
          <p:cNvSpPr/>
          <p:nvPr/>
        </p:nvSpPr>
        <p:spPr>
          <a:xfrm>
            <a:off x="320040" y="2377440"/>
            <a:ext cx="4069080" cy="868680"/>
          </a:xfrm>
          <a:prstGeom prst="rect">
            <a:avLst/>
          </a:prstGeom>
          <a:solidFill>
            <a:srgbClr val="E8F5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A1A"/>
              </a:buClr>
              <a:buSzPts val="1000"/>
              <a:buFont typeface="Calibri"/>
              <a:buNone/>
            </a:pPr>
            <a:r>
              <a:rPr b="0" i="0" lang="en" sz="1000" u="none" cap="none" strike="noStrike">
                <a:solidFill>
                  <a:srgbClr val="1A1A1A"/>
                </a:solidFill>
                <a:latin typeface="Calibri"/>
                <a:ea typeface="Calibri"/>
                <a:cs typeface="Calibri"/>
                <a:sym typeface="Calibri"/>
              </a:rPr>
              <a:t>Cramér's V = 0.405 and GB importance score of 0.55 confirm that where a crime occurs matters more than who the victim is. </a:t>
            </a:r>
            <a:endParaRPr b="0" i="0" sz="1000" u="none" cap="none" strike="noStrike">
              <a:solidFill>
                <a:srgbClr val="1A1A1A"/>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rPr>
              <a:t>Routine activity theory</a:t>
            </a:r>
            <a:endParaRPr sz="1000">
              <a:solidFill>
                <a:srgbClr val="1A1A1A"/>
              </a:solidFill>
              <a:latin typeface="Calibri"/>
              <a:ea typeface="Calibri"/>
              <a:cs typeface="Calibri"/>
              <a:sym typeface="Calibri"/>
            </a:endParaRPr>
          </a:p>
        </p:txBody>
      </p:sp>
      <p:sp>
        <p:nvSpPr>
          <p:cNvPr id="392" name="Google Shape;392;p40"/>
          <p:cNvSpPr/>
          <p:nvPr/>
        </p:nvSpPr>
        <p:spPr>
          <a:xfrm>
            <a:off x="4663440" y="2084832"/>
            <a:ext cx="4251960" cy="1234440"/>
          </a:xfrm>
          <a:prstGeom prst="rect">
            <a:avLst/>
          </a:prstGeom>
          <a:solidFill>
            <a:srgbClr val="E8F5E9"/>
          </a:solidFill>
          <a:ln cap="flat" cmpd="sng" w="9525">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3" name="Google Shape;393;p40"/>
          <p:cNvSpPr/>
          <p:nvPr/>
        </p:nvSpPr>
        <p:spPr>
          <a:xfrm>
            <a:off x="4663440" y="2084832"/>
            <a:ext cx="4251960" cy="274320"/>
          </a:xfrm>
          <a:prstGeom prst="rect">
            <a:avLst/>
          </a:prstGeom>
          <a:solidFill>
            <a:srgbClr val="006747"/>
          </a:solidFill>
          <a:ln cap="flat" cmpd="sng" w="12700">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4" name="Google Shape;394;p40"/>
          <p:cNvSpPr/>
          <p:nvPr/>
        </p:nvSpPr>
        <p:spPr>
          <a:xfrm>
            <a:off x="4754880" y="2084832"/>
            <a:ext cx="40690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Calibri"/>
              <a:buNone/>
            </a:pPr>
            <a:r>
              <a:rPr b="1" i="0" lang="en" sz="1050" u="none" cap="none" strike="noStrike">
                <a:solidFill>
                  <a:srgbClr val="FFFFFF"/>
                </a:solidFill>
                <a:latin typeface="Calibri"/>
                <a:ea typeface="Calibri"/>
                <a:cs typeface="Calibri"/>
                <a:sym typeface="Calibri"/>
              </a:rPr>
              <a:t>Statistical vs Practical Significance</a:t>
            </a:r>
            <a:endParaRPr b="0" i="0" sz="1050" u="none" cap="none" strike="noStrike">
              <a:solidFill>
                <a:schemeClr val="dk1"/>
              </a:solidFill>
              <a:latin typeface="Calibri"/>
              <a:ea typeface="Calibri"/>
              <a:cs typeface="Calibri"/>
              <a:sym typeface="Calibri"/>
            </a:endParaRPr>
          </a:p>
        </p:txBody>
      </p:sp>
      <p:sp>
        <p:nvSpPr>
          <p:cNvPr id="395" name="Google Shape;395;p40"/>
          <p:cNvSpPr/>
          <p:nvPr/>
        </p:nvSpPr>
        <p:spPr>
          <a:xfrm>
            <a:off x="4754880" y="2377440"/>
            <a:ext cx="4069080" cy="868680"/>
          </a:xfrm>
          <a:prstGeom prst="rect">
            <a:avLst/>
          </a:prstGeom>
          <a:solidFill>
            <a:srgbClr val="E8F5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A1A"/>
              </a:buClr>
              <a:buSzPts val="1000"/>
              <a:buFont typeface="Calibri"/>
              <a:buNone/>
            </a:pPr>
            <a:r>
              <a:rPr b="0" i="0" lang="en" sz="1000" u="none" cap="none" strike="noStrike">
                <a:solidFill>
                  <a:srgbClr val="1A1A1A"/>
                </a:solidFill>
                <a:latin typeface="Calibri"/>
                <a:ea typeface="Calibri"/>
                <a:cs typeface="Calibri"/>
                <a:sym typeface="Calibri"/>
              </a:rPr>
              <a:t>All variables were statistically significant (Chi-Squared) but Cramér's V showed weak practical associations for most. Large datasets (733K) inflate statistical significance effect size matters more.</a:t>
            </a:r>
            <a:endParaRPr b="0" i="0" sz="1000" u="none" cap="none" strike="noStrike">
              <a:solidFill>
                <a:schemeClr val="dk1"/>
              </a:solidFill>
              <a:latin typeface="Calibri"/>
              <a:ea typeface="Calibri"/>
              <a:cs typeface="Calibri"/>
              <a:sym typeface="Calibri"/>
            </a:endParaRPr>
          </a:p>
        </p:txBody>
      </p:sp>
      <p:sp>
        <p:nvSpPr>
          <p:cNvPr id="396" name="Google Shape;396;p40"/>
          <p:cNvSpPr/>
          <p:nvPr/>
        </p:nvSpPr>
        <p:spPr>
          <a:xfrm>
            <a:off x="228600" y="3456426"/>
            <a:ext cx="4251900" cy="1043400"/>
          </a:xfrm>
          <a:prstGeom prst="rect">
            <a:avLst/>
          </a:prstGeom>
          <a:solidFill>
            <a:srgbClr val="E8F5E9"/>
          </a:solidFill>
          <a:ln cap="flat" cmpd="sng" w="9525">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7" name="Google Shape;397;p40"/>
          <p:cNvSpPr/>
          <p:nvPr/>
        </p:nvSpPr>
        <p:spPr>
          <a:xfrm>
            <a:off x="228600" y="3456432"/>
            <a:ext cx="4251960" cy="274320"/>
          </a:xfrm>
          <a:prstGeom prst="rect">
            <a:avLst/>
          </a:prstGeom>
          <a:solidFill>
            <a:srgbClr val="006747"/>
          </a:solidFill>
          <a:ln cap="flat" cmpd="sng" w="12700">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8" name="Google Shape;398;p40"/>
          <p:cNvSpPr/>
          <p:nvPr/>
        </p:nvSpPr>
        <p:spPr>
          <a:xfrm>
            <a:off x="320040" y="3456432"/>
            <a:ext cx="40690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Calibri"/>
              <a:buNone/>
            </a:pPr>
            <a:r>
              <a:rPr b="1" i="0" lang="en" sz="1050" u="none" cap="none" strike="noStrike">
                <a:solidFill>
                  <a:srgbClr val="FFFFFF"/>
                </a:solidFill>
                <a:latin typeface="Calibri"/>
                <a:ea typeface="Calibri"/>
                <a:cs typeface="Calibri"/>
                <a:sym typeface="Calibri"/>
              </a:rPr>
              <a:t>Findings Align with Prior Literature</a:t>
            </a:r>
            <a:endParaRPr b="0" i="0" sz="1050" u="none" cap="none" strike="noStrike">
              <a:solidFill>
                <a:schemeClr val="dk1"/>
              </a:solidFill>
              <a:latin typeface="Calibri"/>
              <a:ea typeface="Calibri"/>
              <a:cs typeface="Calibri"/>
              <a:sym typeface="Calibri"/>
            </a:endParaRPr>
          </a:p>
        </p:txBody>
      </p:sp>
      <p:sp>
        <p:nvSpPr>
          <p:cNvPr id="399" name="Google Shape;399;p40"/>
          <p:cNvSpPr/>
          <p:nvPr/>
        </p:nvSpPr>
        <p:spPr>
          <a:xfrm>
            <a:off x="320050" y="3749049"/>
            <a:ext cx="4069200" cy="750900"/>
          </a:xfrm>
          <a:prstGeom prst="rect">
            <a:avLst/>
          </a:prstGeom>
          <a:solidFill>
            <a:srgbClr val="E8F5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A1A"/>
              </a:buClr>
              <a:buSzPts val="1000"/>
              <a:buFont typeface="Calibri"/>
              <a:buNone/>
            </a:pPr>
            <a:r>
              <a:rPr b="0" i="0" lang="en" sz="1000" u="none" cap="none" strike="noStrike">
                <a:solidFill>
                  <a:srgbClr val="1A1A1A"/>
                </a:solidFill>
                <a:latin typeface="Calibri"/>
                <a:ea typeface="Calibri"/>
                <a:cs typeface="Calibri"/>
                <a:sym typeface="Calibri"/>
              </a:rPr>
              <a:t>Location as top predictor confirms Butt (2023).</a:t>
            </a:r>
            <a:endParaRPr b="0" i="0" sz="1000" u="none" cap="none" strike="noStrike">
              <a:solidFill>
                <a:schemeClr val="dk1"/>
              </a:solidFill>
              <a:latin typeface="Calibri"/>
              <a:ea typeface="Calibri"/>
              <a:cs typeface="Calibri"/>
              <a:sym typeface="Calibri"/>
            </a:endParaRPr>
          </a:p>
        </p:txBody>
      </p:sp>
      <p:sp>
        <p:nvSpPr>
          <p:cNvPr id="400" name="Google Shape;400;p40"/>
          <p:cNvSpPr/>
          <p:nvPr/>
        </p:nvSpPr>
        <p:spPr>
          <a:xfrm>
            <a:off x="4663450" y="3456426"/>
            <a:ext cx="4251900" cy="1043400"/>
          </a:xfrm>
          <a:prstGeom prst="rect">
            <a:avLst/>
          </a:prstGeom>
          <a:solidFill>
            <a:srgbClr val="E8F5E9"/>
          </a:solidFill>
          <a:ln cap="flat" cmpd="sng" w="9525">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1" name="Google Shape;401;p40"/>
          <p:cNvSpPr/>
          <p:nvPr/>
        </p:nvSpPr>
        <p:spPr>
          <a:xfrm>
            <a:off x="4663440" y="3456432"/>
            <a:ext cx="4251960" cy="274320"/>
          </a:xfrm>
          <a:prstGeom prst="rect">
            <a:avLst/>
          </a:prstGeom>
          <a:solidFill>
            <a:srgbClr val="006747"/>
          </a:solidFill>
          <a:ln cap="flat" cmpd="sng" w="12700">
            <a:solidFill>
              <a:srgbClr val="0067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2" name="Google Shape;402;p40"/>
          <p:cNvSpPr/>
          <p:nvPr/>
        </p:nvSpPr>
        <p:spPr>
          <a:xfrm>
            <a:off x="4754880" y="3456432"/>
            <a:ext cx="40690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Calibri"/>
              <a:buNone/>
            </a:pPr>
            <a:r>
              <a:rPr b="1" i="0" lang="en" sz="1050" u="none" cap="none" strike="noStrike">
                <a:solidFill>
                  <a:srgbClr val="FFFFFF"/>
                </a:solidFill>
                <a:latin typeface="Calibri"/>
                <a:ea typeface="Calibri"/>
                <a:cs typeface="Calibri"/>
                <a:sym typeface="Calibri"/>
              </a:rPr>
              <a:t>Limitations</a:t>
            </a:r>
            <a:endParaRPr b="0" i="0" sz="1050" u="none" cap="none" strike="noStrike">
              <a:solidFill>
                <a:schemeClr val="dk1"/>
              </a:solidFill>
              <a:latin typeface="Calibri"/>
              <a:ea typeface="Calibri"/>
              <a:cs typeface="Calibri"/>
              <a:sym typeface="Calibri"/>
            </a:endParaRPr>
          </a:p>
        </p:txBody>
      </p:sp>
      <p:sp>
        <p:nvSpPr>
          <p:cNvPr id="403" name="Google Shape;403;p40"/>
          <p:cNvSpPr/>
          <p:nvPr/>
        </p:nvSpPr>
        <p:spPr>
          <a:xfrm>
            <a:off x="4754875" y="3749049"/>
            <a:ext cx="4069200" cy="750900"/>
          </a:xfrm>
          <a:prstGeom prst="rect">
            <a:avLst/>
          </a:prstGeom>
          <a:solidFill>
            <a:srgbClr val="E8F5E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A1A"/>
              </a:buClr>
              <a:buSzPts val="1000"/>
              <a:buFont typeface="Calibri"/>
              <a:buNone/>
            </a:pPr>
            <a:r>
              <a:rPr b="0" i="0" lang="en" sz="1000" u="none" cap="none" strike="noStrike">
                <a:solidFill>
                  <a:srgbClr val="1A1A1A"/>
                </a:solidFill>
                <a:latin typeface="Calibri"/>
                <a:ea typeface="Calibri"/>
                <a:cs typeface="Calibri"/>
                <a:sym typeface="Calibri"/>
              </a:rPr>
              <a:t>No offender history, socioeconomic, or environmental features. Using victim descent raises predictive policing bias concerns (Gupta, 2024).</a:t>
            </a:r>
            <a:endParaRPr b="0" i="0" sz="1000" u="none" cap="none" strike="noStrike">
              <a:solidFill>
                <a:schemeClr val="dk1"/>
              </a:solidFill>
              <a:latin typeface="Calibri"/>
              <a:ea typeface="Calibri"/>
              <a:cs typeface="Calibri"/>
              <a:sym typeface="Calibri"/>
            </a:endParaRPr>
          </a:p>
        </p:txBody>
      </p:sp>
      <p:sp>
        <p:nvSpPr>
          <p:cNvPr id="404" name="Google Shape;404;p4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9" name="Shape 409"/>
        <p:cNvGrpSpPr/>
        <p:nvPr/>
      </p:nvGrpSpPr>
      <p:grpSpPr>
        <a:xfrm>
          <a:off x="0" y="0"/>
          <a:ext cx="0" cy="0"/>
          <a:chOff x="0" y="0"/>
          <a:chExt cx="0" cy="0"/>
        </a:xfrm>
      </p:grpSpPr>
      <p:sp>
        <p:nvSpPr>
          <p:cNvPr id="410" name="Google Shape;410;p41"/>
          <p:cNvSpPr/>
          <p:nvPr/>
        </p:nvSpPr>
        <p:spPr>
          <a:xfrm>
            <a:off x="228600" y="73152"/>
            <a:ext cx="868680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2400"/>
              <a:buFont typeface="Calibri"/>
              <a:buNone/>
            </a:pPr>
            <a:r>
              <a:rPr b="1" i="0" lang="en" sz="2400" u="none" cap="none" strike="noStrike">
                <a:solidFill>
                  <a:srgbClr val="006747"/>
                </a:solidFill>
                <a:latin typeface="Calibri"/>
                <a:ea typeface="Calibri"/>
                <a:cs typeface="Calibri"/>
                <a:sym typeface="Calibri"/>
              </a:rPr>
              <a:t>Conclusion &amp; Future Scope</a:t>
            </a:r>
            <a:endParaRPr b="0" i="0" sz="2400" u="none" cap="none" strike="noStrike">
              <a:solidFill>
                <a:schemeClr val="dk1"/>
              </a:solidFill>
              <a:latin typeface="Calibri"/>
              <a:ea typeface="Calibri"/>
              <a:cs typeface="Calibri"/>
              <a:sym typeface="Calibri"/>
            </a:endParaRPr>
          </a:p>
        </p:txBody>
      </p:sp>
      <p:sp>
        <p:nvSpPr>
          <p:cNvPr id="411" name="Google Shape;411;p41"/>
          <p:cNvSpPr/>
          <p:nvPr/>
        </p:nvSpPr>
        <p:spPr>
          <a:xfrm>
            <a:off x="228600" y="566928"/>
            <a:ext cx="8686800" cy="64008"/>
          </a:xfrm>
          <a:prstGeom prst="rect">
            <a:avLst/>
          </a:prstGeom>
          <a:solidFill>
            <a:srgbClr val="F0C132"/>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2" name="Google Shape;412;p41"/>
          <p:cNvSpPr/>
          <p:nvPr/>
        </p:nvSpPr>
        <p:spPr>
          <a:xfrm>
            <a:off x="109728" y="4709160"/>
            <a:ext cx="320040" cy="32004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3" name="Google Shape;413;p41"/>
          <p:cNvSpPr/>
          <p:nvPr/>
        </p:nvSpPr>
        <p:spPr>
          <a:xfrm>
            <a:off x="109728" y="4709160"/>
            <a:ext cx="32004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414" name="Google Shape;414;p41"/>
          <p:cNvSpPr/>
          <p:nvPr/>
        </p:nvSpPr>
        <p:spPr>
          <a:xfrm>
            <a:off x="457200" y="4754880"/>
            <a:ext cx="13716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000"/>
              <a:buFont typeface="Calibri"/>
              <a:buNone/>
            </a:pPr>
            <a:r>
              <a:rPr b="1" i="0" lang="en" sz="1000" u="none" cap="none" strike="noStrike">
                <a:solidFill>
                  <a:srgbClr val="006747"/>
                </a:solidFill>
                <a:latin typeface="Calibri"/>
                <a:ea typeface="Calibri"/>
                <a:cs typeface="Calibri"/>
                <a:sym typeface="Calibri"/>
              </a:rPr>
              <a:t>Clarkson university</a:t>
            </a:r>
            <a:endParaRPr b="0" i="0" sz="1000" u="none" cap="none" strike="noStrike">
              <a:solidFill>
                <a:schemeClr val="dk1"/>
              </a:solidFill>
              <a:latin typeface="Calibri"/>
              <a:ea typeface="Calibri"/>
              <a:cs typeface="Calibri"/>
              <a:sym typeface="Calibri"/>
            </a:endParaRPr>
          </a:p>
        </p:txBody>
      </p:sp>
      <p:sp>
        <p:nvSpPr>
          <p:cNvPr id="415" name="Google Shape;415;p41"/>
          <p:cNvSpPr/>
          <p:nvPr/>
        </p:nvSpPr>
        <p:spPr>
          <a:xfrm>
            <a:off x="73152" y="4754880"/>
            <a:ext cx="2286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747"/>
              </a:buClr>
              <a:buSzPts val="1000"/>
              <a:buFont typeface="Calibri"/>
              <a:buNone/>
            </a:pPr>
            <a:r>
              <a:rPr b="0" i="0" lang="en" sz="1000" u="none" cap="none" strike="noStrike">
                <a:solidFill>
                  <a:srgbClr val="006747"/>
                </a:solidFill>
                <a:latin typeface="Calibri"/>
                <a:ea typeface="Calibri"/>
                <a:cs typeface="Calibri"/>
                <a:sym typeface="Calibri"/>
              </a:rPr>
              <a:t>14</a:t>
            </a:r>
            <a:endParaRPr b="0" i="0" sz="1000" u="none" cap="none" strike="noStrike">
              <a:solidFill>
                <a:schemeClr val="dk1"/>
              </a:solidFill>
              <a:latin typeface="Calibri"/>
              <a:ea typeface="Calibri"/>
              <a:cs typeface="Calibri"/>
              <a:sym typeface="Calibri"/>
            </a:endParaRPr>
          </a:p>
        </p:txBody>
      </p:sp>
      <p:sp>
        <p:nvSpPr>
          <p:cNvPr id="416" name="Google Shape;416;p41"/>
          <p:cNvSpPr/>
          <p:nvPr/>
        </p:nvSpPr>
        <p:spPr>
          <a:xfrm>
            <a:off x="228600" y="713225"/>
            <a:ext cx="8116500" cy="393600"/>
          </a:xfrm>
          <a:prstGeom prst="rect">
            <a:avLst/>
          </a:prstGeom>
          <a:solidFill>
            <a:srgbClr val="006747"/>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400"/>
              <a:buFont typeface="Calibri"/>
              <a:buNone/>
            </a:pPr>
            <a:r>
              <a:rPr b="1" i="0" lang="en" sz="1400" u="none" cap="none" strike="noStrike">
                <a:solidFill>
                  <a:schemeClr val="lt1"/>
                </a:solidFill>
                <a:latin typeface="Calibri"/>
                <a:ea typeface="Calibri"/>
                <a:cs typeface="Calibri"/>
                <a:sym typeface="Calibri"/>
              </a:rPr>
              <a:t>Conclusion</a:t>
            </a:r>
            <a:endParaRPr b="0" i="0" sz="1400" u="none" cap="none" strike="noStrike">
              <a:solidFill>
                <a:schemeClr val="lt1"/>
              </a:solidFill>
              <a:latin typeface="Calibri"/>
              <a:ea typeface="Calibri"/>
              <a:cs typeface="Calibri"/>
              <a:sym typeface="Calibri"/>
            </a:endParaRPr>
          </a:p>
        </p:txBody>
      </p:sp>
      <p:sp>
        <p:nvSpPr>
          <p:cNvPr id="417" name="Google Shape;417;p41"/>
          <p:cNvSpPr/>
          <p:nvPr/>
        </p:nvSpPr>
        <p:spPr>
          <a:xfrm>
            <a:off x="228600" y="1084010"/>
            <a:ext cx="8116500" cy="1640700"/>
          </a:xfrm>
          <a:prstGeom prst="rect">
            <a:avLst/>
          </a:prstGeom>
          <a:solidFill>
            <a:srgbClr val="E8F5E9"/>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1A1A"/>
              </a:buClr>
              <a:buSzPts val="1150"/>
              <a:buFont typeface="Calibri"/>
              <a:buChar char="•"/>
            </a:pPr>
            <a:r>
              <a:rPr b="0" i="0" lang="en" sz="1150" u="none" cap="none" strike="noStrike">
                <a:solidFill>
                  <a:srgbClr val="1A1A1A"/>
                </a:solidFill>
                <a:latin typeface="Calibri"/>
                <a:ea typeface="Calibri"/>
                <a:cs typeface="Calibri"/>
                <a:sym typeface="Calibri"/>
              </a:rPr>
              <a:t>Gradient Boosting is the best model</a:t>
            </a:r>
            <a:endParaRPr b="0" i="0" sz="1150" u="none" cap="none" strike="noStrike">
              <a:solidFill>
                <a:srgbClr val="1A1A1A"/>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150">
              <a:solidFill>
                <a:srgbClr val="1A1A1A"/>
              </a:solidFill>
              <a:latin typeface="Calibri"/>
              <a:ea typeface="Calibri"/>
              <a:cs typeface="Calibri"/>
              <a:sym typeface="Calibri"/>
            </a:endParaRPr>
          </a:p>
          <a:p>
            <a:pPr indent="-342900" lvl="0" marL="342900" marR="0" rtl="0" algn="l">
              <a:lnSpc>
                <a:spcPct val="100000"/>
              </a:lnSpc>
              <a:spcBef>
                <a:spcPts val="0"/>
              </a:spcBef>
              <a:spcAft>
                <a:spcPts val="0"/>
              </a:spcAft>
              <a:buClr>
                <a:srgbClr val="1A1A1A"/>
              </a:buClr>
              <a:buSzPts val="1150"/>
              <a:buFont typeface="Calibri"/>
              <a:buChar char="•"/>
            </a:pPr>
            <a:r>
              <a:rPr b="0" i="0" lang="en" sz="1150" u="none" cap="none" strike="noStrike">
                <a:solidFill>
                  <a:srgbClr val="1A1A1A"/>
                </a:solidFill>
                <a:latin typeface="Calibri"/>
                <a:ea typeface="Calibri"/>
                <a:cs typeface="Calibri"/>
                <a:sym typeface="Calibri"/>
              </a:rPr>
              <a:t>Location (premise </a:t>
            </a:r>
            <a:r>
              <a:rPr lang="en" sz="1150">
                <a:solidFill>
                  <a:srgbClr val="1A1A1A"/>
                </a:solidFill>
                <a:latin typeface="Calibri"/>
                <a:ea typeface="Calibri"/>
                <a:cs typeface="Calibri"/>
                <a:sym typeface="Calibri"/>
              </a:rPr>
              <a:t>description</a:t>
            </a:r>
            <a:r>
              <a:rPr b="0" i="0" lang="en" sz="1150" u="none" cap="none" strike="noStrike">
                <a:solidFill>
                  <a:srgbClr val="1A1A1A"/>
                </a:solidFill>
                <a:latin typeface="Calibri"/>
                <a:ea typeface="Calibri"/>
                <a:cs typeface="Calibri"/>
                <a:sym typeface="Calibri"/>
              </a:rPr>
              <a:t>) is a stronger predictor than victim characteristics or time.</a:t>
            </a:r>
            <a:endParaRPr b="0" i="0" sz="1150" u="none" cap="none" strike="noStrike">
              <a:solidFill>
                <a:srgbClr val="1A1A1A"/>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150">
              <a:solidFill>
                <a:srgbClr val="1A1A1A"/>
              </a:solidFill>
              <a:latin typeface="Calibri"/>
              <a:ea typeface="Calibri"/>
              <a:cs typeface="Calibri"/>
              <a:sym typeface="Calibri"/>
            </a:endParaRPr>
          </a:p>
          <a:p>
            <a:pPr indent="-342900" lvl="0" marL="342900" marR="0" rtl="0" algn="l">
              <a:lnSpc>
                <a:spcPct val="100000"/>
              </a:lnSpc>
              <a:spcBef>
                <a:spcPts val="0"/>
              </a:spcBef>
              <a:spcAft>
                <a:spcPts val="0"/>
              </a:spcAft>
              <a:buClr>
                <a:srgbClr val="1A1A1A"/>
              </a:buClr>
              <a:buSzPts val="1150"/>
              <a:buFont typeface="Calibri"/>
              <a:buChar char="•"/>
            </a:pPr>
            <a:r>
              <a:rPr b="0" i="0" lang="en" sz="1150" u="none" cap="none" strike="noStrike">
                <a:solidFill>
                  <a:srgbClr val="1A1A1A"/>
                </a:solidFill>
                <a:latin typeface="Calibri"/>
                <a:ea typeface="Calibri"/>
                <a:cs typeface="Calibri"/>
                <a:sym typeface="Calibri"/>
              </a:rPr>
              <a:t>Violent crimes are more prevalent at night (56%); non-violent peak during midday.</a:t>
            </a:r>
            <a:endParaRPr b="0" i="0" sz="1150" u="none" cap="none" strike="noStrike">
              <a:solidFill>
                <a:srgbClr val="1A1A1A"/>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150">
              <a:solidFill>
                <a:srgbClr val="1A1A1A"/>
              </a:solidFill>
              <a:latin typeface="Calibri"/>
              <a:ea typeface="Calibri"/>
              <a:cs typeface="Calibri"/>
              <a:sym typeface="Calibri"/>
            </a:endParaRPr>
          </a:p>
          <a:p>
            <a:pPr indent="-342900" lvl="0" marL="342900" marR="0" rtl="0" algn="l">
              <a:lnSpc>
                <a:spcPct val="100000"/>
              </a:lnSpc>
              <a:spcBef>
                <a:spcPts val="0"/>
              </a:spcBef>
              <a:spcAft>
                <a:spcPts val="0"/>
              </a:spcAft>
              <a:buClr>
                <a:srgbClr val="1A1A1A"/>
              </a:buClr>
              <a:buSzPts val="1150"/>
              <a:buFont typeface="Calibri"/>
              <a:buChar char="•"/>
            </a:pPr>
            <a:r>
              <a:rPr b="0" i="0" lang="en" sz="1150" u="none" cap="none" strike="noStrike">
                <a:solidFill>
                  <a:srgbClr val="1A1A1A"/>
                </a:solidFill>
                <a:latin typeface="Calibri"/>
                <a:ea typeface="Calibri"/>
                <a:cs typeface="Calibri"/>
                <a:sym typeface="Calibri"/>
              </a:rPr>
              <a:t>Crime hotspots: Central LA (7.1%), Southwest, and 77th Street divisions.</a:t>
            </a:r>
            <a:endParaRPr b="0" i="0" sz="1150" u="none" cap="none" strike="noStrike">
              <a:solidFill>
                <a:srgbClr val="1A1A1A"/>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150">
              <a:solidFill>
                <a:srgbClr val="1A1A1A"/>
              </a:solidFill>
              <a:latin typeface="Calibri"/>
              <a:ea typeface="Calibri"/>
              <a:cs typeface="Calibri"/>
              <a:sym typeface="Calibri"/>
            </a:endParaRPr>
          </a:p>
          <a:p>
            <a:pPr indent="-342900" lvl="0" marL="342900" marR="0" rtl="0" algn="l">
              <a:lnSpc>
                <a:spcPct val="100000"/>
              </a:lnSpc>
              <a:spcBef>
                <a:spcPts val="0"/>
              </a:spcBef>
              <a:spcAft>
                <a:spcPts val="0"/>
              </a:spcAft>
              <a:buClr>
                <a:srgbClr val="1A1A1A"/>
              </a:buClr>
              <a:buSzPts val="1150"/>
              <a:buFont typeface="Calibri"/>
              <a:buChar char="•"/>
            </a:pPr>
            <a:r>
              <a:rPr b="0" i="0" lang="en" sz="1150" u="none" cap="none" strike="noStrike">
                <a:solidFill>
                  <a:srgbClr val="1A1A1A"/>
                </a:solidFill>
                <a:latin typeface="Calibri"/>
                <a:ea typeface="Calibri"/>
                <a:cs typeface="Calibri"/>
                <a:sym typeface="Calibri"/>
              </a:rPr>
              <a:t>Results support location-based policing strategies over demographic profiling.</a:t>
            </a:r>
            <a:endParaRPr b="0" i="0" sz="1150" u="none" cap="none" strike="noStrike">
              <a:solidFill>
                <a:schemeClr val="dk1"/>
              </a:solidFill>
              <a:latin typeface="Calibri"/>
              <a:ea typeface="Calibri"/>
              <a:cs typeface="Calibri"/>
              <a:sym typeface="Calibri"/>
            </a:endParaRPr>
          </a:p>
        </p:txBody>
      </p:sp>
      <p:sp>
        <p:nvSpPr>
          <p:cNvPr id="418" name="Google Shape;418;p41"/>
          <p:cNvSpPr/>
          <p:nvPr/>
        </p:nvSpPr>
        <p:spPr>
          <a:xfrm>
            <a:off x="4754880" y="713232"/>
            <a:ext cx="411480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6747"/>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419" name="Google Shape;419;p41"/>
          <p:cNvSpPr/>
          <p:nvPr/>
        </p:nvSpPr>
        <p:spPr>
          <a:xfrm>
            <a:off x="164525" y="2825650"/>
            <a:ext cx="8180700" cy="1780800"/>
          </a:xfrm>
          <a:prstGeom prst="rect">
            <a:avLst/>
          </a:prstGeom>
          <a:solidFill>
            <a:srgbClr val="E8F5E9"/>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lt1"/>
              </a:solidFill>
              <a:latin typeface="Calibri"/>
              <a:ea typeface="Calibri"/>
              <a:cs typeface="Calibri"/>
              <a:sym typeface="Calibri"/>
            </a:endParaRPr>
          </a:p>
          <a:p>
            <a:pPr indent="0" lvl="0" marL="0" rtl="0" algn="l">
              <a:spcBef>
                <a:spcPts val="0"/>
              </a:spcBef>
              <a:spcAft>
                <a:spcPts val="0"/>
              </a:spcAft>
              <a:buNone/>
            </a:pPr>
            <a:r>
              <a:t/>
            </a:r>
            <a:endParaRPr sz="1150">
              <a:solidFill>
                <a:srgbClr val="1A1A1A"/>
              </a:solidFill>
              <a:latin typeface="Calibri"/>
              <a:ea typeface="Calibri"/>
              <a:cs typeface="Calibri"/>
              <a:sym typeface="Calibri"/>
            </a:endParaRPr>
          </a:p>
          <a:p>
            <a:pPr indent="-301625" lvl="0" marL="457200" rtl="0" algn="l">
              <a:spcBef>
                <a:spcPts val="0"/>
              </a:spcBef>
              <a:spcAft>
                <a:spcPts val="0"/>
              </a:spcAft>
              <a:buClr>
                <a:srgbClr val="1A1A1A"/>
              </a:buClr>
              <a:buSzPts val="1150"/>
              <a:buFont typeface="Calibri"/>
              <a:buChar char="●"/>
            </a:pPr>
            <a:r>
              <a:rPr b="1" lang="en" sz="1100">
                <a:solidFill>
                  <a:schemeClr val="dk1"/>
                </a:solidFill>
                <a:latin typeface="Calibri"/>
                <a:ea typeface="Calibri"/>
                <a:cs typeface="Calibri"/>
                <a:sym typeface="Calibri"/>
              </a:rPr>
              <a:t>Incorporating Time series Forecasting:</a:t>
            </a:r>
            <a:r>
              <a:rPr b="1" lang="en" sz="1100">
                <a:solidFill>
                  <a:srgbClr val="006747"/>
                </a:solidFill>
                <a:latin typeface="Calibri"/>
                <a:ea typeface="Calibri"/>
                <a:cs typeface="Calibri"/>
                <a:sym typeface="Calibri"/>
              </a:rPr>
              <a:t> </a:t>
            </a:r>
            <a:r>
              <a:rPr lang="en" sz="1150">
                <a:solidFill>
                  <a:srgbClr val="1A1A1A"/>
                </a:solidFill>
                <a:latin typeface="Calibri"/>
                <a:ea typeface="Calibri"/>
                <a:cs typeface="Calibri"/>
                <a:sym typeface="Calibri"/>
              </a:rPr>
              <a:t>Applying time series models such as ARIMA to predict future crime trends over months or years. This would help law enforcement anticipate crime patterns</a:t>
            </a:r>
            <a:endParaRPr sz="1150">
              <a:solidFill>
                <a:srgbClr val="1A1A1A"/>
              </a:solidFill>
              <a:latin typeface="Calibri"/>
              <a:ea typeface="Calibri"/>
              <a:cs typeface="Calibri"/>
              <a:sym typeface="Calibri"/>
            </a:endParaRPr>
          </a:p>
          <a:p>
            <a:pPr indent="0" lvl="0" marL="457200" rtl="0" algn="l">
              <a:spcBef>
                <a:spcPts val="0"/>
              </a:spcBef>
              <a:spcAft>
                <a:spcPts val="0"/>
              </a:spcAft>
              <a:buNone/>
            </a:pPr>
            <a:r>
              <a:t/>
            </a:r>
            <a:endParaRPr sz="1150">
              <a:solidFill>
                <a:srgbClr val="1A1A1A"/>
              </a:solidFill>
              <a:latin typeface="Calibri"/>
              <a:ea typeface="Calibri"/>
              <a:cs typeface="Calibri"/>
              <a:sym typeface="Calibri"/>
            </a:endParaRPr>
          </a:p>
          <a:p>
            <a:pPr indent="-301625" lvl="0" marL="457200" rtl="0" algn="l">
              <a:spcBef>
                <a:spcPts val="0"/>
              </a:spcBef>
              <a:spcAft>
                <a:spcPts val="0"/>
              </a:spcAft>
              <a:buClr>
                <a:srgbClr val="1A1A1A"/>
              </a:buClr>
              <a:buSzPts val="1150"/>
              <a:buFont typeface="Calibri"/>
              <a:buChar char="●"/>
            </a:pPr>
            <a:r>
              <a:rPr b="1" lang="en" sz="1100">
                <a:solidFill>
                  <a:schemeClr val="dk1"/>
                </a:solidFill>
                <a:latin typeface="Calibri"/>
                <a:ea typeface="Calibri"/>
                <a:cs typeface="Calibri"/>
                <a:sym typeface="Calibri"/>
              </a:rPr>
              <a:t>Add socioeconomic features:</a:t>
            </a:r>
            <a:r>
              <a:rPr b="1" lang="en" sz="1100">
                <a:solidFill>
                  <a:srgbClr val="006747"/>
                </a:solidFill>
                <a:latin typeface="Calibri"/>
                <a:ea typeface="Calibri"/>
                <a:cs typeface="Calibri"/>
                <a:sym typeface="Calibri"/>
              </a:rPr>
              <a:t> </a:t>
            </a:r>
            <a:r>
              <a:rPr lang="en" sz="1150">
                <a:solidFill>
                  <a:srgbClr val="1A1A1A"/>
                </a:solidFill>
                <a:latin typeface="Calibri"/>
                <a:ea typeface="Calibri"/>
                <a:cs typeface="Calibri"/>
                <a:sym typeface="Calibri"/>
              </a:rPr>
              <a:t>Income, unemployment, housing density could improve classification ceiling</a:t>
            </a:r>
            <a:endParaRPr sz="1150">
              <a:solidFill>
                <a:srgbClr val="1A1A1A"/>
              </a:solidFill>
              <a:latin typeface="Calibri"/>
              <a:ea typeface="Calibri"/>
              <a:cs typeface="Calibri"/>
              <a:sym typeface="Calibri"/>
            </a:endParaRPr>
          </a:p>
          <a:p>
            <a:pPr indent="0" lvl="0" marL="457200" rtl="0" algn="l">
              <a:spcBef>
                <a:spcPts val="0"/>
              </a:spcBef>
              <a:spcAft>
                <a:spcPts val="0"/>
              </a:spcAft>
              <a:buNone/>
            </a:pPr>
            <a:r>
              <a:t/>
            </a:r>
            <a:endParaRPr sz="1150">
              <a:solidFill>
                <a:srgbClr val="1A1A1A"/>
              </a:solidFill>
              <a:latin typeface="Calibri"/>
              <a:ea typeface="Calibri"/>
              <a:cs typeface="Calibri"/>
              <a:sym typeface="Calibri"/>
            </a:endParaRPr>
          </a:p>
          <a:p>
            <a:pPr indent="-301625" lvl="0" marL="457200" rtl="0" algn="l">
              <a:spcBef>
                <a:spcPts val="0"/>
              </a:spcBef>
              <a:spcAft>
                <a:spcPts val="0"/>
              </a:spcAft>
              <a:buClr>
                <a:srgbClr val="1A1A1A"/>
              </a:buClr>
              <a:buSzPts val="1150"/>
              <a:buFont typeface="Calibri"/>
              <a:buChar char="●"/>
            </a:pPr>
            <a:r>
              <a:rPr b="1" lang="en" sz="1100">
                <a:solidFill>
                  <a:schemeClr val="dk1"/>
                </a:solidFill>
                <a:latin typeface="Calibri"/>
                <a:ea typeface="Calibri"/>
                <a:cs typeface="Calibri"/>
                <a:sym typeface="Calibri"/>
              </a:rPr>
              <a:t>Real-Time Crime Prediction System:</a:t>
            </a:r>
            <a:r>
              <a:rPr b="1" lang="en" sz="1100">
                <a:solidFill>
                  <a:srgbClr val="006747"/>
                </a:solidFill>
                <a:latin typeface="Calibri"/>
                <a:ea typeface="Calibri"/>
                <a:cs typeface="Calibri"/>
                <a:sym typeface="Calibri"/>
              </a:rPr>
              <a:t> </a:t>
            </a:r>
            <a:r>
              <a:rPr lang="en" sz="1150">
                <a:solidFill>
                  <a:srgbClr val="1A1A1A"/>
                </a:solidFill>
                <a:latin typeface="Calibri"/>
                <a:ea typeface="Calibri"/>
                <a:cs typeface="Calibri"/>
                <a:sym typeface="Calibri"/>
              </a:rPr>
              <a:t>A real-time system can be developed using streaming data to provide live crime risk predictions for specific locations, helping police respond faster.</a:t>
            </a:r>
            <a:endParaRPr sz="1150">
              <a:solidFill>
                <a:srgbClr val="1A1A1A"/>
              </a:solidFill>
              <a:latin typeface="Calibri"/>
              <a:ea typeface="Calibri"/>
              <a:cs typeface="Calibri"/>
              <a:sym typeface="Calibri"/>
            </a:endParaRPr>
          </a:p>
          <a:p>
            <a:pPr indent="0" lvl="0" marL="0" rtl="0" algn="l">
              <a:spcBef>
                <a:spcPts val="0"/>
              </a:spcBef>
              <a:spcAft>
                <a:spcPts val="0"/>
              </a:spcAft>
              <a:buNone/>
            </a:pPr>
            <a:r>
              <a:t/>
            </a:r>
            <a:endParaRPr sz="1150">
              <a:solidFill>
                <a:srgbClr val="1A1A1A"/>
              </a:solidFill>
              <a:latin typeface="Calibri"/>
              <a:ea typeface="Calibri"/>
              <a:cs typeface="Calibri"/>
              <a:sym typeface="Calibri"/>
            </a:endParaRPr>
          </a:p>
          <a:p>
            <a:pPr indent="0" lvl="0" marL="0" rtl="0" algn="l">
              <a:spcBef>
                <a:spcPts val="0"/>
              </a:spcBef>
              <a:spcAft>
                <a:spcPts val="0"/>
              </a:spcAft>
              <a:buNone/>
            </a:pPr>
            <a:r>
              <a:t/>
            </a:r>
            <a:endParaRPr sz="1150">
              <a:solidFill>
                <a:srgbClr val="1A1A1A"/>
              </a:solidFill>
              <a:latin typeface="Calibri"/>
              <a:ea typeface="Calibri"/>
              <a:cs typeface="Calibri"/>
              <a:sym typeface="Calibri"/>
            </a:endParaRPr>
          </a:p>
        </p:txBody>
      </p:sp>
      <p:sp>
        <p:nvSpPr>
          <p:cNvPr id="420" name="Google Shape;420;p4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421" name="Google Shape;421;p41"/>
          <p:cNvSpPr/>
          <p:nvPr/>
        </p:nvSpPr>
        <p:spPr>
          <a:xfrm>
            <a:off x="164475" y="2820350"/>
            <a:ext cx="8180700" cy="320100"/>
          </a:xfrm>
          <a:prstGeom prst="rect">
            <a:avLst/>
          </a:prstGeom>
          <a:solidFill>
            <a:srgbClr val="006747"/>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Calibri"/>
                <a:ea typeface="Calibri"/>
                <a:cs typeface="Calibri"/>
                <a:sym typeface="Calibri"/>
              </a:rPr>
              <a:t>Future Scope</a:t>
            </a:r>
            <a:endParaRPr b="1">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6" name="Shape 426"/>
        <p:cNvGrpSpPr/>
        <p:nvPr/>
      </p:nvGrpSpPr>
      <p:grpSpPr>
        <a:xfrm>
          <a:off x="0" y="0"/>
          <a:ext cx="0" cy="0"/>
          <a:chOff x="0" y="0"/>
          <a:chExt cx="0" cy="0"/>
        </a:xfrm>
      </p:grpSpPr>
      <p:sp>
        <p:nvSpPr>
          <p:cNvPr id="427" name="Google Shape;427;p42"/>
          <p:cNvSpPr/>
          <p:nvPr/>
        </p:nvSpPr>
        <p:spPr>
          <a:xfrm>
            <a:off x="228600" y="73152"/>
            <a:ext cx="86868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6747"/>
              </a:buClr>
              <a:buSzPts val="2400"/>
              <a:buFont typeface="Calibri"/>
              <a:buNone/>
            </a:pPr>
            <a:r>
              <a:rPr b="1" i="0" lang="en" sz="2400" u="none" cap="none" strike="noStrike">
                <a:solidFill>
                  <a:srgbClr val="006747"/>
                </a:solidFill>
                <a:latin typeface="Calibri"/>
                <a:ea typeface="Calibri"/>
                <a:cs typeface="Calibri"/>
                <a:sym typeface="Calibri"/>
              </a:rPr>
              <a:t>Acknowledgement</a:t>
            </a:r>
            <a:endParaRPr b="0" i="0" sz="2400" u="none" cap="none" strike="noStrike">
              <a:solidFill>
                <a:schemeClr val="dk1"/>
              </a:solidFill>
              <a:latin typeface="Calibri"/>
              <a:ea typeface="Calibri"/>
              <a:cs typeface="Calibri"/>
              <a:sym typeface="Calibri"/>
            </a:endParaRPr>
          </a:p>
        </p:txBody>
      </p:sp>
      <p:sp>
        <p:nvSpPr>
          <p:cNvPr id="428" name="Google Shape;428;p42"/>
          <p:cNvSpPr/>
          <p:nvPr/>
        </p:nvSpPr>
        <p:spPr>
          <a:xfrm>
            <a:off x="228600" y="566928"/>
            <a:ext cx="8686800" cy="63900"/>
          </a:xfrm>
          <a:prstGeom prst="rect">
            <a:avLst/>
          </a:prstGeom>
          <a:solidFill>
            <a:srgbClr val="F0C132"/>
          </a:solidFill>
          <a:ln cap="flat" cmpd="sng" w="12700">
            <a:solidFill>
              <a:srgbClr val="F0C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2"/>
          <p:cNvSpPr/>
          <p:nvPr/>
        </p:nvSpPr>
        <p:spPr>
          <a:xfrm>
            <a:off x="109728" y="4709160"/>
            <a:ext cx="320100" cy="320100"/>
          </a:xfrm>
          <a:prstGeom prst="ellipse">
            <a:avLst/>
          </a:prstGeom>
          <a:solidFill>
            <a:srgbClr val="006747"/>
          </a:solidFill>
          <a:ln cap="flat" cmpd="sng" w="12700">
            <a:solidFill>
              <a:srgbClr val="F0C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42"/>
          <p:cNvSpPr/>
          <p:nvPr/>
        </p:nvSpPr>
        <p:spPr>
          <a:xfrm>
            <a:off x="109728" y="4709160"/>
            <a:ext cx="3201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0C132"/>
              </a:buClr>
              <a:buSzPts val="1000"/>
              <a:buFont typeface="Calibri"/>
              <a:buNone/>
            </a:pPr>
            <a:r>
              <a:rPr b="1" i="0" lang="en" sz="1000" u="none" cap="none" strike="noStrike">
                <a:solidFill>
                  <a:srgbClr val="F0C132"/>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431" name="Google Shape;431;p42"/>
          <p:cNvSpPr/>
          <p:nvPr/>
        </p:nvSpPr>
        <p:spPr>
          <a:xfrm>
            <a:off x="457200" y="4754880"/>
            <a:ext cx="1371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6747"/>
              </a:buClr>
              <a:buSzPts val="1000"/>
              <a:buFont typeface="Calibri"/>
              <a:buNone/>
            </a:pPr>
            <a:r>
              <a:rPr b="1" i="0" lang="en" sz="1000" u="none" cap="none" strike="noStrike">
                <a:solidFill>
                  <a:srgbClr val="006747"/>
                </a:solidFill>
                <a:latin typeface="Calibri"/>
                <a:ea typeface="Calibri"/>
                <a:cs typeface="Calibri"/>
                <a:sym typeface="Calibri"/>
              </a:rPr>
              <a:t>Clarkson.</a:t>
            </a:r>
            <a:endParaRPr b="0" i="0" sz="1000" u="none" cap="none" strike="noStrike">
              <a:solidFill>
                <a:schemeClr val="dk1"/>
              </a:solidFill>
              <a:latin typeface="Calibri"/>
              <a:ea typeface="Calibri"/>
              <a:cs typeface="Calibri"/>
              <a:sym typeface="Calibri"/>
            </a:endParaRPr>
          </a:p>
        </p:txBody>
      </p:sp>
      <p:sp>
        <p:nvSpPr>
          <p:cNvPr id="432" name="Google Shape;432;p42"/>
          <p:cNvSpPr/>
          <p:nvPr/>
        </p:nvSpPr>
        <p:spPr>
          <a:xfrm>
            <a:off x="73152" y="4754880"/>
            <a:ext cx="2286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6747"/>
              </a:buClr>
              <a:buSzPts val="1000"/>
              <a:buFont typeface="Calibri"/>
              <a:buNone/>
            </a:pPr>
            <a:r>
              <a:rPr b="0" i="0" lang="en" sz="1000" u="none" cap="none" strike="noStrike">
                <a:solidFill>
                  <a:srgbClr val="006747"/>
                </a:solidFill>
                <a:latin typeface="Calibri"/>
                <a:ea typeface="Calibri"/>
                <a:cs typeface="Calibri"/>
                <a:sym typeface="Calibri"/>
              </a:rPr>
              <a:t>16</a:t>
            </a:r>
            <a:endParaRPr b="0" i="0" sz="1000" u="none" cap="none" strike="noStrike">
              <a:solidFill>
                <a:schemeClr val="dk1"/>
              </a:solidFill>
              <a:latin typeface="Calibri"/>
              <a:ea typeface="Calibri"/>
              <a:cs typeface="Calibri"/>
              <a:sym typeface="Calibri"/>
            </a:endParaRPr>
          </a:p>
        </p:txBody>
      </p:sp>
      <p:sp>
        <p:nvSpPr>
          <p:cNvPr id="433" name="Google Shape;433;p42"/>
          <p:cNvSpPr/>
          <p:nvPr/>
        </p:nvSpPr>
        <p:spPr>
          <a:xfrm>
            <a:off x="228600" y="822960"/>
            <a:ext cx="8686800" cy="1188600"/>
          </a:xfrm>
          <a:prstGeom prst="rect">
            <a:avLst/>
          </a:prstGeom>
          <a:solidFill>
            <a:srgbClr val="E8F5E9"/>
          </a:solidFill>
          <a:ln cap="flat" cmpd="sng" w="9525">
            <a:solidFill>
              <a:srgbClr val="0067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2"/>
          <p:cNvSpPr/>
          <p:nvPr/>
        </p:nvSpPr>
        <p:spPr>
          <a:xfrm>
            <a:off x="228600" y="822960"/>
            <a:ext cx="8686800" cy="292500"/>
          </a:xfrm>
          <a:prstGeom prst="rect">
            <a:avLst/>
          </a:prstGeom>
          <a:solidFill>
            <a:srgbClr val="006747"/>
          </a:solidFill>
          <a:ln cap="flat" cmpd="sng" w="12700">
            <a:solidFill>
              <a:srgbClr val="0067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2"/>
          <p:cNvSpPr/>
          <p:nvPr/>
        </p:nvSpPr>
        <p:spPr>
          <a:xfrm>
            <a:off x="320040" y="822960"/>
            <a:ext cx="50292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Prof. Sumona Mondal</a:t>
            </a:r>
            <a:endParaRPr b="0" i="0" sz="1200" u="none" cap="none" strike="noStrike">
              <a:solidFill>
                <a:schemeClr val="dk1"/>
              </a:solidFill>
              <a:latin typeface="Calibri"/>
              <a:ea typeface="Calibri"/>
              <a:cs typeface="Calibri"/>
              <a:sym typeface="Calibri"/>
            </a:endParaRPr>
          </a:p>
        </p:txBody>
      </p:sp>
      <p:sp>
        <p:nvSpPr>
          <p:cNvPr id="436" name="Google Shape;436;p42"/>
          <p:cNvSpPr/>
          <p:nvPr/>
        </p:nvSpPr>
        <p:spPr>
          <a:xfrm>
            <a:off x="5349240" y="822960"/>
            <a:ext cx="34746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132"/>
              </a:buClr>
              <a:buSzPts val="950"/>
              <a:buFont typeface="Calibri"/>
              <a:buNone/>
            </a:pPr>
            <a:r>
              <a:rPr b="0" i="0" lang="en" sz="950" u="none" cap="none" strike="noStrike">
                <a:solidFill>
                  <a:srgbClr val="F0C132"/>
                </a:solidFill>
                <a:latin typeface="Calibri"/>
                <a:ea typeface="Calibri"/>
                <a:cs typeface="Calibri"/>
                <a:sym typeface="Calibri"/>
              </a:rPr>
              <a:t>Co-Director, MS Program in Applied Mathematics | Clarkson University</a:t>
            </a:r>
            <a:endParaRPr b="0" i="0" sz="950" u="none" cap="none" strike="noStrike">
              <a:solidFill>
                <a:schemeClr val="dk1"/>
              </a:solidFill>
              <a:latin typeface="Calibri"/>
              <a:ea typeface="Calibri"/>
              <a:cs typeface="Calibri"/>
              <a:sym typeface="Calibri"/>
            </a:endParaRPr>
          </a:p>
        </p:txBody>
      </p:sp>
      <p:sp>
        <p:nvSpPr>
          <p:cNvPr id="437" name="Google Shape;437;p42"/>
          <p:cNvSpPr/>
          <p:nvPr/>
        </p:nvSpPr>
        <p:spPr>
          <a:xfrm>
            <a:off x="320040" y="1152144"/>
            <a:ext cx="8412600" cy="804600"/>
          </a:xfrm>
          <a:prstGeom prst="rect">
            <a:avLst/>
          </a:prstGeom>
          <a:solidFill>
            <a:srgbClr val="E8F5E9"/>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1A"/>
              </a:buClr>
              <a:buSzPts val="1100"/>
              <a:buFont typeface="Calibri"/>
              <a:buNone/>
            </a:pPr>
            <a:r>
              <a:rPr b="0" i="0" lang="en" sz="1100" u="none" cap="none" strike="noStrike">
                <a:solidFill>
                  <a:srgbClr val="1A1A1A"/>
                </a:solidFill>
                <a:latin typeface="Calibri"/>
                <a:ea typeface="Calibri"/>
                <a:cs typeface="Calibri"/>
                <a:sym typeface="Calibri"/>
              </a:rPr>
              <a:t>We sincerely thank Prof. Mondal for her invaluable guidance, constructive feedback, and continued support. Her expertise in statistical modeling greatly contributed to the depth and rigor of this research.</a:t>
            </a:r>
            <a:endParaRPr b="0" i="0" sz="1100" u="none" cap="none" strike="noStrike">
              <a:solidFill>
                <a:schemeClr val="dk1"/>
              </a:solidFill>
              <a:latin typeface="Calibri"/>
              <a:ea typeface="Calibri"/>
              <a:cs typeface="Calibri"/>
              <a:sym typeface="Calibri"/>
            </a:endParaRPr>
          </a:p>
        </p:txBody>
      </p:sp>
      <p:sp>
        <p:nvSpPr>
          <p:cNvPr id="438" name="Google Shape;438;p42"/>
          <p:cNvSpPr/>
          <p:nvPr/>
        </p:nvSpPr>
        <p:spPr>
          <a:xfrm>
            <a:off x="228600" y="2148840"/>
            <a:ext cx="8686800" cy="1188600"/>
          </a:xfrm>
          <a:prstGeom prst="rect">
            <a:avLst/>
          </a:prstGeom>
          <a:solidFill>
            <a:srgbClr val="E8F5E9"/>
          </a:solidFill>
          <a:ln cap="flat" cmpd="sng" w="9525">
            <a:solidFill>
              <a:srgbClr val="0067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42"/>
          <p:cNvSpPr/>
          <p:nvPr/>
        </p:nvSpPr>
        <p:spPr>
          <a:xfrm>
            <a:off x="228600" y="2148840"/>
            <a:ext cx="8686800" cy="292500"/>
          </a:xfrm>
          <a:prstGeom prst="rect">
            <a:avLst/>
          </a:prstGeom>
          <a:solidFill>
            <a:srgbClr val="006747"/>
          </a:solidFill>
          <a:ln cap="flat" cmpd="sng" w="12700">
            <a:solidFill>
              <a:srgbClr val="0067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42"/>
          <p:cNvSpPr/>
          <p:nvPr/>
        </p:nvSpPr>
        <p:spPr>
          <a:xfrm>
            <a:off x="320040" y="2148840"/>
            <a:ext cx="50292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Prof. Naveen Ramachandra Reddy</a:t>
            </a:r>
            <a:endParaRPr b="0" i="0" sz="1200" u="none" cap="none" strike="noStrike">
              <a:solidFill>
                <a:schemeClr val="dk1"/>
              </a:solidFill>
              <a:latin typeface="Calibri"/>
              <a:ea typeface="Calibri"/>
              <a:cs typeface="Calibri"/>
              <a:sym typeface="Calibri"/>
            </a:endParaRPr>
          </a:p>
        </p:txBody>
      </p:sp>
      <p:sp>
        <p:nvSpPr>
          <p:cNvPr id="441" name="Google Shape;441;p42"/>
          <p:cNvSpPr/>
          <p:nvPr/>
        </p:nvSpPr>
        <p:spPr>
          <a:xfrm>
            <a:off x="5349240" y="2148840"/>
            <a:ext cx="34746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132"/>
              </a:buClr>
              <a:buSzPts val="950"/>
              <a:buFont typeface="Calibri"/>
              <a:buNone/>
            </a:pPr>
            <a:r>
              <a:rPr b="0" i="0" lang="en" sz="950" u="none" cap="none" strike="noStrike">
                <a:solidFill>
                  <a:srgbClr val="F0C132"/>
                </a:solidFill>
                <a:latin typeface="Calibri"/>
                <a:ea typeface="Calibri"/>
                <a:cs typeface="Calibri"/>
                <a:sym typeface="Calibri"/>
              </a:rPr>
              <a:t>Assistant Professor, MS Applied Data Science | Clarkson University</a:t>
            </a:r>
            <a:endParaRPr b="0" i="0" sz="950" u="none" cap="none" strike="noStrike">
              <a:solidFill>
                <a:schemeClr val="dk1"/>
              </a:solidFill>
              <a:latin typeface="Calibri"/>
              <a:ea typeface="Calibri"/>
              <a:cs typeface="Calibri"/>
              <a:sym typeface="Calibri"/>
            </a:endParaRPr>
          </a:p>
        </p:txBody>
      </p:sp>
      <p:sp>
        <p:nvSpPr>
          <p:cNvPr id="442" name="Google Shape;442;p42"/>
          <p:cNvSpPr/>
          <p:nvPr/>
        </p:nvSpPr>
        <p:spPr>
          <a:xfrm>
            <a:off x="320040" y="2478024"/>
            <a:ext cx="8412600" cy="804600"/>
          </a:xfrm>
          <a:prstGeom prst="rect">
            <a:avLst/>
          </a:prstGeom>
          <a:solidFill>
            <a:srgbClr val="E8F5E9"/>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1A"/>
              </a:buClr>
              <a:buSzPts val="1100"/>
              <a:buFont typeface="Calibri"/>
              <a:buNone/>
            </a:pPr>
            <a:r>
              <a:rPr b="0" i="0" lang="en" sz="1100" u="none" cap="none" strike="noStrike">
                <a:solidFill>
                  <a:srgbClr val="1A1A1A"/>
                </a:solidFill>
                <a:latin typeface="Calibri"/>
                <a:ea typeface="Calibri"/>
                <a:cs typeface="Calibri"/>
                <a:sym typeface="Calibri"/>
              </a:rPr>
              <a:t>We extend our heartfelt appreciation for his dedicated instruction, thoughtful mentorship, and knowledge imparted throughout this course. His guidance in applied data science and machine learning was fundamental to the successful completion of this study.</a:t>
            </a:r>
            <a:endParaRPr b="0" i="0" sz="1100" u="none" cap="none" strike="noStrike">
              <a:solidFill>
                <a:schemeClr val="dk1"/>
              </a:solidFill>
              <a:latin typeface="Calibri"/>
              <a:ea typeface="Calibri"/>
              <a:cs typeface="Calibri"/>
              <a:sym typeface="Calibri"/>
            </a:endParaRPr>
          </a:p>
        </p:txBody>
      </p:sp>
      <p:sp>
        <p:nvSpPr>
          <p:cNvPr id="443" name="Google Shape;443;p42"/>
          <p:cNvSpPr/>
          <p:nvPr/>
        </p:nvSpPr>
        <p:spPr>
          <a:xfrm>
            <a:off x="228600" y="3474724"/>
            <a:ext cx="8686800" cy="1078800"/>
          </a:xfrm>
          <a:prstGeom prst="rect">
            <a:avLst/>
          </a:prstGeom>
          <a:solidFill>
            <a:srgbClr val="E8F5E9"/>
          </a:solidFill>
          <a:ln cap="flat" cmpd="sng" w="9525">
            <a:solidFill>
              <a:srgbClr val="0067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42"/>
          <p:cNvSpPr/>
          <p:nvPr/>
        </p:nvSpPr>
        <p:spPr>
          <a:xfrm>
            <a:off x="228600" y="3474720"/>
            <a:ext cx="8686800" cy="292500"/>
          </a:xfrm>
          <a:prstGeom prst="rect">
            <a:avLst/>
          </a:prstGeom>
          <a:solidFill>
            <a:srgbClr val="006747"/>
          </a:solidFill>
          <a:ln cap="flat" cmpd="sng" w="12700">
            <a:solidFill>
              <a:srgbClr val="0067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42"/>
          <p:cNvSpPr/>
          <p:nvPr/>
        </p:nvSpPr>
        <p:spPr>
          <a:xfrm>
            <a:off x="320040" y="3474720"/>
            <a:ext cx="50292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LAPD &amp; data.gov</a:t>
            </a:r>
            <a:endParaRPr b="0" i="0" sz="1200" u="none" cap="none" strike="noStrike">
              <a:solidFill>
                <a:schemeClr val="dk1"/>
              </a:solidFill>
              <a:latin typeface="Calibri"/>
              <a:ea typeface="Calibri"/>
              <a:cs typeface="Calibri"/>
              <a:sym typeface="Calibri"/>
            </a:endParaRPr>
          </a:p>
        </p:txBody>
      </p:sp>
      <p:sp>
        <p:nvSpPr>
          <p:cNvPr id="446" name="Google Shape;446;p42"/>
          <p:cNvSpPr/>
          <p:nvPr/>
        </p:nvSpPr>
        <p:spPr>
          <a:xfrm>
            <a:off x="5349240" y="3474720"/>
            <a:ext cx="34746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132"/>
              </a:buClr>
              <a:buSzPts val="950"/>
              <a:buFont typeface="Calibri"/>
              <a:buNone/>
            </a:pPr>
            <a:r>
              <a:rPr b="0" i="0" lang="en" sz="950" u="none" cap="none" strike="noStrike">
                <a:solidFill>
                  <a:srgbClr val="F0C132"/>
                </a:solidFill>
                <a:latin typeface="Calibri"/>
                <a:ea typeface="Calibri"/>
                <a:cs typeface="Calibri"/>
                <a:sym typeface="Calibri"/>
              </a:rPr>
              <a:t>Los Angeles Police Department | U.S. Government Open Data Portal</a:t>
            </a:r>
            <a:endParaRPr b="0" i="0" sz="950" u="none" cap="none" strike="noStrike">
              <a:solidFill>
                <a:schemeClr val="dk1"/>
              </a:solidFill>
              <a:latin typeface="Calibri"/>
              <a:ea typeface="Calibri"/>
              <a:cs typeface="Calibri"/>
              <a:sym typeface="Calibri"/>
            </a:endParaRPr>
          </a:p>
        </p:txBody>
      </p:sp>
      <p:sp>
        <p:nvSpPr>
          <p:cNvPr id="447" name="Google Shape;447;p42"/>
          <p:cNvSpPr/>
          <p:nvPr/>
        </p:nvSpPr>
        <p:spPr>
          <a:xfrm>
            <a:off x="320050" y="3803901"/>
            <a:ext cx="8412600" cy="622800"/>
          </a:xfrm>
          <a:prstGeom prst="rect">
            <a:avLst/>
          </a:prstGeom>
          <a:solidFill>
            <a:srgbClr val="E8F5E9"/>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1A"/>
              </a:buClr>
              <a:buSzPts val="1100"/>
              <a:buFont typeface="Calibri"/>
              <a:buNone/>
            </a:pPr>
            <a:r>
              <a:rPr b="0" i="0" lang="en" sz="1100" u="none" cap="none" strike="noStrike">
                <a:solidFill>
                  <a:srgbClr val="1A1A1A"/>
                </a:solidFill>
                <a:latin typeface="Calibri"/>
                <a:ea typeface="Calibri"/>
                <a:cs typeface="Calibri"/>
                <a:sym typeface="Calibri"/>
              </a:rPr>
              <a:t>We are grateful for making the LAPD crime dataset publicly available, without which this research would not have been possible.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747"/>
        </a:solidFill>
      </p:bgPr>
    </p:bg>
    <p:spTree>
      <p:nvGrpSpPr>
        <p:cNvPr id="452" name="Shape 452"/>
        <p:cNvGrpSpPr/>
        <p:nvPr/>
      </p:nvGrpSpPr>
      <p:grpSpPr>
        <a:xfrm>
          <a:off x="0" y="0"/>
          <a:ext cx="0" cy="0"/>
          <a:chOff x="0" y="0"/>
          <a:chExt cx="0" cy="0"/>
        </a:xfrm>
      </p:grpSpPr>
      <p:sp>
        <p:nvSpPr>
          <p:cNvPr id="453" name="Google Shape;453;p43"/>
          <p:cNvSpPr txBox="1"/>
          <p:nvPr>
            <p:ph type="ctrTitle"/>
          </p:nvPr>
        </p:nvSpPr>
        <p:spPr>
          <a:xfrm>
            <a:off x="0" y="381001"/>
            <a:ext cx="9144000" cy="1274100"/>
          </a:xfrm>
          <a:prstGeom prst="rect">
            <a:avLst/>
          </a:prstGeom>
          <a:noFill/>
          <a:ln>
            <a:noFill/>
          </a:ln>
        </p:spPr>
        <p:txBody>
          <a:bodyPr anchorCtr="0" anchor="b" bIns="0" lIns="0" spcFirstLastPara="1" rIns="0" wrap="square" tIns="0">
            <a:normAutofit/>
          </a:bodyPr>
          <a:lstStyle/>
          <a:p>
            <a:pPr indent="0" lvl="0" marL="0" rtl="0" algn="ctr">
              <a:lnSpc>
                <a:spcPct val="90000"/>
              </a:lnSpc>
              <a:spcBef>
                <a:spcPts val="0"/>
              </a:spcBef>
              <a:spcAft>
                <a:spcPts val="0"/>
              </a:spcAft>
              <a:buSzPts val="3300"/>
              <a:buNone/>
            </a:pPr>
            <a:r>
              <a:rPr lang="en"/>
              <a:t>Thank you!</a:t>
            </a:r>
            <a:endParaRPr/>
          </a:p>
        </p:txBody>
      </p:sp>
      <p:sp>
        <p:nvSpPr>
          <p:cNvPr id="454" name="Google Shape;454;p43"/>
          <p:cNvSpPr/>
          <p:nvPr/>
        </p:nvSpPr>
        <p:spPr>
          <a:xfrm>
            <a:off x="1828800" y="4480560"/>
            <a:ext cx="54864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 sz="1400" u="none" cap="none" strike="noStrike">
                <a:solidFill>
                  <a:srgbClr val="FFFFFF"/>
                </a:solidFill>
                <a:latin typeface="Calibri"/>
                <a:ea typeface="Calibri"/>
                <a:cs typeface="Calibri"/>
                <a:sym typeface="Calibri"/>
              </a:rPr>
              <a:t>Edward Paunganwa  |  Patricia Magumise</a:t>
            </a:r>
            <a:endParaRPr b="0" i="0" sz="1400" u="none" cap="none" strike="noStrike">
              <a:solidFill>
                <a:schemeClr val="dk1"/>
              </a:solidFill>
              <a:latin typeface="Calibri"/>
              <a:ea typeface="Calibri"/>
              <a:cs typeface="Calibri"/>
              <a:sym typeface="Calibri"/>
            </a:endParaRPr>
          </a:p>
        </p:txBody>
      </p:sp>
      <p:sp>
        <p:nvSpPr>
          <p:cNvPr id="455" name="Google Shape;455;p43"/>
          <p:cNvSpPr/>
          <p:nvPr/>
        </p:nvSpPr>
        <p:spPr>
          <a:xfrm>
            <a:off x="2286000" y="4754880"/>
            <a:ext cx="45720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0C132"/>
              </a:buClr>
              <a:buSzPts val="1200"/>
              <a:buFont typeface="Calibri"/>
              <a:buNone/>
            </a:pPr>
            <a:r>
              <a:rPr b="0" i="0" lang="en" sz="1200" u="none" cap="none" strike="noStrike">
                <a:solidFill>
                  <a:srgbClr val="F0C132"/>
                </a:solidFill>
                <a:latin typeface="Calibri"/>
                <a:ea typeface="Calibri"/>
                <a:cs typeface="Calibri"/>
                <a:sym typeface="Calibri"/>
              </a:rPr>
              <a:t>Questions &amp; Discussion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